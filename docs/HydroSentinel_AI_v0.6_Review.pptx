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7.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8.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9.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c358b07-9345-cd41-4503-e8c825cd1124}">
          <p14:sldIdLst>
            <p14:sldId id="256"/>
            <p14:sldId id="257"/>
          </p14:sldIdLst>
        </p14:section>
        <p14:section name="Data and labels" id="{178af2c8-a9f2-7818-1240-c8eabcf114fe}">
          <p14:sldIdLst>
            <p14:sldId id="258"/>
            <p14:sldId id="259"/>
          </p14:sldIdLst>
        </p14:section>
        <p14:section name="Methods" id="{e355bfe6-d96e-8492-3423-a1fad702220b}">
          <p14:sldIdLst>
            <p14:sldId id="260"/>
            <p14:sldId id="261"/>
            <p14:sldId id="262"/>
            <p14:sldId id="263"/>
            <p14:sldId id="264"/>
            <p14:sldId id="265"/>
          </p14:sldIdLst>
        </p14:section>
        <p14:section name="Results" id="{1d446d16-3e67-52da-e351-b58201d6cf16}">
          <p14:sldIdLst>
            <p14:sldId id="266"/>
            <p14:sldId id="267"/>
            <p14:sldId id="268"/>
            <p14:sldId id="269"/>
            <p14:sldId id="270"/>
          </p14:sldIdLst>
        </p14:section>
        <p14:section name="Conclusion" id="{99c56e7f-bee4-2b46-89cf-51bc99161311}">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475B"/>
                </a:solidFill>
                <a:latin typeface="+mn-lt"/>
              </a:defRPr>
            </a:pPr>
            <a:r>
              <a:rPr sz="1300" b="0" i="0" u="none" strike="noStrike">
                <a:solidFill>
                  <a:srgbClr val="33475B"/>
                </a:solidFill>
                <a:latin typeface="+mn-lt"/>
              </a:rPr>
              <a:t>Test-period labels, 1 h ahead (Bengalas)</a:t>
            </a:r>
          </a:p>
        </c:rich>
      </c:tx>
      <c:layout/>
      <c:overlay val="0"/>
    </c:title>
    <c:autoTitleDeleted val="0"/>
    <c:plotArea>
      <c:layout/>
      <c:barChart>
        <c:barDir val="bar"/>
        <c:grouping val="clustered"/>
        <c:varyColors val="0"/>
        <c:ser>
          <c:idx val="0"/>
          <c:order val="0"/>
          <c:tx>
            <c:strRef>
              <c:f>Sheet1!$B$1</c:f>
              <c:strCache>
                <c:ptCount val="1"/>
                <c:pt idx="0">
                  <c:v>test steps</c:v>
                </c:pt>
              </c:strCache>
            </c:strRef>
          </c:tx>
          <c:spPr>
            <a:solidFill>
              <a:srgbClr val="2E8B57"/>
            </a:solidFill>
            <a:effectLst/>
          </c:spPr>
          <c:invertIfNegative val="0"/>
          <c:dLbls>
            <c:numFmt formatCode="#,##0" sourceLinked="0"/>
            <c:txPr>
              <a:bodyPr/>
              <a:lstStyle/>
              <a:p>
                <a:pPr>
                  <a:defRPr b="0" i="0" strike="noStrike" sz="1100" u="none">
                    <a:solidFill>
                      <a:srgbClr val="33475B"/>
                    </a:solidFill>
                    <a:latin typeface="+mn-lt"/>
                  </a:defRPr>
                </a:pPr>
              </a:p>
            </c:txPr>
            <c:showLegendKey val="0"/>
            <c:showVal val="1"/>
            <c:showCatName val="0"/>
            <c:showSerName val="0"/>
            <c:showPercent val="0"/>
            <c:showBubbleSize val="0"/>
            <c:showLeaderLines val="0"/>
          </c:dLbls>
          <c:dPt>
            <c:idx val="0"/>
            <c:invertIfNegative val="0"/>
            <c:bubble3D val="0"/>
            <c:spPr>
              <a:solidFill>
                <a:srgbClr val="2E8B57"/>
              </a:solidFill>
              <a:effectLst/>
            </c:spPr>
          </c:dPt>
          <c:dPt>
            <c:idx val="1"/>
            <c:invertIfNegative val="0"/>
            <c:bubble3D val="0"/>
            <c:spPr>
              <a:solidFill>
                <a:srgbClr val="7F9A1C"/>
              </a:solidFill>
              <a:effectLst/>
            </c:spPr>
          </c:dPt>
          <c:dPt>
            <c:idx val="2"/>
            <c:invertIfNegative val="0"/>
            <c:bubble3D val="0"/>
            <c:spPr>
              <a:solidFill>
                <a:srgbClr val="C99206"/>
              </a:solidFill>
              <a:effectLst/>
            </c:spPr>
          </c:dPt>
          <c:dPt>
            <c:idx val="3"/>
            <c:invertIfNegative val="0"/>
            <c:bubble3D val="0"/>
            <c:spPr>
              <a:solidFill>
                <a:srgbClr val="DD6418"/>
              </a:solidFill>
              <a:effectLst/>
            </c:spPr>
          </c:dPt>
          <c:dPt>
            <c:idx val="4"/>
            <c:invertIfNegative val="0"/>
            <c:bubble3D val="0"/>
            <c:spPr>
              <a:solidFill>
                <a:srgbClr val="C62828"/>
              </a:solidFill>
              <a:effectLst/>
            </c:spPr>
          </c:dPt>
          <c:cat>
            <c:multiLvlStrRef>
              <c:f>Sheet1!$A$2:$A$6</c:f>
              <c:multiLvlStrCache>
                <c:ptCount val="5"/>
                <c:lvl>
                  <c:pt idx="0">
                    <c:v>Normal</c:v>
                  </c:pt>
                  <c:pt idx="1">
                    <c:v>Low</c:v>
                  </c:pt>
                  <c:pt idx="2">
                    <c:v>Moderate</c:v>
                  </c:pt>
                  <c:pt idx="3">
                    <c:v>High</c:v>
                  </c:pt>
                  <c:pt idx="4">
                    <c:v>Critical</c:v>
                  </c:pt>
                </c:lvl>
              </c:multiLvlStrCache>
            </c:multiLvlStrRef>
          </c:cat>
          <c:val>
            <c:numRef>
              <c:f>Sheet1!$B$2:$B$6</c:f>
              <c:numCache>
                <c:formatCode>General</c:formatCode>
                <c:ptCount val="5"/>
                <c:pt idx="0">
                  <c:v>14672</c:v>
                </c:pt>
                <c:pt idx="1">
                  <c:v>3844</c:v>
                </c:pt>
                <c:pt idx="2">
                  <c:v>1735</c:v>
                </c:pt>
                <c:pt idx="3">
                  <c:v>346</c:v>
                </c:pt>
                <c:pt idx="4">
                  <c:v>307</c:v>
                </c:pt>
              </c:numCache>
            </c:numRef>
          </c:val>
        </c:ser>
        <c:dLbls>
          <c:numFmt formatCode="#,##0" sourceLinked="0"/>
          <c:txPr>
            <a:bodyPr/>
            <a:lstStyle/>
            <a:p>
              <a:pPr>
                <a:defRPr b="0" i="0" strike="noStrike" sz="1100" u="none">
                  <a:solidFill>
                    <a:srgbClr val="33475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75B"/>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9525" cap="flat">
              <a:solidFill>
                <a:srgbClr val="D5DE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475B"/>
                </a:solidFill>
                <a:latin typeface="+mn-lt"/>
              </a:defRPr>
            </a:pPr>
            <a:r>
              <a:rPr sz="1300" b="0" i="0" u="none" strike="noStrike">
                <a:solidFill>
                  <a:srgbClr val="33475B"/>
                </a:solidFill>
                <a:latin typeface="+mn-lt"/>
              </a:rPr>
              <a:t>Fitted level membership functions, Bengalas (x = water level, m)</a:t>
            </a:r>
          </a:p>
        </c:rich>
      </c:tx>
      <c:layout/>
      <c:overlay val="0"/>
    </c:title>
    <c:autoTitleDeleted val="0"/>
    <c:plotArea>
      <c:layout/>
      <c:lineChart>
        <c:varyColors val="0"/>
        <c:ser>
          <c:idx val="0"/>
          <c:order val="0"/>
          <c:tx>
            <c:strRef>
              <c:f>Sheet1!$B$1</c:f>
              <c:strCache>
                <c:ptCount val="1"/>
                <c:pt idx="0">
                  <c:v>Normal</c:v>
                </c:pt>
              </c:strCache>
            </c:strRef>
          </c:tx>
          <c:spPr>
            <a:solidFill>
              <a:srgbClr val="2E8B57"/>
            </a:solidFill>
            <a:ln w="25400" cap="flat">
              <a:solidFill>
                <a:srgbClr val="2E8B57"/>
              </a:solidFill>
              <a:prstDash val="solid"/>
              <a:round/>
            </a:ln>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2E8B57"/>
              </a:solidFill>
              <a:ln w="9525" cap="flat">
                <a:solidFill>
                  <a:srgbClr val="2E8B57"/>
                </a:solidFill>
                <a:prstDash val="solid"/>
                <a:round/>
              </a:ln>
              <a:effectLst/>
            </c:spPr>
          </c:marker>
          <c:cat>
            <c:multiLvlStrRef>
              <c:f>Sheet1!$A$2:$A$61</c:f>
              <c:multiLvlStrCache>
                <c:ptCount val="60"/>
                <c:lvl>
                  <c:pt idx="0">
                    <c:v>0.56</c:v>
                  </c:pt>
                  <c:pt idx="1">
                    <c:v>0.59</c:v>
                  </c:pt>
                  <c:pt idx="2">
                    <c:v>0.61</c:v>
                  </c:pt>
                  <c:pt idx="3">
                    <c:v>0.64</c:v>
                  </c:pt>
                  <c:pt idx="4">
                    <c:v>0.67</c:v>
                  </c:pt>
                  <c:pt idx="5">
                    <c:v>0.69</c:v>
                  </c:pt>
                  <c:pt idx="6">
                    <c:v>0.72</c:v>
                  </c:pt>
                  <c:pt idx="7">
                    <c:v>0.75</c:v>
                  </c:pt>
                  <c:pt idx="8">
                    <c:v>0.77</c:v>
                  </c:pt>
                  <c:pt idx="9">
                    <c:v>0.80</c:v>
                  </c:pt>
                  <c:pt idx="10">
                    <c:v>0.82</c:v>
                  </c:pt>
                  <c:pt idx="11">
                    <c:v>0.85</c:v>
                  </c:pt>
                  <c:pt idx="12">
                    <c:v>0.88</c:v>
                  </c:pt>
                  <c:pt idx="13">
                    <c:v>0.90</c:v>
                  </c:pt>
                  <c:pt idx="14">
                    <c:v>0.93</c:v>
                  </c:pt>
                  <c:pt idx="15">
                    <c:v>0.96</c:v>
                  </c:pt>
                  <c:pt idx="16">
                    <c:v>0.98</c:v>
                  </c:pt>
                  <c:pt idx="17">
                    <c:v>1.01</c:v>
                  </c:pt>
                  <c:pt idx="18">
                    <c:v>1.04</c:v>
                  </c:pt>
                  <c:pt idx="19">
                    <c:v>1.06</c:v>
                  </c:pt>
                  <c:pt idx="20">
                    <c:v>1.09</c:v>
                  </c:pt>
                  <c:pt idx="21">
                    <c:v>1.12</c:v>
                  </c:pt>
                  <c:pt idx="22">
                    <c:v>1.14</c:v>
                  </c:pt>
                  <c:pt idx="23">
                    <c:v>1.17</c:v>
                  </c:pt>
                  <c:pt idx="24">
                    <c:v>1.20</c:v>
                  </c:pt>
                  <c:pt idx="25">
                    <c:v>1.22</c:v>
                  </c:pt>
                  <c:pt idx="26">
                    <c:v>1.25</c:v>
                  </c:pt>
                  <c:pt idx="27">
                    <c:v>1.28</c:v>
                  </c:pt>
                  <c:pt idx="28">
                    <c:v>1.30</c:v>
                  </c:pt>
                  <c:pt idx="29">
                    <c:v>1.33</c:v>
                  </c:pt>
                  <c:pt idx="30">
                    <c:v>1.36</c:v>
                  </c:pt>
                  <c:pt idx="31">
                    <c:v>1.38</c:v>
                  </c:pt>
                  <c:pt idx="32">
                    <c:v>1.41</c:v>
                  </c:pt>
                  <c:pt idx="33">
                    <c:v>1.44</c:v>
                  </c:pt>
                  <c:pt idx="34">
                    <c:v>1.46</c:v>
                  </c:pt>
                  <c:pt idx="35">
                    <c:v>1.49</c:v>
                  </c:pt>
                  <c:pt idx="36">
                    <c:v>1.52</c:v>
                  </c:pt>
                  <c:pt idx="37">
                    <c:v>1.54</c:v>
                  </c:pt>
                  <c:pt idx="38">
                    <c:v>1.57</c:v>
                  </c:pt>
                  <c:pt idx="39">
                    <c:v>1.60</c:v>
                  </c:pt>
                  <c:pt idx="40">
                    <c:v>1.62</c:v>
                  </c:pt>
                  <c:pt idx="41">
                    <c:v>1.65</c:v>
                  </c:pt>
                  <c:pt idx="42">
                    <c:v>1.68</c:v>
                  </c:pt>
                  <c:pt idx="43">
                    <c:v>1.70</c:v>
                  </c:pt>
                  <c:pt idx="44">
                    <c:v>1.73</c:v>
                  </c:pt>
                  <c:pt idx="45">
                    <c:v>1.76</c:v>
                  </c:pt>
                  <c:pt idx="46">
                    <c:v>1.78</c:v>
                  </c:pt>
                  <c:pt idx="47">
                    <c:v>1.81</c:v>
                  </c:pt>
                  <c:pt idx="48">
                    <c:v>1.84</c:v>
                  </c:pt>
                  <c:pt idx="49">
                    <c:v>1.86</c:v>
                  </c:pt>
                  <c:pt idx="50">
                    <c:v>1.89</c:v>
                  </c:pt>
                  <c:pt idx="51">
                    <c:v>1.92</c:v>
                  </c:pt>
                  <c:pt idx="52">
                    <c:v>1.94</c:v>
                  </c:pt>
                  <c:pt idx="53">
                    <c:v>1.97</c:v>
                  </c:pt>
                  <c:pt idx="54">
                    <c:v>2.00</c:v>
                  </c:pt>
                  <c:pt idx="55">
                    <c:v>2.02</c:v>
                  </c:pt>
                  <c:pt idx="56">
                    <c:v>2.05</c:v>
                  </c:pt>
                  <c:pt idx="57">
                    <c:v>2.08</c:v>
                  </c:pt>
                  <c:pt idx="58">
                    <c:v>2.10</c:v>
                  </c:pt>
                  <c:pt idx="59">
                    <c:v>2.13</c:v>
                  </c:pt>
                </c:lvl>
              </c:multiLvlStrCache>
            </c:multiLvlStrRef>
          </c:cat>
          <c:val>
            <c:numRef>
              <c:f>Sheet1!$B$2:$B$61</c:f>
              <c:numCache>
                <c:formatCode>General</c:formatCode>
                <c:ptCount val="60"/>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0.977</c:v>
                </c:pt>
                <c:pt idx="16">
                  <c:v>0.6088</c:v>
                </c:pt>
                <c:pt idx="17">
                  <c:v>0.2406</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numCache>
            </c:numRef>
          </c:val>
          <c:smooth val="0"/>
        </c:ser>
        <c:ser>
          <c:idx val="1"/>
          <c:order val="1"/>
          <c:tx>
            <c:strRef>
              <c:f>Sheet1!$C$1</c:f>
              <c:strCache>
                <c:ptCount val="1"/>
                <c:pt idx="0">
                  <c:v>AboveNormal</c:v>
                </c:pt>
              </c:strCache>
            </c:strRef>
          </c:tx>
          <c:spPr>
            <a:solidFill>
              <a:srgbClr val="7F9A1C"/>
            </a:solidFill>
            <a:ln w="25400" cap="flat">
              <a:solidFill>
                <a:srgbClr val="7F9A1C"/>
              </a:solidFill>
              <a:prstDash val="solid"/>
              <a:round/>
            </a:ln>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7F9A1C"/>
              </a:solidFill>
              <a:ln w="9525" cap="flat">
                <a:solidFill>
                  <a:srgbClr val="7F9A1C"/>
                </a:solidFill>
                <a:prstDash val="solid"/>
                <a:round/>
              </a:ln>
              <a:effectLst/>
            </c:spPr>
          </c:marker>
          <c:cat>
            <c:multiLvlStrRef>
              <c:f>Sheet1!$A$2:$A$61</c:f>
              <c:multiLvlStrCache>
                <c:ptCount val="60"/>
                <c:lvl>
                  <c:pt idx="0">
                    <c:v>0.56</c:v>
                  </c:pt>
                  <c:pt idx="1">
                    <c:v>0.59</c:v>
                  </c:pt>
                  <c:pt idx="2">
                    <c:v>0.61</c:v>
                  </c:pt>
                  <c:pt idx="3">
                    <c:v>0.64</c:v>
                  </c:pt>
                  <c:pt idx="4">
                    <c:v>0.67</c:v>
                  </c:pt>
                  <c:pt idx="5">
                    <c:v>0.69</c:v>
                  </c:pt>
                  <c:pt idx="6">
                    <c:v>0.72</c:v>
                  </c:pt>
                  <c:pt idx="7">
                    <c:v>0.75</c:v>
                  </c:pt>
                  <c:pt idx="8">
                    <c:v>0.77</c:v>
                  </c:pt>
                  <c:pt idx="9">
                    <c:v>0.80</c:v>
                  </c:pt>
                  <c:pt idx="10">
                    <c:v>0.82</c:v>
                  </c:pt>
                  <c:pt idx="11">
                    <c:v>0.85</c:v>
                  </c:pt>
                  <c:pt idx="12">
                    <c:v>0.88</c:v>
                  </c:pt>
                  <c:pt idx="13">
                    <c:v>0.90</c:v>
                  </c:pt>
                  <c:pt idx="14">
                    <c:v>0.93</c:v>
                  </c:pt>
                  <c:pt idx="15">
                    <c:v>0.96</c:v>
                  </c:pt>
                  <c:pt idx="16">
                    <c:v>0.98</c:v>
                  </c:pt>
                  <c:pt idx="17">
                    <c:v>1.01</c:v>
                  </c:pt>
                  <c:pt idx="18">
                    <c:v>1.04</c:v>
                  </c:pt>
                  <c:pt idx="19">
                    <c:v>1.06</c:v>
                  </c:pt>
                  <c:pt idx="20">
                    <c:v>1.09</c:v>
                  </c:pt>
                  <c:pt idx="21">
                    <c:v>1.12</c:v>
                  </c:pt>
                  <c:pt idx="22">
                    <c:v>1.14</c:v>
                  </c:pt>
                  <c:pt idx="23">
                    <c:v>1.17</c:v>
                  </c:pt>
                  <c:pt idx="24">
                    <c:v>1.20</c:v>
                  </c:pt>
                  <c:pt idx="25">
                    <c:v>1.22</c:v>
                  </c:pt>
                  <c:pt idx="26">
                    <c:v>1.25</c:v>
                  </c:pt>
                  <c:pt idx="27">
                    <c:v>1.28</c:v>
                  </c:pt>
                  <c:pt idx="28">
                    <c:v>1.30</c:v>
                  </c:pt>
                  <c:pt idx="29">
                    <c:v>1.33</c:v>
                  </c:pt>
                  <c:pt idx="30">
                    <c:v>1.36</c:v>
                  </c:pt>
                  <c:pt idx="31">
                    <c:v>1.38</c:v>
                  </c:pt>
                  <c:pt idx="32">
                    <c:v>1.41</c:v>
                  </c:pt>
                  <c:pt idx="33">
                    <c:v>1.44</c:v>
                  </c:pt>
                  <c:pt idx="34">
                    <c:v>1.46</c:v>
                  </c:pt>
                  <c:pt idx="35">
                    <c:v>1.49</c:v>
                  </c:pt>
                  <c:pt idx="36">
                    <c:v>1.52</c:v>
                  </c:pt>
                  <c:pt idx="37">
                    <c:v>1.54</c:v>
                  </c:pt>
                  <c:pt idx="38">
                    <c:v>1.57</c:v>
                  </c:pt>
                  <c:pt idx="39">
                    <c:v>1.60</c:v>
                  </c:pt>
                  <c:pt idx="40">
                    <c:v>1.62</c:v>
                  </c:pt>
                  <c:pt idx="41">
                    <c:v>1.65</c:v>
                  </c:pt>
                  <c:pt idx="42">
                    <c:v>1.68</c:v>
                  </c:pt>
                  <c:pt idx="43">
                    <c:v>1.70</c:v>
                  </c:pt>
                  <c:pt idx="44">
                    <c:v>1.73</c:v>
                  </c:pt>
                  <c:pt idx="45">
                    <c:v>1.76</c:v>
                  </c:pt>
                  <c:pt idx="46">
                    <c:v>1.78</c:v>
                  </c:pt>
                  <c:pt idx="47">
                    <c:v>1.81</c:v>
                  </c:pt>
                  <c:pt idx="48">
                    <c:v>1.84</c:v>
                  </c:pt>
                  <c:pt idx="49">
                    <c:v>1.86</c:v>
                  </c:pt>
                  <c:pt idx="50">
                    <c:v>1.89</c:v>
                  </c:pt>
                  <c:pt idx="51">
                    <c:v>1.92</c:v>
                  </c:pt>
                  <c:pt idx="52">
                    <c:v>1.94</c:v>
                  </c:pt>
                  <c:pt idx="53">
                    <c:v>1.97</c:v>
                  </c:pt>
                  <c:pt idx="54">
                    <c:v>2.00</c:v>
                  </c:pt>
                  <c:pt idx="55">
                    <c:v>2.02</c:v>
                  </c:pt>
                  <c:pt idx="56">
                    <c:v>2.05</c:v>
                  </c:pt>
                  <c:pt idx="57">
                    <c:v>2.08</c:v>
                  </c:pt>
                  <c:pt idx="58">
                    <c:v>2.10</c:v>
                  </c:pt>
                  <c:pt idx="59">
                    <c:v>2.13</c:v>
                  </c:pt>
                </c:lvl>
              </c:multiLvlStrCache>
            </c:multiLvlStrRef>
          </c:cat>
          <c:val>
            <c:numRef>
              <c:f>Sheet1!$C$2:$C$61</c:f>
              <c:numCache>
                <c:formatCode>General</c:formatCode>
                <c:ptCount val="6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0.023</c:v>
                </c:pt>
                <c:pt idx="16">
                  <c:v>0.3912</c:v>
                </c:pt>
                <c:pt idx="17">
                  <c:v>0.7594</c:v>
                </c:pt>
                <c:pt idx="18">
                  <c:v>1</c:v>
                </c:pt>
                <c:pt idx="19">
                  <c:v>1</c:v>
                </c:pt>
                <c:pt idx="20">
                  <c:v>1</c:v>
                </c:pt>
                <c:pt idx="21">
                  <c:v>0.7678</c:v>
                </c:pt>
                <c:pt idx="22">
                  <c:v>0.3996</c:v>
                </c:pt>
                <c:pt idx="23">
                  <c:v>0.0314</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numCache>
            </c:numRef>
          </c:val>
          <c:smooth val="0"/>
        </c:ser>
        <c:ser>
          <c:idx val="2"/>
          <c:order val="2"/>
          <c:tx>
            <c:strRef>
              <c:f>Sheet1!$D$1</c:f>
              <c:strCache>
                <c:ptCount val="1"/>
                <c:pt idx="0">
                  <c:v>Elevated</c:v>
                </c:pt>
              </c:strCache>
            </c:strRef>
          </c:tx>
          <c:spPr>
            <a:solidFill>
              <a:srgbClr val="C99206"/>
            </a:solidFill>
            <a:ln w="25400" cap="flat">
              <a:solidFill>
                <a:srgbClr val="C99206"/>
              </a:solidFill>
              <a:prstDash val="solid"/>
              <a:round/>
            </a:ln>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C99206"/>
              </a:solidFill>
              <a:ln w="9525" cap="flat">
                <a:solidFill>
                  <a:srgbClr val="C99206"/>
                </a:solidFill>
                <a:prstDash val="solid"/>
                <a:round/>
              </a:ln>
              <a:effectLst/>
            </c:spPr>
          </c:marker>
          <c:cat>
            <c:multiLvlStrRef>
              <c:f>Sheet1!$A$2:$A$61</c:f>
              <c:multiLvlStrCache>
                <c:ptCount val="60"/>
                <c:lvl>
                  <c:pt idx="0">
                    <c:v>0.56</c:v>
                  </c:pt>
                  <c:pt idx="1">
                    <c:v>0.59</c:v>
                  </c:pt>
                  <c:pt idx="2">
                    <c:v>0.61</c:v>
                  </c:pt>
                  <c:pt idx="3">
                    <c:v>0.64</c:v>
                  </c:pt>
                  <c:pt idx="4">
                    <c:v>0.67</c:v>
                  </c:pt>
                  <c:pt idx="5">
                    <c:v>0.69</c:v>
                  </c:pt>
                  <c:pt idx="6">
                    <c:v>0.72</c:v>
                  </c:pt>
                  <c:pt idx="7">
                    <c:v>0.75</c:v>
                  </c:pt>
                  <c:pt idx="8">
                    <c:v>0.77</c:v>
                  </c:pt>
                  <c:pt idx="9">
                    <c:v>0.80</c:v>
                  </c:pt>
                  <c:pt idx="10">
                    <c:v>0.82</c:v>
                  </c:pt>
                  <c:pt idx="11">
                    <c:v>0.85</c:v>
                  </c:pt>
                  <c:pt idx="12">
                    <c:v>0.88</c:v>
                  </c:pt>
                  <c:pt idx="13">
                    <c:v>0.90</c:v>
                  </c:pt>
                  <c:pt idx="14">
                    <c:v>0.93</c:v>
                  </c:pt>
                  <c:pt idx="15">
                    <c:v>0.96</c:v>
                  </c:pt>
                  <c:pt idx="16">
                    <c:v>0.98</c:v>
                  </c:pt>
                  <c:pt idx="17">
                    <c:v>1.01</c:v>
                  </c:pt>
                  <c:pt idx="18">
                    <c:v>1.04</c:v>
                  </c:pt>
                  <c:pt idx="19">
                    <c:v>1.06</c:v>
                  </c:pt>
                  <c:pt idx="20">
                    <c:v>1.09</c:v>
                  </c:pt>
                  <c:pt idx="21">
                    <c:v>1.12</c:v>
                  </c:pt>
                  <c:pt idx="22">
                    <c:v>1.14</c:v>
                  </c:pt>
                  <c:pt idx="23">
                    <c:v>1.17</c:v>
                  </c:pt>
                  <c:pt idx="24">
                    <c:v>1.20</c:v>
                  </c:pt>
                  <c:pt idx="25">
                    <c:v>1.22</c:v>
                  </c:pt>
                  <c:pt idx="26">
                    <c:v>1.25</c:v>
                  </c:pt>
                  <c:pt idx="27">
                    <c:v>1.28</c:v>
                  </c:pt>
                  <c:pt idx="28">
                    <c:v>1.30</c:v>
                  </c:pt>
                  <c:pt idx="29">
                    <c:v>1.33</c:v>
                  </c:pt>
                  <c:pt idx="30">
                    <c:v>1.36</c:v>
                  </c:pt>
                  <c:pt idx="31">
                    <c:v>1.38</c:v>
                  </c:pt>
                  <c:pt idx="32">
                    <c:v>1.41</c:v>
                  </c:pt>
                  <c:pt idx="33">
                    <c:v>1.44</c:v>
                  </c:pt>
                  <c:pt idx="34">
                    <c:v>1.46</c:v>
                  </c:pt>
                  <c:pt idx="35">
                    <c:v>1.49</c:v>
                  </c:pt>
                  <c:pt idx="36">
                    <c:v>1.52</c:v>
                  </c:pt>
                  <c:pt idx="37">
                    <c:v>1.54</c:v>
                  </c:pt>
                  <c:pt idx="38">
                    <c:v>1.57</c:v>
                  </c:pt>
                  <c:pt idx="39">
                    <c:v>1.60</c:v>
                  </c:pt>
                  <c:pt idx="40">
                    <c:v>1.62</c:v>
                  </c:pt>
                  <c:pt idx="41">
                    <c:v>1.65</c:v>
                  </c:pt>
                  <c:pt idx="42">
                    <c:v>1.68</c:v>
                  </c:pt>
                  <c:pt idx="43">
                    <c:v>1.70</c:v>
                  </c:pt>
                  <c:pt idx="44">
                    <c:v>1.73</c:v>
                  </c:pt>
                  <c:pt idx="45">
                    <c:v>1.76</c:v>
                  </c:pt>
                  <c:pt idx="46">
                    <c:v>1.78</c:v>
                  </c:pt>
                  <c:pt idx="47">
                    <c:v>1.81</c:v>
                  </c:pt>
                  <c:pt idx="48">
                    <c:v>1.84</c:v>
                  </c:pt>
                  <c:pt idx="49">
                    <c:v>1.86</c:v>
                  </c:pt>
                  <c:pt idx="50">
                    <c:v>1.89</c:v>
                  </c:pt>
                  <c:pt idx="51">
                    <c:v>1.92</c:v>
                  </c:pt>
                  <c:pt idx="52">
                    <c:v>1.94</c:v>
                  </c:pt>
                  <c:pt idx="53">
                    <c:v>1.97</c:v>
                  </c:pt>
                  <c:pt idx="54">
                    <c:v>2.00</c:v>
                  </c:pt>
                  <c:pt idx="55">
                    <c:v>2.02</c:v>
                  </c:pt>
                  <c:pt idx="56">
                    <c:v>2.05</c:v>
                  </c:pt>
                  <c:pt idx="57">
                    <c:v>2.08</c:v>
                  </c:pt>
                  <c:pt idx="58">
                    <c:v>2.10</c:v>
                  </c:pt>
                  <c:pt idx="59">
                    <c:v>2.13</c:v>
                  </c:pt>
                </c:lvl>
              </c:multiLvlStrCache>
            </c:multiLvlStrRef>
          </c:cat>
          <c:val>
            <c:numRef>
              <c:f>Sheet1!$D$2:$D$61</c:f>
              <c:numCache>
                <c:formatCode>General</c:formatCode>
                <c:ptCount val="6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0.2322</c:v>
                </c:pt>
                <c:pt idx="22">
                  <c:v>0.6004</c:v>
                </c:pt>
                <c:pt idx="23">
                  <c:v>0.9686</c:v>
                </c:pt>
                <c:pt idx="24">
                  <c:v>1</c:v>
                </c:pt>
                <c:pt idx="25">
                  <c:v>1</c:v>
                </c:pt>
                <c:pt idx="26">
                  <c:v>1</c:v>
                </c:pt>
                <c:pt idx="27">
                  <c:v>1</c:v>
                </c:pt>
                <c:pt idx="28">
                  <c:v>1</c:v>
                </c:pt>
                <c:pt idx="29">
                  <c:v>1</c:v>
                </c:pt>
                <c:pt idx="30">
                  <c:v>0.977</c:v>
                </c:pt>
                <c:pt idx="31">
                  <c:v>0.7929</c:v>
                </c:pt>
                <c:pt idx="32">
                  <c:v>0.6088</c:v>
                </c:pt>
                <c:pt idx="33">
                  <c:v>0.4247</c:v>
                </c:pt>
                <c:pt idx="34">
                  <c:v>0.2406</c:v>
                </c:pt>
                <c:pt idx="35">
                  <c:v>0.0565</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numCache>
            </c:numRef>
          </c:val>
          <c:smooth val="0"/>
        </c:ser>
        <c:ser>
          <c:idx val="3"/>
          <c:order val="3"/>
          <c:tx>
            <c:strRef>
              <c:f>Sheet1!$E$1</c:f>
              <c:strCache>
                <c:ptCount val="1"/>
                <c:pt idx="0">
                  <c:v>High</c:v>
                </c:pt>
              </c:strCache>
            </c:strRef>
          </c:tx>
          <c:spPr>
            <a:solidFill>
              <a:srgbClr val="DD6418"/>
            </a:solidFill>
            <a:ln w="25400" cap="flat">
              <a:solidFill>
                <a:srgbClr val="DD6418"/>
              </a:solidFill>
              <a:prstDash val="solid"/>
              <a:round/>
            </a:ln>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DD6418"/>
              </a:solidFill>
              <a:ln w="9525" cap="flat">
                <a:solidFill>
                  <a:srgbClr val="DD6418"/>
                </a:solidFill>
                <a:prstDash val="solid"/>
                <a:round/>
              </a:ln>
              <a:effectLst/>
            </c:spPr>
          </c:marker>
          <c:cat>
            <c:multiLvlStrRef>
              <c:f>Sheet1!$A$2:$A$61</c:f>
              <c:multiLvlStrCache>
                <c:ptCount val="60"/>
                <c:lvl>
                  <c:pt idx="0">
                    <c:v>0.56</c:v>
                  </c:pt>
                  <c:pt idx="1">
                    <c:v>0.59</c:v>
                  </c:pt>
                  <c:pt idx="2">
                    <c:v>0.61</c:v>
                  </c:pt>
                  <c:pt idx="3">
                    <c:v>0.64</c:v>
                  </c:pt>
                  <c:pt idx="4">
                    <c:v>0.67</c:v>
                  </c:pt>
                  <c:pt idx="5">
                    <c:v>0.69</c:v>
                  </c:pt>
                  <c:pt idx="6">
                    <c:v>0.72</c:v>
                  </c:pt>
                  <c:pt idx="7">
                    <c:v>0.75</c:v>
                  </c:pt>
                  <c:pt idx="8">
                    <c:v>0.77</c:v>
                  </c:pt>
                  <c:pt idx="9">
                    <c:v>0.80</c:v>
                  </c:pt>
                  <c:pt idx="10">
                    <c:v>0.82</c:v>
                  </c:pt>
                  <c:pt idx="11">
                    <c:v>0.85</c:v>
                  </c:pt>
                  <c:pt idx="12">
                    <c:v>0.88</c:v>
                  </c:pt>
                  <c:pt idx="13">
                    <c:v>0.90</c:v>
                  </c:pt>
                  <c:pt idx="14">
                    <c:v>0.93</c:v>
                  </c:pt>
                  <c:pt idx="15">
                    <c:v>0.96</c:v>
                  </c:pt>
                  <c:pt idx="16">
                    <c:v>0.98</c:v>
                  </c:pt>
                  <c:pt idx="17">
                    <c:v>1.01</c:v>
                  </c:pt>
                  <c:pt idx="18">
                    <c:v>1.04</c:v>
                  </c:pt>
                  <c:pt idx="19">
                    <c:v>1.06</c:v>
                  </c:pt>
                  <c:pt idx="20">
                    <c:v>1.09</c:v>
                  </c:pt>
                  <c:pt idx="21">
                    <c:v>1.12</c:v>
                  </c:pt>
                  <c:pt idx="22">
                    <c:v>1.14</c:v>
                  </c:pt>
                  <c:pt idx="23">
                    <c:v>1.17</c:v>
                  </c:pt>
                  <c:pt idx="24">
                    <c:v>1.20</c:v>
                  </c:pt>
                  <c:pt idx="25">
                    <c:v>1.22</c:v>
                  </c:pt>
                  <c:pt idx="26">
                    <c:v>1.25</c:v>
                  </c:pt>
                  <c:pt idx="27">
                    <c:v>1.28</c:v>
                  </c:pt>
                  <c:pt idx="28">
                    <c:v>1.30</c:v>
                  </c:pt>
                  <c:pt idx="29">
                    <c:v>1.33</c:v>
                  </c:pt>
                  <c:pt idx="30">
                    <c:v>1.36</c:v>
                  </c:pt>
                  <c:pt idx="31">
                    <c:v>1.38</c:v>
                  </c:pt>
                  <c:pt idx="32">
                    <c:v>1.41</c:v>
                  </c:pt>
                  <c:pt idx="33">
                    <c:v>1.44</c:v>
                  </c:pt>
                  <c:pt idx="34">
                    <c:v>1.46</c:v>
                  </c:pt>
                  <c:pt idx="35">
                    <c:v>1.49</c:v>
                  </c:pt>
                  <c:pt idx="36">
                    <c:v>1.52</c:v>
                  </c:pt>
                  <c:pt idx="37">
                    <c:v>1.54</c:v>
                  </c:pt>
                  <c:pt idx="38">
                    <c:v>1.57</c:v>
                  </c:pt>
                  <c:pt idx="39">
                    <c:v>1.60</c:v>
                  </c:pt>
                  <c:pt idx="40">
                    <c:v>1.62</c:v>
                  </c:pt>
                  <c:pt idx="41">
                    <c:v>1.65</c:v>
                  </c:pt>
                  <c:pt idx="42">
                    <c:v>1.68</c:v>
                  </c:pt>
                  <c:pt idx="43">
                    <c:v>1.70</c:v>
                  </c:pt>
                  <c:pt idx="44">
                    <c:v>1.73</c:v>
                  </c:pt>
                  <c:pt idx="45">
                    <c:v>1.76</c:v>
                  </c:pt>
                  <c:pt idx="46">
                    <c:v>1.78</c:v>
                  </c:pt>
                  <c:pt idx="47">
                    <c:v>1.81</c:v>
                  </c:pt>
                  <c:pt idx="48">
                    <c:v>1.84</c:v>
                  </c:pt>
                  <c:pt idx="49">
                    <c:v>1.86</c:v>
                  </c:pt>
                  <c:pt idx="50">
                    <c:v>1.89</c:v>
                  </c:pt>
                  <c:pt idx="51">
                    <c:v>1.92</c:v>
                  </c:pt>
                  <c:pt idx="52">
                    <c:v>1.94</c:v>
                  </c:pt>
                  <c:pt idx="53">
                    <c:v>1.97</c:v>
                  </c:pt>
                  <c:pt idx="54">
                    <c:v>2.00</c:v>
                  </c:pt>
                  <c:pt idx="55">
                    <c:v>2.02</c:v>
                  </c:pt>
                  <c:pt idx="56">
                    <c:v>2.05</c:v>
                  </c:pt>
                  <c:pt idx="57">
                    <c:v>2.08</c:v>
                  </c:pt>
                  <c:pt idx="58">
                    <c:v>2.10</c:v>
                  </c:pt>
                  <c:pt idx="59">
                    <c:v>2.13</c:v>
                  </c:pt>
                </c:lvl>
              </c:multiLvlStrCache>
            </c:multiLvlStrRef>
          </c:cat>
          <c:val>
            <c:numRef>
              <c:f>Sheet1!$E$2:$E$61</c:f>
              <c:numCache>
                <c:formatCode>General</c:formatCode>
                <c:ptCount val="6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0.023</c:v>
                </c:pt>
                <c:pt idx="31">
                  <c:v>0.2071</c:v>
                </c:pt>
                <c:pt idx="32">
                  <c:v>0.3912</c:v>
                </c:pt>
                <c:pt idx="33">
                  <c:v>0.5753</c:v>
                </c:pt>
                <c:pt idx="34">
                  <c:v>0.7594</c:v>
                </c:pt>
                <c:pt idx="35">
                  <c:v>0.9435</c:v>
                </c:pt>
                <c:pt idx="36">
                  <c:v>1</c:v>
                </c:pt>
                <c:pt idx="37">
                  <c:v>1</c:v>
                </c:pt>
                <c:pt idx="38">
                  <c:v>1</c:v>
                </c:pt>
                <c:pt idx="39">
                  <c:v>1</c:v>
                </c:pt>
                <c:pt idx="40">
                  <c:v>1</c:v>
                </c:pt>
                <c:pt idx="41">
                  <c:v>0.9519</c:v>
                </c:pt>
                <c:pt idx="42">
                  <c:v>0.7678</c:v>
                </c:pt>
                <c:pt idx="43">
                  <c:v>0.5837</c:v>
                </c:pt>
                <c:pt idx="44">
                  <c:v>0.3996</c:v>
                </c:pt>
                <c:pt idx="45">
                  <c:v>0.2155</c:v>
                </c:pt>
                <c:pt idx="46">
                  <c:v>0.0314</c:v>
                </c:pt>
                <c:pt idx="47">
                  <c:v>0</c:v>
                </c:pt>
                <c:pt idx="48">
                  <c:v>0</c:v>
                </c:pt>
                <c:pt idx="49">
                  <c:v>0</c:v>
                </c:pt>
                <c:pt idx="50">
                  <c:v>0</c:v>
                </c:pt>
                <c:pt idx="51">
                  <c:v>0</c:v>
                </c:pt>
                <c:pt idx="52">
                  <c:v>0</c:v>
                </c:pt>
                <c:pt idx="53">
                  <c:v>0</c:v>
                </c:pt>
                <c:pt idx="54">
                  <c:v>0</c:v>
                </c:pt>
                <c:pt idx="55">
                  <c:v>0</c:v>
                </c:pt>
                <c:pt idx="56">
                  <c:v>0</c:v>
                </c:pt>
                <c:pt idx="57">
                  <c:v>0</c:v>
                </c:pt>
                <c:pt idx="58">
                  <c:v>0</c:v>
                </c:pt>
                <c:pt idx="59">
                  <c:v>0</c:v>
                </c:pt>
              </c:numCache>
            </c:numRef>
          </c:val>
          <c:smooth val="0"/>
        </c:ser>
        <c:ser>
          <c:idx val="4"/>
          <c:order val="4"/>
          <c:tx>
            <c:strRef>
              <c:f>Sheet1!$F$1</c:f>
              <c:strCache>
                <c:ptCount val="1"/>
                <c:pt idx="0">
                  <c:v>VeryHigh</c:v>
                </c:pt>
              </c:strCache>
            </c:strRef>
          </c:tx>
          <c:spPr>
            <a:solidFill>
              <a:srgbClr val="C62828"/>
            </a:solidFill>
            <a:ln w="25400" cap="flat">
              <a:solidFill>
                <a:srgbClr val="C62828"/>
              </a:solidFill>
              <a:prstDash val="solid"/>
              <a:round/>
            </a:ln>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C62828"/>
              </a:solidFill>
              <a:ln w="9525" cap="flat">
                <a:solidFill>
                  <a:srgbClr val="C62828"/>
                </a:solidFill>
                <a:prstDash val="solid"/>
                <a:round/>
              </a:ln>
              <a:effectLst/>
            </c:spPr>
          </c:marker>
          <c:cat>
            <c:multiLvlStrRef>
              <c:f>Sheet1!$A$2:$A$61</c:f>
              <c:multiLvlStrCache>
                <c:ptCount val="60"/>
                <c:lvl>
                  <c:pt idx="0">
                    <c:v>0.56</c:v>
                  </c:pt>
                  <c:pt idx="1">
                    <c:v>0.59</c:v>
                  </c:pt>
                  <c:pt idx="2">
                    <c:v>0.61</c:v>
                  </c:pt>
                  <c:pt idx="3">
                    <c:v>0.64</c:v>
                  </c:pt>
                  <c:pt idx="4">
                    <c:v>0.67</c:v>
                  </c:pt>
                  <c:pt idx="5">
                    <c:v>0.69</c:v>
                  </c:pt>
                  <c:pt idx="6">
                    <c:v>0.72</c:v>
                  </c:pt>
                  <c:pt idx="7">
                    <c:v>0.75</c:v>
                  </c:pt>
                  <c:pt idx="8">
                    <c:v>0.77</c:v>
                  </c:pt>
                  <c:pt idx="9">
                    <c:v>0.80</c:v>
                  </c:pt>
                  <c:pt idx="10">
                    <c:v>0.82</c:v>
                  </c:pt>
                  <c:pt idx="11">
                    <c:v>0.85</c:v>
                  </c:pt>
                  <c:pt idx="12">
                    <c:v>0.88</c:v>
                  </c:pt>
                  <c:pt idx="13">
                    <c:v>0.90</c:v>
                  </c:pt>
                  <c:pt idx="14">
                    <c:v>0.93</c:v>
                  </c:pt>
                  <c:pt idx="15">
                    <c:v>0.96</c:v>
                  </c:pt>
                  <c:pt idx="16">
                    <c:v>0.98</c:v>
                  </c:pt>
                  <c:pt idx="17">
                    <c:v>1.01</c:v>
                  </c:pt>
                  <c:pt idx="18">
                    <c:v>1.04</c:v>
                  </c:pt>
                  <c:pt idx="19">
                    <c:v>1.06</c:v>
                  </c:pt>
                  <c:pt idx="20">
                    <c:v>1.09</c:v>
                  </c:pt>
                  <c:pt idx="21">
                    <c:v>1.12</c:v>
                  </c:pt>
                  <c:pt idx="22">
                    <c:v>1.14</c:v>
                  </c:pt>
                  <c:pt idx="23">
                    <c:v>1.17</c:v>
                  </c:pt>
                  <c:pt idx="24">
                    <c:v>1.20</c:v>
                  </c:pt>
                  <c:pt idx="25">
                    <c:v>1.22</c:v>
                  </c:pt>
                  <c:pt idx="26">
                    <c:v>1.25</c:v>
                  </c:pt>
                  <c:pt idx="27">
                    <c:v>1.28</c:v>
                  </c:pt>
                  <c:pt idx="28">
                    <c:v>1.30</c:v>
                  </c:pt>
                  <c:pt idx="29">
                    <c:v>1.33</c:v>
                  </c:pt>
                  <c:pt idx="30">
                    <c:v>1.36</c:v>
                  </c:pt>
                  <c:pt idx="31">
                    <c:v>1.38</c:v>
                  </c:pt>
                  <c:pt idx="32">
                    <c:v>1.41</c:v>
                  </c:pt>
                  <c:pt idx="33">
                    <c:v>1.44</c:v>
                  </c:pt>
                  <c:pt idx="34">
                    <c:v>1.46</c:v>
                  </c:pt>
                  <c:pt idx="35">
                    <c:v>1.49</c:v>
                  </c:pt>
                  <c:pt idx="36">
                    <c:v>1.52</c:v>
                  </c:pt>
                  <c:pt idx="37">
                    <c:v>1.54</c:v>
                  </c:pt>
                  <c:pt idx="38">
                    <c:v>1.57</c:v>
                  </c:pt>
                  <c:pt idx="39">
                    <c:v>1.60</c:v>
                  </c:pt>
                  <c:pt idx="40">
                    <c:v>1.62</c:v>
                  </c:pt>
                  <c:pt idx="41">
                    <c:v>1.65</c:v>
                  </c:pt>
                  <c:pt idx="42">
                    <c:v>1.68</c:v>
                  </c:pt>
                  <c:pt idx="43">
                    <c:v>1.70</c:v>
                  </c:pt>
                  <c:pt idx="44">
                    <c:v>1.73</c:v>
                  </c:pt>
                  <c:pt idx="45">
                    <c:v>1.76</c:v>
                  </c:pt>
                  <c:pt idx="46">
                    <c:v>1.78</c:v>
                  </c:pt>
                  <c:pt idx="47">
                    <c:v>1.81</c:v>
                  </c:pt>
                  <c:pt idx="48">
                    <c:v>1.84</c:v>
                  </c:pt>
                  <c:pt idx="49">
                    <c:v>1.86</c:v>
                  </c:pt>
                  <c:pt idx="50">
                    <c:v>1.89</c:v>
                  </c:pt>
                  <c:pt idx="51">
                    <c:v>1.92</c:v>
                  </c:pt>
                  <c:pt idx="52">
                    <c:v>1.94</c:v>
                  </c:pt>
                  <c:pt idx="53">
                    <c:v>1.97</c:v>
                  </c:pt>
                  <c:pt idx="54">
                    <c:v>2.00</c:v>
                  </c:pt>
                  <c:pt idx="55">
                    <c:v>2.02</c:v>
                  </c:pt>
                  <c:pt idx="56">
                    <c:v>2.05</c:v>
                  </c:pt>
                  <c:pt idx="57">
                    <c:v>2.08</c:v>
                  </c:pt>
                  <c:pt idx="58">
                    <c:v>2.10</c:v>
                  </c:pt>
                  <c:pt idx="59">
                    <c:v>2.13</c:v>
                  </c:pt>
                </c:lvl>
              </c:multiLvlStrCache>
            </c:multiLvlStrRef>
          </c:cat>
          <c:val>
            <c:numRef>
              <c:f>Sheet1!$F$2:$F$61</c:f>
              <c:numCache>
                <c:formatCode>General</c:formatCode>
                <c:ptCount val="6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0.0481</c:v>
                </c:pt>
                <c:pt idx="42">
                  <c:v>0.2322</c:v>
                </c:pt>
                <c:pt idx="43">
                  <c:v>0.4163</c:v>
                </c:pt>
                <c:pt idx="44">
                  <c:v>0.6004</c:v>
                </c:pt>
                <c:pt idx="45">
                  <c:v>0.7845</c:v>
                </c:pt>
                <c:pt idx="46">
                  <c:v>0.9686</c:v>
                </c:pt>
                <c:pt idx="47">
                  <c:v>1</c:v>
                </c:pt>
                <c:pt idx="48">
                  <c:v>1</c:v>
                </c:pt>
                <c:pt idx="49">
                  <c:v>1</c:v>
                </c:pt>
                <c:pt idx="50">
                  <c:v>1</c:v>
                </c:pt>
                <c:pt idx="51">
                  <c:v>1</c:v>
                </c:pt>
                <c:pt idx="52">
                  <c:v>1</c:v>
                </c:pt>
                <c:pt idx="53">
                  <c:v>1</c:v>
                </c:pt>
                <c:pt idx="54">
                  <c:v>1</c:v>
                </c:pt>
                <c:pt idx="55">
                  <c:v>1</c:v>
                </c:pt>
                <c:pt idx="56">
                  <c:v>1</c:v>
                </c:pt>
                <c:pt idx="57">
                  <c:v>1</c:v>
                </c:pt>
                <c:pt idx="58">
                  <c:v>1</c:v>
                </c:pt>
                <c:pt idx="59">
                  <c:v>1</c:v>
                </c:pt>
              </c:numCache>
            </c:numRef>
          </c:val>
          <c:smooth val="0"/>
        </c:ser>
        <c:ser>
          <c:idx val="5"/>
          <c:order val="5"/>
          <c:tx>
            <c:strRef>
              <c:f>Sheet1!$G$1</c:f>
              <c:strCache>
                <c:ptCount val="1"/>
                <c:pt idx="0">
                  <c:v>High: upper MF</c:v>
                </c:pt>
              </c:strCache>
            </c:strRef>
          </c:tx>
          <c:spPr>
            <a:solidFill>
              <a:srgbClr val="6B7A8C"/>
            </a:solidFill>
            <a:ln w="25400" cap="flat">
              <a:solidFill>
                <a:srgbClr val="6B7A8C"/>
              </a:solidFill>
              <a:prstDash val="solid"/>
              <a:round/>
            </a:ln>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6B7A8C"/>
              </a:solidFill>
              <a:ln w="9525" cap="flat">
                <a:solidFill>
                  <a:srgbClr val="6B7A8C"/>
                </a:solidFill>
                <a:prstDash val="solid"/>
                <a:round/>
              </a:ln>
              <a:effectLst/>
            </c:spPr>
          </c:marker>
          <c:cat>
            <c:multiLvlStrRef>
              <c:f>Sheet1!$A$2:$A$61</c:f>
              <c:multiLvlStrCache>
                <c:ptCount val="60"/>
                <c:lvl>
                  <c:pt idx="0">
                    <c:v>0.56</c:v>
                  </c:pt>
                  <c:pt idx="1">
                    <c:v>0.59</c:v>
                  </c:pt>
                  <c:pt idx="2">
                    <c:v>0.61</c:v>
                  </c:pt>
                  <c:pt idx="3">
                    <c:v>0.64</c:v>
                  </c:pt>
                  <c:pt idx="4">
                    <c:v>0.67</c:v>
                  </c:pt>
                  <c:pt idx="5">
                    <c:v>0.69</c:v>
                  </c:pt>
                  <c:pt idx="6">
                    <c:v>0.72</c:v>
                  </c:pt>
                  <c:pt idx="7">
                    <c:v>0.75</c:v>
                  </c:pt>
                  <c:pt idx="8">
                    <c:v>0.77</c:v>
                  </c:pt>
                  <c:pt idx="9">
                    <c:v>0.80</c:v>
                  </c:pt>
                  <c:pt idx="10">
                    <c:v>0.82</c:v>
                  </c:pt>
                  <c:pt idx="11">
                    <c:v>0.85</c:v>
                  </c:pt>
                  <c:pt idx="12">
                    <c:v>0.88</c:v>
                  </c:pt>
                  <c:pt idx="13">
                    <c:v>0.90</c:v>
                  </c:pt>
                  <c:pt idx="14">
                    <c:v>0.93</c:v>
                  </c:pt>
                  <c:pt idx="15">
                    <c:v>0.96</c:v>
                  </c:pt>
                  <c:pt idx="16">
                    <c:v>0.98</c:v>
                  </c:pt>
                  <c:pt idx="17">
                    <c:v>1.01</c:v>
                  </c:pt>
                  <c:pt idx="18">
                    <c:v>1.04</c:v>
                  </c:pt>
                  <c:pt idx="19">
                    <c:v>1.06</c:v>
                  </c:pt>
                  <c:pt idx="20">
                    <c:v>1.09</c:v>
                  </c:pt>
                  <c:pt idx="21">
                    <c:v>1.12</c:v>
                  </c:pt>
                  <c:pt idx="22">
                    <c:v>1.14</c:v>
                  </c:pt>
                  <c:pt idx="23">
                    <c:v>1.17</c:v>
                  </c:pt>
                  <c:pt idx="24">
                    <c:v>1.20</c:v>
                  </c:pt>
                  <c:pt idx="25">
                    <c:v>1.22</c:v>
                  </c:pt>
                  <c:pt idx="26">
                    <c:v>1.25</c:v>
                  </c:pt>
                  <c:pt idx="27">
                    <c:v>1.28</c:v>
                  </c:pt>
                  <c:pt idx="28">
                    <c:v>1.30</c:v>
                  </c:pt>
                  <c:pt idx="29">
                    <c:v>1.33</c:v>
                  </c:pt>
                  <c:pt idx="30">
                    <c:v>1.36</c:v>
                  </c:pt>
                  <c:pt idx="31">
                    <c:v>1.38</c:v>
                  </c:pt>
                  <c:pt idx="32">
                    <c:v>1.41</c:v>
                  </c:pt>
                  <c:pt idx="33">
                    <c:v>1.44</c:v>
                  </c:pt>
                  <c:pt idx="34">
                    <c:v>1.46</c:v>
                  </c:pt>
                  <c:pt idx="35">
                    <c:v>1.49</c:v>
                  </c:pt>
                  <c:pt idx="36">
                    <c:v>1.52</c:v>
                  </c:pt>
                  <c:pt idx="37">
                    <c:v>1.54</c:v>
                  </c:pt>
                  <c:pt idx="38">
                    <c:v>1.57</c:v>
                  </c:pt>
                  <c:pt idx="39">
                    <c:v>1.60</c:v>
                  </c:pt>
                  <c:pt idx="40">
                    <c:v>1.62</c:v>
                  </c:pt>
                  <c:pt idx="41">
                    <c:v>1.65</c:v>
                  </c:pt>
                  <c:pt idx="42">
                    <c:v>1.68</c:v>
                  </c:pt>
                  <c:pt idx="43">
                    <c:v>1.70</c:v>
                  </c:pt>
                  <c:pt idx="44">
                    <c:v>1.73</c:v>
                  </c:pt>
                  <c:pt idx="45">
                    <c:v>1.76</c:v>
                  </c:pt>
                  <c:pt idx="46">
                    <c:v>1.78</c:v>
                  </c:pt>
                  <c:pt idx="47">
                    <c:v>1.81</c:v>
                  </c:pt>
                  <c:pt idx="48">
                    <c:v>1.84</c:v>
                  </c:pt>
                  <c:pt idx="49">
                    <c:v>1.86</c:v>
                  </c:pt>
                  <c:pt idx="50">
                    <c:v>1.89</c:v>
                  </c:pt>
                  <c:pt idx="51">
                    <c:v>1.92</c:v>
                  </c:pt>
                  <c:pt idx="52">
                    <c:v>1.94</c:v>
                  </c:pt>
                  <c:pt idx="53">
                    <c:v>1.97</c:v>
                  </c:pt>
                  <c:pt idx="54">
                    <c:v>2.00</c:v>
                  </c:pt>
                  <c:pt idx="55">
                    <c:v>2.02</c:v>
                  </c:pt>
                  <c:pt idx="56">
                    <c:v>2.05</c:v>
                  </c:pt>
                  <c:pt idx="57">
                    <c:v>2.08</c:v>
                  </c:pt>
                  <c:pt idx="58">
                    <c:v>2.10</c:v>
                  </c:pt>
                  <c:pt idx="59">
                    <c:v>2.13</c:v>
                  </c:pt>
                </c:lvl>
              </c:multiLvlStrCache>
            </c:multiLvlStrRef>
          </c:cat>
          <c:val>
            <c:numRef>
              <c:f>Sheet1!$G$2:$G$61</c:f>
              <c:numCache>
                <c:formatCode>General</c:formatCode>
                <c:ptCount val="6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0.0889</c:v>
                </c:pt>
                <c:pt idx="30">
                  <c:v>0.273</c:v>
                </c:pt>
                <c:pt idx="31">
                  <c:v>0.4571</c:v>
                </c:pt>
                <c:pt idx="32">
                  <c:v>0.6412</c:v>
                </c:pt>
                <c:pt idx="33">
                  <c:v>0.8253</c:v>
                </c:pt>
                <c:pt idx="34">
                  <c:v>1</c:v>
                </c:pt>
                <c:pt idx="35">
                  <c:v>1</c:v>
                </c:pt>
                <c:pt idx="36">
                  <c:v>1</c:v>
                </c:pt>
                <c:pt idx="37">
                  <c:v>1</c:v>
                </c:pt>
                <c:pt idx="38">
                  <c:v>1</c:v>
                </c:pt>
                <c:pt idx="39">
                  <c:v>1</c:v>
                </c:pt>
                <c:pt idx="40">
                  <c:v>1</c:v>
                </c:pt>
                <c:pt idx="41">
                  <c:v>1</c:v>
                </c:pt>
                <c:pt idx="42">
                  <c:v>1</c:v>
                </c:pt>
                <c:pt idx="43">
                  <c:v>0.8337</c:v>
                </c:pt>
                <c:pt idx="44">
                  <c:v>0.6496</c:v>
                </c:pt>
                <c:pt idx="45">
                  <c:v>0.4655</c:v>
                </c:pt>
                <c:pt idx="46">
                  <c:v>0.2814</c:v>
                </c:pt>
                <c:pt idx="47">
                  <c:v>0.0973</c:v>
                </c:pt>
                <c:pt idx="48">
                  <c:v>0</c:v>
                </c:pt>
                <c:pt idx="49">
                  <c:v>0</c:v>
                </c:pt>
                <c:pt idx="50">
                  <c:v>0</c:v>
                </c:pt>
                <c:pt idx="51">
                  <c:v>0</c:v>
                </c:pt>
                <c:pt idx="52">
                  <c:v>0</c:v>
                </c:pt>
                <c:pt idx="53">
                  <c:v>0</c:v>
                </c:pt>
                <c:pt idx="54">
                  <c:v>0</c:v>
                </c:pt>
                <c:pt idx="55">
                  <c:v>0</c:v>
                </c:pt>
                <c:pt idx="56">
                  <c:v>0</c:v>
                </c:pt>
                <c:pt idx="57">
                  <c:v>0</c:v>
                </c:pt>
                <c:pt idx="58">
                  <c:v>0</c:v>
                </c:pt>
                <c:pt idx="59">
                  <c:v>0</c:v>
                </c:pt>
              </c:numCache>
            </c:numRef>
          </c:val>
          <c:smooth val="0"/>
        </c:ser>
        <c:ser>
          <c:idx val="6"/>
          <c:order val="6"/>
          <c:tx>
            <c:strRef>
              <c:f>Sheet1!$H$1</c:f>
              <c:strCache>
                <c:ptCount val="1"/>
                <c:pt idx="0">
                  <c:v>High: lower MF</c:v>
                </c:pt>
              </c:strCache>
            </c:strRef>
          </c:tx>
          <c:spPr>
            <a:solidFill>
              <a:srgbClr val="6B7A8C"/>
            </a:solidFill>
            <a:ln w="25400" cap="flat">
              <a:solidFill>
                <a:srgbClr val="6B7A8C"/>
              </a:solidFill>
              <a:prstDash val="solid"/>
              <a:round/>
            </a:ln>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6B7A8C"/>
              </a:solidFill>
              <a:ln w="9525" cap="flat">
                <a:solidFill>
                  <a:srgbClr val="6B7A8C"/>
                </a:solidFill>
                <a:prstDash val="solid"/>
                <a:round/>
              </a:ln>
              <a:effectLst/>
            </c:spPr>
          </c:marker>
          <c:cat>
            <c:multiLvlStrRef>
              <c:f>Sheet1!$A$2:$A$61</c:f>
              <c:multiLvlStrCache>
                <c:ptCount val="60"/>
                <c:lvl>
                  <c:pt idx="0">
                    <c:v>0.56</c:v>
                  </c:pt>
                  <c:pt idx="1">
                    <c:v>0.59</c:v>
                  </c:pt>
                  <c:pt idx="2">
                    <c:v>0.61</c:v>
                  </c:pt>
                  <c:pt idx="3">
                    <c:v>0.64</c:v>
                  </c:pt>
                  <c:pt idx="4">
                    <c:v>0.67</c:v>
                  </c:pt>
                  <c:pt idx="5">
                    <c:v>0.69</c:v>
                  </c:pt>
                  <c:pt idx="6">
                    <c:v>0.72</c:v>
                  </c:pt>
                  <c:pt idx="7">
                    <c:v>0.75</c:v>
                  </c:pt>
                  <c:pt idx="8">
                    <c:v>0.77</c:v>
                  </c:pt>
                  <c:pt idx="9">
                    <c:v>0.80</c:v>
                  </c:pt>
                  <c:pt idx="10">
                    <c:v>0.82</c:v>
                  </c:pt>
                  <c:pt idx="11">
                    <c:v>0.85</c:v>
                  </c:pt>
                  <c:pt idx="12">
                    <c:v>0.88</c:v>
                  </c:pt>
                  <c:pt idx="13">
                    <c:v>0.90</c:v>
                  </c:pt>
                  <c:pt idx="14">
                    <c:v>0.93</c:v>
                  </c:pt>
                  <c:pt idx="15">
                    <c:v>0.96</c:v>
                  </c:pt>
                  <c:pt idx="16">
                    <c:v>0.98</c:v>
                  </c:pt>
                  <c:pt idx="17">
                    <c:v>1.01</c:v>
                  </c:pt>
                  <c:pt idx="18">
                    <c:v>1.04</c:v>
                  </c:pt>
                  <c:pt idx="19">
                    <c:v>1.06</c:v>
                  </c:pt>
                  <c:pt idx="20">
                    <c:v>1.09</c:v>
                  </c:pt>
                  <c:pt idx="21">
                    <c:v>1.12</c:v>
                  </c:pt>
                  <c:pt idx="22">
                    <c:v>1.14</c:v>
                  </c:pt>
                  <c:pt idx="23">
                    <c:v>1.17</c:v>
                  </c:pt>
                  <c:pt idx="24">
                    <c:v>1.20</c:v>
                  </c:pt>
                  <c:pt idx="25">
                    <c:v>1.22</c:v>
                  </c:pt>
                  <c:pt idx="26">
                    <c:v>1.25</c:v>
                  </c:pt>
                  <c:pt idx="27">
                    <c:v>1.28</c:v>
                  </c:pt>
                  <c:pt idx="28">
                    <c:v>1.30</c:v>
                  </c:pt>
                  <c:pt idx="29">
                    <c:v>1.33</c:v>
                  </c:pt>
                  <c:pt idx="30">
                    <c:v>1.36</c:v>
                  </c:pt>
                  <c:pt idx="31">
                    <c:v>1.38</c:v>
                  </c:pt>
                  <c:pt idx="32">
                    <c:v>1.41</c:v>
                  </c:pt>
                  <c:pt idx="33">
                    <c:v>1.44</c:v>
                  </c:pt>
                  <c:pt idx="34">
                    <c:v>1.46</c:v>
                  </c:pt>
                  <c:pt idx="35">
                    <c:v>1.49</c:v>
                  </c:pt>
                  <c:pt idx="36">
                    <c:v>1.52</c:v>
                  </c:pt>
                  <c:pt idx="37">
                    <c:v>1.54</c:v>
                  </c:pt>
                  <c:pt idx="38">
                    <c:v>1.57</c:v>
                  </c:pt>
                  <c:pt idx="39">
                    <c:v>1.60</c:v>
                  </c:pt>
                  <c:pt idx="40">
                    <c:v>1.62</c:v>
                  </c:pt>
                  <c:pt idx="41">
                    <c:v>1.65</c:v>
                  </c:pt>
                  <c:pt idx="42">
                    <c:v>1.68</c:v>
                  </c:pt>
                  <c:pt idx="43">
                    <c:v>1.70</c:v>
                  </c:pt>
                  <c:pt idx="44">
                    <c:v>1.73</c:v>
                  </c:pt>
                  <c:pt idx="45">
                    <c:v>1.76</c:v>
                  </c:pt>
                  <c:pt idx="46">
                    <c:v>1.78</c:v>
                  </c:pt>
                  <c:pt idx="47">
                    <c:v>1.81</c:v>
                  </c:pt>
                  <c:pt idx="48">
                    <c:v>1.84</c:v>
                  </c:pt>
                  <c:pt idx="49">
                    <c:v>1.86</c:v>
                  </c:pt>
                  <c:pt idx="50">
                    <c:v>1.89</c:v>
                  </c:pt>
                  <c:pt idx="51">
                    <c:v>1.92</c:v>
                  </c:pt>
                  <c:pt idx="52">
                    <c:v>1.94</c:v>
                  </c:pt>
                  <c:pt idx="53">
                    <c:v>1.97</c:v>
                  </c:pt>
                  <c:pt idx="54">
                    <c:v>2.00</c:v>
                  </c:pt>
                  <c:pt idx="55">
                    <c:v>2.02</c:v>
                  </c:pt>
                  <c:pt idx="56">
                    <c:v>2.05</c:v>
                  </c:pt>
                  <c:pt idx="57">
                    <c:v>2.08</c:v>
                  </c:pt>
                  <c:pt idx="58">
                    <c:v>2.10</c:v>
                  </c:pt>
                  <c:pt idx="59">
                    <c:v>2.13</c:v>
                  </c:pt>
                </c:lvl>
              </c:multiLvlStrCache>
            </c:multiLvlStrRef>
          </c:cat>
          <c:val>
            <c:numRef>
              <c:f>Sheet1!$H$2:$H$61</c:f>
              <c:numCache>
                <c:formatCode>General</c:formatCode>
                <c:ptCount val="6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0.1412</c:v>
                </c:pt>
                <c:pt idx="33">
                  <c:v>0.3253</c:v>
                </c:pt>
                <c:pt idx="34">
                  <c:v>0.5094</c:v>
                </c:pt>
                <c:pt idx="35">
                  <c:v>0.6935</c:v>
                </c:pt>
                <c:pt idx="36">
                  <c:v>0.8776</c:v>
                </c:pt>
                <c:pt idx="37">
                  <c:v>1</c:v>
                </c:pt>
                <c:pt idx="38">
                  <c:v>1</c:v>
                </c:pt>
                <c:pt idx="39">
                  <c:v>1</c:v>
                </c:pt>
                <c:pt idx="40">
                  <c:v>0.886</c:v>
                </c:pt>
                <c:pt idx="41">
                  <c:v>0.7019</c:v>
                </c:pt>
                <c:pt idx="42">
                  <c:v>0.5178</c:v>
                </c:pt>
                <c:pt idx="43">
                  <c:v>0.3337</c:v>
                </c:pt>
                <c:pt idx="44">
                  <c:v>0.1496</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numCache>
            </c:numRef>
          </c:val>
          <c:smooth val="0"/>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75B"/>
                </a:solidFill>
                <a:latin typeface="+mn-lt"/>
              </a:defRPr>
            </a:pPr>
            <a:endParaRPr lang="en-US"/>
          </a:p>
        </c:txPr>
        <c:crossAx val="2094734552"/>
        <c:crosses val="autoZero"/>
        <c:auto val="1"/>
        <c:lblAlgn val="ctr"/>
        <c:noMultiLvlLbl val="1"/>
        <c:tickLblSkip val="8"/>
      </c:catAx>
      <c:valAx>
        <c:axId val="2094734552"/>
        <c:scaling>
          <c:orientation val="minMax"/>
          <c:max val="1"/>
          <c:min val="0"/>
        </c:scaling>
        <c:delete val="0"/>
        <c:axPos val="l"/>
        <c:majorGridlines>
          <c:spPr>
            <a:ln w="9525" cap="flat">
              <a:solidFill>
                <a:srgbClr val="D5DE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475B"/>
                </a:solidFill>
                <a:latin typeface="+mn-lt"/>
              </a:defRPr>
            </a:pPr>
            <a:r>
              <a:rPr sz="1300" b="0" i="0" u="none" strike="noStrike">
                <a:solidFill>
                  <a:srgbClr val="33475B"/>
                </a:solidFill>
                <a:latin typeface="+mn-lt"/>
              </a:rPr>
              <a:t>Swarm convergence, 1 h (validation objective)</a:t>
            </a:r>
          </a:p>
        </c:rich>
      </c:tx>
      <c:layout/>
      <c:overlay val="0"/>
    </c:title>
    <c:autoTitleDeleted val="0"/>
    <c:plotArea>
      <c:layout/>
      <c:lineChart>
        <c:varyColors val="0"/>
        <c:ser>
          <c:idx val="0"/>
          <c:order val="0"/>
          <c:tx>
            <c:strRef>
              <c:f>Sheet1!$B$1</c:f>
              <c:strCache>
                <c:ptCount val="1"/>
                <c:pt idx="0">
                  <c:v>global best</c:v>
                </c:pt>
              </c:strCache>
            </c:strRef>
          </c:tx>
          <c:spPr>
            <a:solidFill>
              <a:srgbClr val="7B4FB0"/>
            </a:solidFill>
            <a:ln w="38100" cap="flat">
              <a:solidFill>
                <a:srgbClr val="7B4FB0"/>
              </a:solidFill>
              <a:prstDash val="solid"/>
              <a:round/>
            </a:ln>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circle"/>
            <c:size val="5"/>
            <c:spPr>
              <a:solidFill>
                <a:srgbClr val="7B4FB0"/>
              </a:solidFill>
              <a:ln w="9525" cap="flat">
                <a:solidFill>
                  <a:srgbClr val="7B4FB0"/>
                </a:solidFill>
                <a:prstDash val="solid"/>
                <a:round/>
              </a:ln>
              <a:effectLst/>
            </c:spPr>
          </c:marker>
          <c:cat>
            <c:multiLvlStrRef>
              <c:f>Sheet1!$A$2:$A$22</c:f>
              <c:multiLvlStrCache>
                <c:ptCount val="2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lvl>
              </c:multiLvlStrCache>
            </c:multiLvlStrRef>
          </c:cat>
          <c:val>
            <c:numRef>
              <c:f>Sheet1!$B$2:$B$22</c:f>
              <c:numCache>
                <c:formatCode>General</c:formatCode>
                <c:ptCount val="21"/>
                <c:pt idx="0">
                  <c:v>1.1454</c:v>
                </c:pt>
                <c:pt idx="1">
                  <c:v>1.1497</c:v>
                </c:pt>
                <c:pt idx="2">
                  <c:v>1.1511</c:v>
                </c:pt>
                <c:pt idx="3">
                  <c:v>1.1519</c:v>
                </c:pt>
                <c:pt idx="4">
                  <c:v>1.1519</c:v>
                </c:pt>
                <c:pt idx="5">
                  <c:v>1.1519</c:v>
                </c:pt>
                <c:pt idx="6">
                  <c:v>1.1519</c:v>
                </c:pt>
                <c:pt idx="7">
                  <c:v>1.1519</c:v>
                </c:pt>
                <c:pt idx="8">
                  <c:v>1.1534</c:v>
                </c:pt>
                <c:pt idx="9">
                  <c:v>1.1534</c:v>
                </c:pt>
                <c:pt idx="10">
                  <c:v>1.1559</c:v>
                </c:pt>
                <c:pt idx="11">
                  <c:v>1.1559</c:v>
                </c:pt>
                <c:pt idx="12">
                  <c:v>1.1559</c:v>
                </c:pt>
                <c:pt idx="13">
                  <c:v>1.1559</c:v>
                </c:pt>
                <c:pt idx="14">
                  <c:v>1.1559</c:v>
                </c:pt>
                <c:pt idx="15">
                  <c:v>1.1559</c:v>
                </c:pt>
                <c:pt idx="16">
                  <c:v>1.1559</c:v>
                </c:pt>
                <c:pt idx="17">
                  <c:v>1.1565</c:v>
                </c:pt>
                <c:pt idx="18">
                  <c:v>1.1565</c:v>
                </c:pt>
                <c:pt idx="19">
                  <c:v>1.1565</c:v>
                </c:pt>
                <c:pt idx="20">
                  <c:v>1.1567</c:v>
                </c:pt>
              </c:numCache>
            </c:numRef>
          </c:val>
          <c:smooth val="0"/>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B7C"/>
                    </a:solidFill>
                    <a:latin typeface="Arial"/>
                  </a:defRPr>
                </a:pPr>
                <a:r>
                  <a:rPr sz="1100" b="0" i="0" u="none" strike="noStrike">
                    <a:solidFill>
                      <a:srgbClr val="5B6B7C"/>
                    </a:solidFill>
                    <a:latin typeface="Arial"/>
                  </a:rPr>
                  <a:t>iteration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75B"/>
                </a:solidFill>
                <a:latin typeface="+mn-lt"/>
              </a:defRPr>
            </a:pPr>
            <a:endParaRPr lang="en-US"/>
          </a:p>
        </c:txPr>
        <c:crossAx val="2094734552"/>
        <c:crosses val="autoZero"/>
        <c:auto val="1"/>
        <c:lblAlgn val="ctr"/>
        <c:noMultiLvlLbl val="1"/>
        <c:tickLblSkip val="5"/>
      </c:catAx>
      <c:valAx>
        <c:axId val="2094734552"/>
        <c:scaling>
          <c:orientation val="minMax"/>
          <c:max val="1.16"/>
          <c:min val="1.14"/>
        </c:scaling>
        <c:delete val="0"/>
        <c:axPos val="l"/>
        <c:majorGridlines>
          <c:spPr>
            <a:ln w="9525" cap="flat">
              <a:solidFill>
                <a:srgbClr val="D5DEE7"/>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4"/>
        <c:crosses val="autoZero"/>
        <c:crossBetween val="between"/>
        <c:majorUnit val="0.00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475B"/>
                </a:solidFill>
                <a:latin typeface="+mn-lt"/>
              </a:defRPr>
            </a:pPr>
            <a:r>
              <a:rPr sz="1300" b="0" i="0" u="none" strike="noStrike">
                <a:solidFill>
                  <a:srgbClr val="33475B"/>
                </a:solidFill>
                <a:latin typeface="+mn-lt"/>
              </a:rPr>
              <a:t>Node 56: what training states on this node later became</a:t>
            </a:r>
          </a:p>
        </c:rich>
      </c:tx>
      <c:layout/>
      <c:overlay val="0"/>
    </c:title>
    <c:autoTitleDeleted val="0"/>
    <c:plotArea>
      <c:layout/>
      <c:barChart>
        <c:barDir val="col"/>
        <c:grouping val="clustered"/>
        <c:varyColors val="0"/>
        <c:ser>
          <c:idx val="0"/>
          <c:order val="0"/>
          <c:tx>
            <c:strRef>
              <c:f>Sheet1!$B$1</c:f>
              <c:strCache>
                <c:ptCount val="1"/>
                <c:pt idx="0">
                  <c:v>training states</c:v>
                </c:pt>
              </c:strCache>
            </c:strRef>
          </c:tx>
          <c:spPr>
            <a:solidFill>
              <a:srgbClr val="2E8B57"/>
            </a:solidFill>
            <a:effectLst/>
          </c:spPr>
          <c:invertIfNegative val="0"/>
          <c:dLbls>
            <c:numFmt formatCode="#,##0" sourceLinked="0"/>
            <c:txPr>
              <a:bodyPr/>
              <a:lstStyle/>
              <a:p>
                <a:pPr>
                  <a:defRPr b="0" i="0" strike="noStrike" sz="1100" u="none">
                    <a:solidFill>
                      <a:srgbClr val="33475B"/>
                    </a:solidFill>
                    <a:latin typeface="+mn-lt"/>
                  </a:defRPr>
                </a:pPr>
              </a:p>
            </c:txPr>
            <c:showLegendKey val="0"/>
            <c:showVal val="1"/>
            <c:showCatName val="0"/>
            <c:showSerName val="0"/>
            <c:showPercent val="0"/>
            <c:showBubbleSize val="0"/>
            <c:showLeaderLines val="0"/>
          </c:dLbls>
          <c:dPt>
            <c:idx val="0"/>
            <c:invertIfNegative val="0"/>
            <c:bubble3D val="0"/>
            <c:spPr>
              <a:solidFill>
                <a:srgbClr val="2E8B57"/>
              </a:solidFill>
              <a:effectLst/>
            </c:spPr>
          </c:dPt>
          <c:dPt>
            <c:idx val="1"/>
            <c:invertIfNegative val="0"/>
            <c:bubble3D val="0"/>
            <c:spPr>
              <a:solidFill>
                <a:srgbClr val="7F9A1C"/>
              </a:solidFill>
              <a:effectLst/>
            </c:spPr>
          </c:dPt>
          <c:dPt>
            <c:idx val="2"/>
            <c:invertIfNegative val="0"/>
            <c:bubble3D val="0"/>
            <c:spPr>
              <a:solidFill>
                <a:srgbClr val="C99206"/>
              </a:solidFill>
              <a:effectLst/>
            </c:spPr>
          </c:dPt>
          <c:dPt>
            <c:idx val="3"/>
            <c:invertIfNegative val="0"/>
            <c:bubble3D val="0"/>
            <c:spPr>
              <a:solidFill>
                <a:srgbClr val="DD6418"/>
              </a:solidFill>
              <a:effectLst/>
            </c:spPr>
          </c:dPt>
          <c:dPt>
            <c:idx val="4"/>
            <c:invertIfNegative val="0"/>
            <c:bubble3D val="0"/>
            <c:spPr>
              <a:solidFill>
                <a:srgbClr val="C62828"/>
              </a:solidFill>
              <a:effectLst/>
            </c:spPr>
          </c:dPt>
          <c:cat>
            <c:multiLvlStrRef>
              <c:f>Sheet1!$A$2:$A$6</c:f>
              <c:multiLvlStrCache>
                <c:ptCount val="5"/>
                <c:lvl>
                  <c:pt idx="0">
                    <c:v>Normal</c:v>
                  </c:pt>
                  <c:pt idx="1">
                    <c:v>Low</c:v>
                  </c:pt>
                  <c:pt idx="2">
                    <c:v>Moderate</c:v>
                  </c:pt>
                  <c:pt idx="3">
                    <c:v>High</c:v>
                  </c:pt>
                  <c:pt idx="4">
                    <c:v>Critical</c:v>
                  </c:pt>
                </c:lvl>
              </c:multiLvlStrCache>
            </c:multiLvlStrRef>
          </c:cat>
          <c:val>
            <c:numRef>
              <c:f>Sheet1!$B$2:$B$6</c:f>
              <c:numCache>
                <c:formatCode>General</c:formatCode>
                <c:ptCount val="5"/>
                <c:pt idx="0">
                  <c:v>1</c:v>
                </c:pt>
                <c:pt idx="1">
                  <c:v>2</c:v>
                </c:pt>
                <c:pt idx="2">
                  <c:v>7</c:v>
                </c:pt>
                <c:pt idx="3">
                  <c:v>15</c:v>
                </c:pt>
                <c:pt idx="4">
                  <c:v>73</c:v>
                </c:pt>
              </c:numCache>
            </c:numRef>
          </c:val>
        </c:ser>
        <c:dLbls>
          <c:numFmt formatCode="#,##0" sourceLinked="0"/>
          <c:txPr>
            <a:bodyPr/>
            <a:lstStyle/>
            <a:p>
              <a:pPr>
                <a:defRPr b="0" i="0" strike="noStrike" sz="1100" u="none">
                  <a:solidFill>
                    <a:srgbClr val="33475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75B"/>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9525" cap="flat">
              <a:solidFill>
                <a:srgbClr val="D5DE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475B"/>
                </a:solidFill>
                <a:latin typeface="+mn-lt"/>
              </a:defRPr>
            </a:pPr>
            <a:r>
              <a:rPr sz="1300" b="0" i="0" u="none" strike="noStrike">
                <a:solidFill>
                  <a:srgbClr val="33475B"/>
                </a:solidFill>
                <a:latin typeface="+mn-lt"/>
              </a:rPr>
              <a:t>Alert F1, 1 h ahead, Bengalas test period</a:t>
            </a:r>
          </a:p>
        </c:rich>
      </c:tx>
      <c:layout/>
      <c:overlay val="0"/>
    </c:title>
    <c:autoTitleDeleted val="0"/>
    <c:plotArea>
      <c:layout/>
      <c:barChart>
        <c:barDir val="col"/>
        <c:grouping val="clustered"/>
        <c:varyColors val="0"/>
        <c:ser>
          <c:idx val="0"/>
          <c:order val="0"/>
          <c:tx>
            <c:strRef>
              <c:f>Sheet1!$B$1</c:f>
              <c:strCache>
                <c:ptCount val="1"/>
                <c:pt idx="0">
                  <c:v>alert F1</c:v>
                </c:pt>
              </c:strCache>
            </c:strRef>
          </c:tx>
          <c:spPr>
            <a:solidFill>
              <a:srgbClr val="1D5FA8"/>
            </a:solidFill>
            <a:effectLst/>
          </c:spPr>
          <c:invertIfNegative val="0"/>
          <c:dLbls>
            <c:numFmt formatCode="0.000" sourceLinked="0"/>
            <c:txPr>
              <a:bodyPr/>
              <a:lstStyle/>
              <a:p>
                <a:pPr>
                  <a:defRPr b="0" i="0" strike="noStrike" sz="1100" u="none">
                    <a:solidFill>
                      <a:srgbClr val="33475B"/>
                    </a:solidFill>
                    <a:latin typeface="+mn-lt"/>
                  </a:defRPr>
                </a:pPr>
              </a:p>
            </c:txPr>
            <c:showLegendKey val="0"/>
            <c:showVal val="1"/>
            <c:showCatName val="0"/>
            <c:showSerName val="0"/>
            <c:showPercent val="0"/>
            <c:showBubbleSize val="0"/>
            <c:showLeaderLines val="0"/>
          </c:dLbls>
          <c:dPt>
            <c:idx val="0"/>
            <c:invertIfNegative val="0"/>
            <c:bubble3D val="0"/>
            <c:spPr>
              <a:solidFill>
                <a:srgbClr val="1D5FA8"/>
              </a:solidFill>
              <a:effectLst/>
            </c:spPr>
          </c:dPt>
          <c:dPt>
            <c:idx val="1"/>
            <c:invertIfNegative val="0"/>
            <c:bubble3D val="0"/>
            <c:spPr>
              <a:solidFill>
                <a:srgbClr val="7B4FB0"/>
              </a:solidFill>
              <a:effectLst/>
            </c:spPr>
          </c:dPt>
          <c:dPt>
            <c:idx val="2"/>
            <c:invertIfNegative val="0"/>
            <c:bubble3D val="0"/>
            <c:spPr>
              <a:solidFill>
                <a:srgbClr val="2F8F8A"/>
              </a:solidFill>
              <a:effectLst/>
            </c:spPr>
          </c:dPt>
          <c:dPt>
            <c:idx val="3"/>
            <c:invertIfNegative val="0"/>
            <c:bubble3D val="0"/>
            <c:spPr>
              <a:solidFill>
                <a:srgbClr val="C2571A"/>
              </a:solidFill>
              <a:effectLst/>
            </c:spPr>
          </c:dPt>
          <c:dPt>
            <c:idx val="4"/>
            <c:invertIfNegative val="0"/>
            <c:bubble3D val="0"/>
            <c:spPr>
              <a:solidFill>
                <a:srgbClr val="9AA7B8"/>
              </a:solidFill>
              <a:effectLst/>
            </c:spPr>
          </c:dPt>
          <c:cat>
            <c:multiLvlStrRef>
              <c:f>Sheet1!$A$2:$A$6</c:f>
              <c:multiLvlStrCache>
                <c:ptCount val="5"/>
                <c:lvl>
                  <c:pt idx="0">
                    <c:v>IT2FIS</c:v>
                  </c:pt>
                  <c:pt idx="1">
                    <c:v>PSO-IT2FIS</c:v>
                  </c:pt>
                  <c:pt idx="2">
                    <c:v>SOM</c:v>
                  </c:pt>
                  <c:pt idx="3">
                    <c:v>ANFIS</c:v>
                  </c:pt>
                  <c:pt idx="4">
                    <c:v>Threshold (ref.)</c:v>
                  </c:pt>
                </c:lvl>
              </c:multiLvlStrCache>
            </c:multiLvlStrRef>
          </c:cat>
          <c:val>
            <c:numRef>
              <c:f>Sheet1!$B$2:$B$6</c:f>
              <c:numCache>
                <c:formatCode>General</c:formatCode>
                <c:ptCount val="5"/>
                <c:pt idx="0">
                  <c:v>0.88722927557879</c:v>
                </c:pt>
                <c:pt idx="1">
                  <c:v>0.8943716268311488</c:v>
                </c:pt>
                <c:pt idx="2">
                  <c:v>0.7365823565700186</c:v>
                </c:pt>
                <c:pt idx="3">
                  <c:v>0.8667642752562226</c:v>
                </c:pt>
                <c:pt idx="4">
                  <c:v>0.8621477532368621</c:v>
                </c:pt>
              </c:numCache>
            </c:numRef>
          </c:val>
        </c:ser>
        <c:dLbls>
          <c:numFmt formatCode="0.000" sourceLinked="0"/>
          <c:txPr>
            <a:bodyPr/>
            <a:lstStyle/>
            <a:p>
              <a:pPr>
                <a:defRPr b="0" i="0" strike="noStrike" sz="1100" u="none">
                  <a:solidFill>
                    <a:srgbClr val="33475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75B"/>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5DEE7"/>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475B"/>
                </a:solidFill>
                <a:latin typeface="+mn-lt"/>
              </a:defRPr>
            </a:pPr>
            <a:r>
              <a:rPr sz="1300" b="0" i="0" u="none" strike="noStrike">
                <a:solidFill>
                  <a:srgbClr val="33475B"/>
                </a:solidFill>
                <a:latin typeface="+mn-lt"/>
              </a:rPr>
              <a:t>Alert F1 by horizon, clean test data, Bengalas</a:t>
            </a:r>
          </a:p>
        </c:rich>
      </c:tx>
      <c:layout/>
      <c:overlay val="0"/>
    </c:title>
    <c:autoTitleDeleted val="0"/>
    <c:plotArea>
      <c:layout/>
      <c:barChart>
        <c:barDir val="col"/>
        <c:grouping val="clustered"/>
        <c:varyColors val="0"/>
        <c:ser>
          <c:idx val="0"/>
          <c:order val="0"/>
          <c:tx>
            <c:strRef>
              <c:f>Sheet1!$B$1</c:f>
              <c:strCache>
                <c:ptCount val="1"/>
                <c:pt idx="0">
                  <c:v>IT2FIS</c:v>
                </c:pt>
              </c:strCache>
            </c:strRef>
          </c:tx>
          <c:spPr>
            <a:solidFill>
              <a:srgbClr val="1D5FA8"/>
            </a:solidFill>
            <a:effectLst/>
          </c:spPr>
          <c:invertIfNegative val="0"/>
          <c:dLbls>
            <c:numFmt formatCode="0.00" sourceLinked="0"/>
            <c:txPr>
              <a:bodyPr/>
              <a:lstStyle/>
              <a:p>
                <a:pPr>
                  <a:defRPr b="0" i="0" strike="noStrike" sz="1000" u="none">
                    <a:solidFill>
                      <a:srgbClr val="33475B"/>
                    </a:solidFill>
                    <a:latin typeface="+mn-lt"/>
                  </a:defRPr>
                </a:pPr>
              </a:p>
            </c:txPr>
            <c:showLegendKey val="0"/>
            <c:showVal val="1"/>
            <c:showCatName val="0"/>
            <c:showSerName val="0"/>
            <c:showPercent val="0"/>
            <c:showBubbleSize val="0"/>
            <c:showLeaderLines val="0"/>
          </c:dLbls>
          <c:cat>
            <c:multiLvlStrRef>
              <c:f>Sheet1!$A$2:$A$4</c:f>
              <c:multiLvlStrCache>
                <c:ptCount val="3"/>
                <c:lvl>
                  <c:pt idx="0">
                    <c:v>30 min</c:v>
                  </c:pt>
                  <c:pt idx="1">
                    <c:v>1 h</c:v>
                  </c:pt>
                  <c:pt idx="2">
                    <c:v>3 h</c:v>
                  </c:pt>
                </c:lvl>
              </c:multiLvlStrCache>
            </c:multiLvlStrRef>
          </c:cat>
          <c:val>
            <c:numRef>
              <c:f>Sheet1!$B$2:$B$4</c:f>
              <c:numCache>
                <c:formatCode>General</c:formatCode>
                <c:ptCount val="3"/>
                <c:pt idx="0">
                  <c:v>0.934593023255814</c:v>
                </c:pt>
                <c:pt idx="1">
                  <c:v>0.88722927557879</c:v>
                </c:pt>
                <c:pt idx="2">
                  <c:v>0.6635802469135802</c:v>
                </c:pt>
              </c:numCache>
            </c:numRef>
          </c:val>
        </c:ser>
        <c:ser>
          <c:idx val="1"/>
          <c:order val="1"/>
          <c:tx>
            <c:strRef>
              <c:f>Sheet1!$C$1</c:f>
              <c:strCache>
                <c:ptCount val="1"/>
                <c:pt idx="0">
                  <c:v>PSO-IT2FIS</c:v>
                </c:pt>
              </c:strCache>
            </c:strRef>
          </c:tx>
          <c:spPr>
            <a:solidFill>
              <a:srgbClr val="7B4FB0"/>
            </a:solidFill>
            <a:effectLst/>
          </c:spPr>
          <c:invertIfNegative val="0"/>
          <c:dLbls>
            <c:numFmt formatCode="0.00" sourceLinked="0"/>
            <c:txPr>
              <a:bodyPr/>
              <a:lstStyle/>
              <a:p>
                <a:pPr>
                  <a:defRPr b="0" i="0" strike="noStrike" sz="1000" u="none">
                    <a:solidFill>
                      <a:srgbClr val="33475B"/>
                    </a:solidFill>
                    <a:latin typeface="+mn-lt"/>
                  </a:defRPr>
                </a:pPr>
              </a:p>
            </c:txPr>
            <c:showLegendKey val="0"/>
            <c:showVal val="1"/>
            <c:showCatName val="0"/>
            <c:showSerName val="0"/>
            <c:showPercent val="0"/>
            <c:showBubbleSize val="0"/>
            <c:showLeaderLines val="0"/>
          </c:dLbls>
          <c:cat>
            <c:multiLvlStrRef>
              <c:f>Sheet1!$A$2:$A$4</c:f>
              <c:multiLvlStrCache>
                <c:ptCount val="3"/>
                <c:lvl>
                  <c:pt idx="0">
                    <c:v>30 min</c:v>
                  </c:pt>
                  <c:pt idx="1">
                    <c:v>1 h</c:v>
                  </c:pt>
                  <c:pt idx="2">
                    <c:v>3 h</c:v>
                  </c:pt>
                </c:lvl>
              </c:multiLvlStrCache>
            </c:multiLvlStrRef>
          </c:cat>
          <c:val>
            <c:numRef>
              <c:f>Sheet1!$C$2:$C$4</c:f>
              <c:numCache>
                <c:formatCode>General</c:formatCode>
                <c:ptCount val="3"/>
                <c:pt idx="0">
                  <c:v>0.9440353460972017</c:v>
                </c:pt>
                <c:pt idx="1">
                  <c:v>0.8943716268311488</c:v>
                </c:pt>
                <c:pt idx="2">
                  <c:v>0.6946308724832214</c:v>
                </c:pt>
              </c:numCache>
            </c:numRef>
          </c:val>
        </c:ser>
        <c:ser>
          <c:idx val="2"/>
          <c:order val="2"/>
          <c:tx>
            <c:strRef>
              <c:f>Sheet1!$D$1</c:f>
              <c:strCache>
                <c:ptCount val="1"/>
                <c:pt idx="0">
                  <c:v>SOM</c:v>
                </c:pt>
              </c:strCache>
            </c:strRef>
          </c:tx>
          <c:spPr>
            <a:solidFill>
              <a:srgbClr val="2F8F8A"/>
            </a:solidFill>
            <a:effectLst/>
          </c:spPr>
          <c:invertIfNegative val="0"/>
          <c:dLbls>
            <c:numFmt formatCode="0.00" sourceLinked="0"/>
            <c:txPr>
              <a:bodyPr/>
              <a:lstStyle/>
              <a:p>
                <a:pPr>
                  <a:defRPr b="0" i="0" strike="noStrike" sz="1000" u="none">
                    <a:solidFill>
                      <a:srgbClr val="33475B"/>
                    </a:solidFill>
                    <a:latin typeface="+mn-lt"/>
                  </a:defRPr>
                </a:pPr>
              </a:p>
            </c:txPr>
            <c:showLegendKey val="0"/>
            <c:showVal val="1"/>
            <c:showCatName val="0"/>
            <c:showSerName val="0"/>
            <c:showPercent val="0"/>
            <c:showBubbleSize val="0"/>
            <c:showLeaderLines val="0"/>
          </c:dLbls>
          <c:cat>
            <c:multiLvlStrRef>
              <c:f>Sheet1!$A$2:$A$4</c:f>
              <c:multiLvlStrCache>
                <c:ptCount val="3"/>
                <c:lvl>
                  <c:pt idx="0">
                    <c:v>30 min</c:v>
                  </c:pt>
                  <c:pt idx="1">
                    <c:v>1 h</c:v>
                  </c:pt>
                  <c:pt idx="2">
                    <c:v>3 h</c:v>
                  </c:pt>
                </c:lvl>
              </c:multiLvlStrCache>
            </c:multiLvlStrRef>
          </c:cat>
          <c:val>
            <c:numRef>
              <c:f>Sheet1!$D$2:$D$4</c:f>
              <c:numCache>
                <c:formatCode>General</c:formatCode>
                <c:ptCount val="3"/>
                <c:pt idx="0">
                  <c:v>0.7130528586839266</c:v>
                </c:pt>
                <c:pt idx="1">
                  <c:v>0.7365823565700186</c:v>
                </c:pt>
                <c:pt idx="2">
                  <c:v>0.5819774718397998</c:v>
                </c:pt>
              </c:numCache>
            </c:numRef>
          </c:val>
        </c:ser>
        <c:ser>
          <c:idx val="3"/>
          <c:order val="3"/>
          <c:tx>
            <c:strRef>
              <c:f>Sheet1!$E$1</c:f>
              <c:strCache>
                <c:ptCount val="1"/>
                <c:pt idx="0">
                  <c:v>ANFIS</c:v>
                </c:pt>
              </c:strCache>
            </c:strRef>
          </c:tx>
          <c:spPr>
            <a:solidFill>
              <a:srgbClr val="C2571A"/>
            </a:solidFill>
            <a:effectLst/>
          </c:spPr>
          <c:invertIfNegative val="0"/>
          <c:dLbls>
            <c:numFmt formatCode="0.00" sourceLinked="0"/>
            <c:txPr>
              <a:bodyPr/>
              <a:lstStyle/>
              <a:p>
                <a:pPr>
                  <a:defRPr b="0" i="0" strike="noStrike" sz="1000" u="none">
                    <a:solidFill>
                      <a:srgbClr val="33475B"/>
                    </a:solidFill>
                    <a:latin typeface="+mn-lt"/>
                  </a:defRPr>
                </a:pPr>
              </a:p>
            </c:txPr>
            <c:showLegendKey val="0"/>
            <c:showVal val="1"/>
            <c:showCatName val="0"/>
            <c:showSerName val="0"/>
            <c:showPercent val="0"/>
            <c:showBubbleSize val="0"/>
            <c:showLeaderLines val="0"/>
          </c:dLbls>
          <c:cat>
            <c:multiLvlStrRef>
              <c:f>Sheet1!$A$2:$A$4</c:f>
              <c:multiLvlStrCache>
                <c:ptCount val="3"/>
                <c:lvl>
                  <c:pt idx="0">
                    <c:v>30 min</c:v>
                  </c:pt>
                  <c:pt idx="1">
                    <c:v>1 h</c:v>
                  </c:pt>
                  <c:pt idx="2">
                    <c:v>3 h</c:v>
                  </c:pt>
                </c:lvl>
              </c:multiLvlStrCache>
            </c:multiLvlStrRef>
          </c:cat>
          <c:val>
            <c:numRef>
              <c:f>Sheet1!$E$2:$E$4</c:f>
              <c:numCache>
                <c:formatCode>General</c:formatCode>
                <c:ptCount val="3"/>
                <c:pt idx="0">
                  <c:v>0.9448934606906687</c:v>
                </c:pt>
                <c:pt idx="1">
                  <c:v>0.8667642752562226</c:v>
                </c:pt>
                <c:pt idx="2">
                  <c:v>0.6624113475177305</c:v>
                </c:pt>
              </c:numCache>
            </c:numRef>
          </c:val>
        </c:ser>
        <c:dLbls>
          <c:numFmt formatCode="0.00" sourceLinked="0"/>
          <c:txPr>
            <a:bodyPr/>
            <a:lstStyle/>
            <a:p>
              <a:pPr>
                <a:defRPr b="0" i="0" strike="noStrike" sz="1000" u="none">
                  <a:solidFill>
                    <a:srgbClr val="33475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75B"/>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5DEE7"/>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475B"/>
                </a:solidFill>
                <a:latin typeface="+mn-lt"/>
              </a:defRPr>
            </a:pPr>
            <a:r>
              <a:rPr sz="1300" b="0" i="0" u="none" strike="noStrike">
                <a:solidFill>
                  <a:srgbClr val="33475B"/>
                </a:solidFill>
                <a:latin typeface="+mn-lt"/>
              </a:rPr>
              <a:t>Test alert F1, Bengalas</a:t>
            </a:r>
          </a:p>
        </c:rich>
      </c:tx>
      <c:layout/>
      <c:overlay val="0"/>
    </c:title>
    <c:autoTitleDeleted val="0"/>
    <c:plotArea>
      <c:layout/>
      <c:barChart>
        <c:barDir val="col"/>
        <c:grouping val="clustered"/>
        <c:varyColors val="0"/>
        <c:ser>
          <c:idx val="0"/>
          <c:order val="0"/>
          <c:tx>
            <c:strRef>
              <c:f>Sheet1!$B$1</c:f>
              <c:strCache>
                <c:ptCount val="1"/>
                <c:pt idx="0">
                  <c:v>Untuned IT2FIS</c:v>
                </c:pt>
              </c:strCache>
            </c:strRef>
          </c:tx>
          <c:spPr>
            <a:solidFill>
              <a:srgbClr val="1D5FA8"/>
            </a:solidFill>
            <a:effectLst/>
          </c:spPr>
          <c:invertIfNegative val="0"/>
          <c:dLbls>
            <c:numFmt formatCode="0.000" sourceLinked="0"/>
            <c:txPr>
              <a:bodyPr/>
              <a:lstStyle/>
              <a:p>
                <a:pPr>
                  <a:defRPr b="0" i="0" strike="noStrike" sz="1100" u="none">
                    <a:solidFill>
                      <a:srgbClr val="33475B"/>
                    </a:solidFill>
                    <a:latin typeface="+mn-lt"/>
                  </a:defRPr>
                </a:pPr>
              </a:p>
            </c:txPr>
            <c:showLegendKey val="0"/>
            <c:showVal val="1"/>
            <c:showCatName val="0"/>
            <c:showSerName val="0"/>
            <c:showPercent val="0"/>
            <c:showBubbleSize val="0"/>
            <c:showLeaderLines val="0"/>
          </c:dLbls>
          <c:cat>
            <c:multiLvlStrRef>
              <c:f>Sheet1!$A$2:$A$4</c:f>
              <c:multiLvlStrCache>
                <c:ptCount val="3"/>
                <c:lvl>
                  <c:pt idx="0">
                    <c:v>30 min</c:v>
                  </c:pt>
                  <c:pt idx="1">
                    <c:v>1 h</c:v>
                  </c:pt>
                  <c:pt idx="2">
                    <c:v>3 h</c:v>
                  </c:pt>
                </c:lvl>
              </c:multiLvlStrCache>
            </c:multiLvlStrRef>
          </c:cat>
          <c:val>
            <c:numRef>
              <c:f>Sheet1!$B$2:$B$4</c:f>
              <c:numCache>
                <c:formatCode>General</c:formatCode>
                <c:ptCount val="3"/>
                <c:pt idx="0">
                  <c:v>0.934593023255814</c:v>
                </c:pt>
                <c:pt idx="1">
                  <c:v>0.88722927557879</c:v>
                </c:pt>
                <c:pt idx="2">
                  <c:v>0.6635802469135802</c:v>
                </c:pt>
              </c:numCache>
            </c:numRef>
          </c:val>
        </c:ser>
        <c:ser>
          <c:idx val="1"/>
          <c:order val="1"/>
          <c:tx>
            <c:strRef>
              <c:f>Sheet1!$C$1</c:f>
              <c:strCache>
                <c:ptCount val="1"/>
                <c:pt idx="0">
                  <c:v>PSO-tuned IT2FIS</c:v>
                </c:pt>
              </c:strCache>
            </c:strRef>
          </c:tx>
          <c:spPr>
            <a:solidFill>
              <a:srgbClr val="7B4FB0"/>
            </a:solidFill>
            <a:effectLst/>
          </c:spPr>
          <c:invertIfNegative val="0"/>
          <c:dLbls>
            <c:numFmt formatCode="0.000" sourceLinked="0"/>
            <c:txPr>
              <a:bodyPr/>
              <a:lstStyle/>
              <a:p>
                <a:pPr>
                  <a:defRPr b="0" i="0" strike="noStrike" sz="1100" u="none">
                    <a:solidFill>
                      <a:srgbClr val="33475B"/>
                    </a:solidFill>
                    <a:latin typeface="+mn-lt"/>
                  </a:defRPr>
                </a:pPr>
              </a:p>
            </c:txPr>
            <c:showLegendKey val="0"/>
            <c:showVal val="1"/>
            <c:showCatName val="0"/>
            <c:showSerName val="0"/>
            <c:showPercent val="0"/>
            <c:showBubbleSize val="0"/>
            <c:showLeaderLines val="0"/>
          </c:dLbls>
          <c:cat>
            <c:multiLvlStrRef>
              <c:f>Sheet1!$A$2:$A$4</c:f>
              <c:multiLvlStrCache>
                <c:ptCount val="3"/>
                <c:lvl>
                  <c:pt idx="0">
                    <c:v>30 min</c:v>
                  </c:pt>
                  <c:pt idx="1">
                    <c:v>1 h</c:v>
                  </c:pt>
                  <c:pt idx="2">
                    <c:v>3 h</c:v>
                  </c:pt>
                </c:lvl>
              </c:multiLvlStrCache>
            </c:multiLvlStrRef>
          </c:cat>
          <c:val>
            <c:numRef>
              <c:f>Sheet1!$C$2:$C$4</c:f>
              <c:numCache>
                <c:formatCode>General</c:formatCode>
                <c:ptCount val="3"/>
                <c:pt idx="0">
                  <c:v>0.9440353460972017</c:v>
                </c:pt>
                <c:pt idx="1">
                  <c:v>0.8943716268311488</c:v>
                </c:pt>
                <c:pt idx="2">
                  <c:v>0.6946308724832214</c:v>
                </c:pt>
              </c:numCache>
            </c:numRef>
          </c:val>
        </c:ser>
        <c:dLbls>
          <c:numFmt formatCode="0.000" sourceLinked="0"/>
          <c:txPr>
            <a:bodyPr/>
            <a:lstStyle/>
            <a:p>
              <a:pPr>
                <a:defRPr b="0" i="0" strike="noStrike" sz="1100" u="none">
                  <a:solidFill>
                    <a:srgbClr val="33475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75B"/>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5DEE7"/>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475B"/>
                </a:solidFill>
                <a:latin typeface="+mn-lt"/>
              </a:defRPr>
            </a:pPr>
            <a:r>
              <a:rPr sz="1300" b="0" i="0" u="none" strike="noStrike">
                <a:solidFill>
                  <a:srgbClr val="33475B"/>
                </a:solidFill>
                <a:latin typeface="+mn-lt"/>
              </a:rPr>
              <a:t>Mean alert F1 over 9 simulated faults, 1 h, Bengalas</a:t>
            </a:r>
          </a:p>
        </c:rich>
      </c:tx>
      <c:layout/>
      <c:overlay val="0"/>
    </c:title>
    <c:autoTitleDeleted val="0"/>
    <c:plotArea>
      <c:layout/>
      <c:barChart>
        <c:barDir val="col"/>
        <c:grouping val="clustered"/>
        <c:varyColors val="0"/>
        <c:ser>
          <c:idx val="0"/>
          <c:order val="0"/>
          <c:tx>
            <c:strRef>
              <c:f>Sheet1!$B$1</c:f>
              <c:strCache>
                <c:ptCount val="1"/>
                <c:pt idx="0">
                  <c:v>Reliability layer off</c:v>
                </c:pt>
              </c:strCache>
            </c:strRef>
          </c:tx>
          <c:spPr>
            <a:solidFill>
              <a:srgbClr val="9AA7B8"/>
            </a:solidFill>
            <a:effectLst/>
          </c:spPr>
          <c:invertIfNegative val="0"/>
          <c:dLbls>
            <c:numFmt formatCode="0.00" sourceLinked="0"/>
            <c:txPr>
              <a:bodyPr/>
              <a:lstStyle/>
              <a:p>
                <a:pPr>
                  <a:defRPr b="0" i="0" strike="noStrike" sz="1100" u="none">
                    <a:solidFill>
                      <a:srgbClr val="33475B"/>
                    </a:solidFill>
                    <a:latin typeface="+mn-lt"/>
                  </a:defRPr>
                </a:pPr>
              </a:p>
            </c:txPr>
            <c:showLegendKey val="0"/>
            <c:showVal val="1"/>
            <c:showCatName val="0"/>
            <c:showSerName val="0"/>
            <c:showPercent val="0"/>
            <c:showBubbleSize val="0"/>
            <c:showLeaderLines val="0"/>
          </c:dLbls>
          <c:cat>
            <c:multiLvlStrRef>
              <c:f>Sheet1!$A$2:$A$5</c:f>
              <c:multiLvlStrCache>
                <c:ptCount val="4"/>
                <c:lvl>
                  <c:pt idx="0">
                    <c:v>IT2FIS</c:v>
                  </c:pt>
                  <c:pt idx="1">
                    <c:v>PSO-IT2FIS</c:v>
                  </c:pt>
                  <c:pt idx="2">
                    <c:v>SOM</c:v>
                  </c:pt>
                  <c:pt idx="3">
                    <c:v>ANFIS</c:v>
                  </c:pt>
                </c:lvl>
              </c:multiLvlStrCache>
            </c:multiLvlStrRef>
          </c:cat>
          <c:val>
            <c:numRef>
              <c:f>Sheet1!$B$2:$B$5</c:f>
              <c:numCache>
                <c:formatCode>General</c:formatCode>
                <c:ptCount val="4"/>
                <c:pt idx="0">
                  <c:v>0.7935955384917011</c:v>
                </c:pt>
                <c:pt idx="1">
                  <c:v>0.7912518386204239</c:v>
                </c:pt>
                <c:pt idx="2">
                  <c:v>0.49652457539894357</c:v>
                </c:pt>
                <c:pt idx="3">
                  <c:v>0.6493644743299507</c:v>
                </c:pt>
              </c:numCache>
            </c:numRef>
          </c:val>
        </c:ser>
        <c:ser>
          <c:idx val="1"/>
          <c:order val="1"/>
          <c:tx>
            <c:strRef>
              <c:f>Sheet1!$C$1</c:f>
              <c:strCache>
                <c:ptCount val="1"/>
                <c:pt idx="0">
                  <c:v>Reliability layer on</c:v>
                </c:pt>
              </c:strCache>
            </c:strRef>
          </c:tx>
          <c:spPr>
            <a:solidFill>
              <a:srgbClr val="E07A1F"/>
            </a:solidFill>
            <a:effectLst/>
          </c:spPr>
          <c:invertIfNegative val="0"/>
          <c:dLbls>
            <c:numFmt formatCode="0.00" sourceLinked="0"/>
            <c:txPr>
              <a:bodyPr/>
              <a:lstStyle/>
              <a:p>
                <a:pPr>
                  <a:defRPr b="0" i="0" strike="noStrike" sz="1100" u="none">
                    <a:solidFill>
                      <a:srgbClr val="33475B"/>
                    </a:solidFill>
                    <a:latin typeface="+mn-lt"/>
                  </a:defRPr>
                </a:pPr>
              </a:p>
            </c:txPr>
            <c:showLegendKey val="0"/>
            <c:showVal val="1"/>
            <c:showCatName val="0"/>
            <c:showSerName val="0"/>
            <c:showPercent val="0"/>
            <c:showBubbleSize val="0"/>
            <c:showLeaderLines val="0"/>
          </c:dLbls>
          <c:cat>
            <c:multiLvlStrRef>
              <c:f>Sheet1!$A$2:$A$5</c:f>
              <c:multiLvlStrCache>
                <c:ptCount val="4"/>
                <c:lvl>
                  <c:pt idx="0">
                    <c:v>IT2FIS</c:v>
                  </c:pt>
                  <c:pt idx="1">
                    <c:v>PSO-IT2FIS</c:v>
                  </c:pt>
                  <c:pt idx="2">
                    <c:v>SOM</c:v>
                  </c:pt>
                  <c:pt idx="3">
                    <c:v>ANFIS</c:v>
                  </c:pt>
                </c:lvl>
              </c:multiLvlStrCache>
            </c:multiLvlStrRef>
          </c:cat>
          <c:val>
            <c:numRef>
              <c:f>Sheet1!$C$2:$C$5</c:f>
              <c:numCache>
                <c:formatCode>General</c:formatCode>
                <c:ptCount val="4"/>
                <c:pt idx="0">
                  <c:v>0.7985771814653747</c:v>
                </c:pt>
                <c:pt idx="1">
                  <c:v>0.7976678475225575</c:v>
                </c:pt>
                <c:pt idx="2">
                  <c:v>0.5189656699609859</c:v>
                </c:pt>
                <c:pt idx="3">
                  <c:v>0.6927319686435112</c:v>
                </c:pt>
              </c:numCache>
            </c:numRef>
          </c:val>
        </c:ser>
        <c:dLbls>
          <c:numFmt formatCode="0.00" sourceLinked="0"/>
          <c:txPr>
            <a:bodyPr/>
            <a:lstStyle/>
            <a:p>
              <a:pPr>
                <a:defRPr b="0" i="0" strike="noStrike" sz="1100" u="none">
                  <a:solidFill>
                    <a:srgbClr val="33475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75B"/>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5DEE7"/>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475B"/>
                </a:solidFill>
                <a:latin typeface="+mn-lt"/>
              </a:defRPr>
            </a:pPr>
            <a:r>
              <a:rPr sz="1300" b="0" i="0" u="none" strike="noStrike">
                <a:solidFill>
                  <a:srgbClr val="33475B"/>
                </a:solidFill>
                <a:latin typeface="+mn-lt"/>
              </a:rPr>
              <a:t>Bengalas water level around the alert (alert issued 20:30)</a:t>
            </a:r>
          </a:p>
        </c:rich>
      </c:tx>
      <c:layout/>
      <c:overlay val="0"/>
    </c:title>
    <c:autoTitleDeleted val="0"/>
    <c:plotArea>
      <c:layout/>
      <c:lineChart>
        <c:varyColors val="0"/>
        <c:ser>
          <c:idx val="0"/>
          <c:order val="0"/>
          <c:tx>
            <c:strRef>
              <c:f>Sheet1!$B$1</c:f>
              <c:strCache>
                <c:ptCount val="1"/>
                <c:pt idx="0">
                  <c:v>recorded level (m)</c:v>
                </c:pt>
              </c:strCache>
            </c:strRef>
          </c:tx>
          <c:spPr>
            <a:solidFill>
              <a:srgbClr val="1B4965"/>
            </a:solidFill>
            <a:ln w="25400" cap="flat">
              <a:solidFill>
                <a:srgbClr val="1B4965"/>
              </a:solidFill>
              <a:prstDash val="solid"/>
              <a:round/>
            </a:ln>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1B4965"/>
              </a:solidFill>
              <a:ln w="9525" cap="flat">
                <a:solidFill>
                  <a:srgbClr val="1B4965"/>
                </a:solidFill>
                <a:prstDash val="solid"/>
                <a:round/>
              </a:ln>
              <a:effectLst/>
            </c:spPr>
          </c:marker>
          <c:cat>
            <c:multiLvlStrRef>
              <c:f>Sheet1!$A$2:$A$49</c:f>
              <c:multiLvlStrCache>
                <c:ptCount val="48"/>
                <c:lvl>
                  <c:pt idx="0">
                    <c:v>05:30</c:v>
                  </c:pt>
                  <c:pt idx="1">
                    <c:v>06:00</c:v>
                  </c:pt>
                  <c:pt idx="2">
                    <c:v>06:30</c:v>
                  </c:pt>
                  <c:pt idx="3">
                    <c:v>07:00</c:v>
                  </c:pt>
                  <c:pt idx="4">
                    <c:v>07:30</c:v>
                  </c:pt>
                  <c:pt idx="5">
                    <c:v>08:00</c:v>
                  </c:pt>
                  <c:pt idx="6">
                    <c:v>08:30</c:v>
                  </c:pt>
                  <c:pt idx="7">
                    <c:v>09:00</c:v>
                  </c:pt>
                  <c:pt idx="8">
                    <c:v>09:30</c:v>
                  </c:pt>
                  <c:pt idx="9">
                    <c:v>10:00</c:v>
                  </c:pt>
                  <c:pt idx="10">
                    <c:v>10:30</c:v>
                  </c:pt>
                  <c:pt idx="11">
                    <c:v>11:00</c:v>
                  </c:pt>
                  <c:pt idx="12">
                    <c:v>11:30</c:v>
                  </c:pt>
                  <c:pt idx="13">
                    <c:v>12:00</c:v>
                  </c:pt>
                  <c:pt idx="14">
                    <c:v>12:30</c:v>
                  </c:pt>
                  <c:pt idx="15">
                    <c:v>13:00</c:v>
                  </c:pt>
                  <c:pt idx="16">
                    <c:v>13:30</c:v>
                  </c:pt>
                  <c:pt idx="17">
                    <c:v>14:00</c:v>
                  </c:pt>
                  <c:pt idx="18">
                    <c:v>14:30</c:v>
                  </c:pt>
                  <c:pt idx="19">
                    <c:v>15:00</c:v>
                  </c:pt>
                  <c:pt idx="20">
                    <c:v>15:30</c:v>
                  </c:pt>
                  <c:pt idx="21">
                    <c:v>16:00</c:v>
                  </c:pt>
                  <c:pt idx="22">
                    <c:v>16:30</c:v>
                  </c:pt>
                  <c:pt idx="23">
                    <c:v>17:00</c:v>
                  </c:pt>
                  <c:pt idx="24">
                    <c:v>17:30</c:v>
                  </c:pt>
                  <c:pt idx="25">
                    <c:v>18:00</c:v>
                  </c:pt>
                  <c:pt idx="26">
                    <c:v>18:30</c:v>
                  </c:pt>
                  <c:pt idx="27">
                    <c:v>19:00</c:v>
                  </c:pt>
                  <c:pt idx="28">
                    <c:v>19:30</c:v>
                  </c:pt>
                  <c:pt idx="29">
                    <c:v>20:00</c:v>
                  </c:pt>
                  <c:pt idx="30">
                    <c:v>20:30</c:v>
                  </c:pt>
                  <c:pt idx="31">
                    <c:v>21:00</c:v>
                  </c:pt>
                  <c:pt idx="32">
                    <c:v>21:30</c:v>
                  </c:pt>
                  <c:pt idx="33">
                    <c:v>22:00</c:v>
                  </c:pt>
                  <c:pt idx="34">
                    <c:v>22:30</c:v>
                  </c:pt>
                  <c:pt idx="35">
                    <c:v>23:00</c:v>
                  </c:pt>
                  <c:pt idx="36">
                    <c:v>23:30</c:v>
                  </c:pt>
                  <c:pt idx="37">
                    <c:v>00:00</c:v>
                  </c:pt>
                  <c:pt idx="38">
                    <c:v>00:30</c:v>
                  </c:pt>
                  <c:pt idx="39">
                    <c:v>01:00</c:v>
                  </c:pt>
                  <c:pt idx="40">
                    <c:v>01:30</c:v>
                  </c:pt>
                  <c:pt idx="41">
                    <c:v>02:00</c:v>
                  </c:pt>
                  <c:pt idx="42">
                    <c:v>02:30</c:v>
                  </c:pt>
                  <c:pt idx="43">
                    <c:v>03:00</c:v>
                  </c:pt>
                  <c:pt idx="44">
                    <c:v>03:30</c:v>
                  </c:pt>
                  <c:pt idx="45">
                    <c:v>04:00</c:v>
                  </c:pt>
                  <c:pt idx="46">
                    <c:v>04:30</c:v>
                  </c:pt>
                  <c:pt idx="47">
                    <c:v>05:00</c:v>
                  </c:pt>
                </c:lvl>
              </c:multiLvlStrCache>
            </c:multiLvlStrRef>
          </c:cat>
          <c:val>
            <c:numRef>
              <c:f>Sheet1!$B$2:$B$49</c:f>
              <c:numCache>
                <c:formatCode>General</c:formatCode>
                <c:ptCount val="48"/>
                <c:pt idx="0">
                  <c:v>1.28</c:v>
                </c:pt>
                <c:pt idx="1">
                  <c:v>1.29</c:v>
                </c:pt>
                <c:pt idx="2">
                  <c:v>1.28</c:v>
                </c:pt>
                <c:pt idx="3">
                  <c:v>1.28</c:v>
                </c:pt>
                <c:pt idx="4">
                  <c:v>1.29</c:v>
                </c:pt>
                <c:pt idx="5">
                  <c:v>1.29</c:v>
                </c:pt>
                <c:pt idx="6">
                  <c:v>1.3</c:v>
                </c:pt>
                <c:pt idx="7">
                  <c:v>1.3</c:v>
                </c:pt>
                <c:pt idx="8">
                  <c:v>1.3</c:v>
                </c:pt>
                <c:pt idx="9">
                  <c:v>1.31</c:v>
                </c:pt>
                <c:pt idx="10">
                  <c:v>1.32</c:v>
                </c:pt>
                <c:pt idx="11">
                  <c:v>1.31</c:v>
                </c:pt>
                <c:pt idx="12">
                  <c:v>1.3</c:v>
                </c:pt>
                <c:pt idx="13">
                  <c:v>1.29</c:v>
                </c:pt>
                <c:pt idx="14">
                  <c:v>1.28</c:v>
                </c:pt>
                <c:pt idx="15">
                  <c:v>1.26</c:v>
                </c:pt>
                <c:pt idx="16">
                  <c:v>1.27</c:v>
                </c:pt>
                <c:pt idx="17">
                  <c:v>1.25</c:v>
                </c:pt>
                <c:pt idx="18">
                  <c:v>1.24</c:v>
                </c:pt>
                <c:pt idx="19">
                  <c:v>1.23</c:v>
                </c:pt>
                <c:pt idx="20">
                  <c:v>1.23</c:v>
                </c:pt>
                <c:pt idx="21">
                  <c:v>1.22</c:v>
                </c:pt>
                <c:pt idx="22">
                  <c:v>1.22</c:v>
                </c:pt>
                <c:pt idx="23">
                  <c:v>1.2</c:v>
                </c:pt>
                <c:pt idx="24">
                  <c:v>1.2</c:v>
                </c:pt>
                <c:pt idx="25">
                  <c:v>1.18</c:v>
                </c:pt>
                <c:pt idx="26">
                  <c:v>1.17</c:v>
                </c:pt>
                <c:pt idx="27">
                  <c:v>1.16</c:v>
                </c:pt>
                <c:pt idx="28">
                  <c:v>1.16</c:v>
                </c:pt>
                <c:pt idx="29">
                  <c:v>1.17</c:v>
                </c:pt>
                <c:pt idx="30">
                  <c:v>1.4</c:v>
                </c:pt>
                <c:pt idx="31">
                  <c:v>1.88</c:v>
                </c:pt>
                <c:pt idx="32">
                  <c:v>2.44</c:v>
                </c:pt>
                <c:pt idx="33">
                  <c:v>2.6</c:v>
                </c:pt>
                <c:pt idx="34">
                  <c:v>2.77</c:v>
                </c:pt>
                <c:pt idx="35">
                  <c:v>2.84</c:v>
                </c:pt>
                <c:pt idx="36">
                  <c:v>2.95</c:v>
                </c:pt>
                <c:pt idx="37">
                  <c:v>2.96</c:v>
                </c:pt>
                <c:pt idx="38">
                  <c:v>2.87</c:v>
                </c:pt>
                <c:pt idx="39">
                  <c:v>2.76</c:v>
                </c:pt>
                <c:pt idx="40">
                  <c:v>2.64</c:v>
                </c:pt>
                <c:pt idx="41">
                  <c:v>2.52</c:v>
                </c:pt>
                <c:pt idx="42">
                  <c:v>2.42</c:v>
                </c:pt>
                <c:pt idx="43">
                  <c:v>2.3</c:v>
                </c:pt>
                <c:pt idx="44">
                  <c:v>2.21</c:v>
                </c:pt>
                <c:pt idx="45">
                  <c:v>2.08</c:v>
                </c:pt>
                <c:pt idx="46">
                  <c:v>1.99</c:v>
                </c:pt>
                <c:pt idx="47">
                  <c:v>1.91</c:v>
                </c:pt>
              </c:numCache>
            </c:numRef>
          </c:val>
          <c:smooth val="0"/>
        </c:ser>
        <c:ser>
          <c:idx val="1"/>
          <c:order val="1"/>
          <c:tx>
            <c:strRef>
              <c:f>Sheet1!$C$1</c:f>
              <c:strCache>
                <c:ptCount val="1"/>
                <c:pt idx="0">
                  <c:v>High threshold</c:v>
                </c:pt>
              </c:strCache>
            </c:strRef>
          </c:tx>
          <c:spPr>
            <a:solidFill>
              <a:srgbClr val="DD6418"/>
            </a:solidFill>
            <a:ln w="25400" cap="flat">
              <a:solidFill>
                <a:srgbClr val="DD6418"/>
              </a:solidFill>
              <a:prstDash val="solid"/>
              <a:round/>
            </a:ln>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DD6418"/>
              </a:solidFill>
              <a:ln w="9525" cap="flat">
                <a:solidFill>
                  <a:srgbClr val="DD6418"/>
                </a:solidFill>
                <a:prstDash val="solid"/>
                <a:round/>
              </a:ln>
              <a:effectLst/>
            </c:spPr>
          </c:marker>
          <c:cat>
            <c:multiLvlStrRef>
              <c:f>Sheet1!$A$2:$A$49</c:f>
              <c:multiLvlStrCache>
                <c:ptCount val="48"/>
                <c:lvl>
                  <c:pt idx="0">
                    <c:v>05:30</c:v>
                  </c:pt>
                  <c:pt idx="1">
                    <c:v>06:00</c:v>
                  </c:pt>
                  <c:pt idx="2">
                    <c:v>06:30</c:v>
                  </c:pt>
                  <c:pt idx="3">
                    <c:v>07:00</c:v>
                  </c:pt>
                  <c:pt idx="4">
                    <c:v>07:30</c:v>
                  </c:pt>
                  <c:pt idx="5">
                    <c:v>08:00</c:v>
                  </c:pt>
                  <c:pt idx="6">
                    <c:v>08:30</c:v>
                  </c:pt>
                  <c:pt idx="7">
                    <c:v>09:00</c:v>
                  </c:pt>
                  <c:pt idx="8">
                    <c:v>09:30</c:v>
                  </c:pt>
                  <c:pt idx="9">
                    <c:v>10:00</c:v>
                  </c:pt>
                  <c:pt idx="10">
                    <c:v>10:30</c:v>
                  </c:pt>
                  <c:pt idx="11">
                    <c:v>11:00</c:v>
                  </c:pt>
                  <c:pt idx="12">
                    <c:v>11:30</c:v>
                  </c:pt>
                  <c:pt idx="13">
                    <c:v>12:00</c:v>
                  </c:pt>
                  <c:pt idx="14">
                    <c:v>12:30</c:v>
                  </c:pt>
                  <c:pt idx="15">
                    <c:v>13:00</c:v>
                  </c:pt>
                  <c:pt idx="16">
                    <c:v>13:30</c:v>
                  </c:pt>
                  <c:pt idx="17">
                    <c:v>14:00</c:v>
                  </c:pt>
                  <c:pt idx="18">
                    <c:v>14:30</c:v>
                  </c:pt>
                  <c:pt idx="19">
                    <c:v>15:00</c:v>
                  </c:pt>
                  <c:pt idx="20">
                    <c:v>15:30</c:v>
                  </c:pt>
                  <c:pt idx="21">
                    <c:v>16:00</c:v>
                  </c:pt>
                  <c:pt idx="22">
                    <c:v>16:30</c:v>
                  </c:pt>
                  <c:pt idx="23">
                    <c:v>17:00</c:v>
                  </c:pt>
                  <c:pt idx="24">
                    <c:v>17:30</c:v>
                  </c:pt>
                  <c:pt idx="25">
                    <c:v>18:00</c:v>
                  </c:pt>
                  <c:pt idx="26">
                    <c:v>18:30</c:v>
                  </c:pt>
                  <c:pt idx="27">
                    <c:v>19:00</c:v>
                  </c:pt>
                  <c:pt idx="28">
                    <c:v>19:30</c:v>
                  </c:pt>
                  <c:pt idx="29">
                    <c:v>20:00</c:v>
                  </c:pt>
                  <c:pt idx="30">
                    <c:v>20:30</c:v>
                  </c:pt>
                  <c:pt idx="31">
                    <c:v>21:00</c:v>
                  </c:pt>
                  <c:pt idx="32">
                    <c:v>21:30</c:v>
                  </c:pt>
                  <c:pt idx="33">
                    <c:v>22:00</c:v>
                  </c:pt>
                  <c:pt idx="34">
                    <c:v>22:30</c:v>
                  </c:pt>
                  <c:pt idx="35">
                    <c:v>23:00</c:v>
                  </c:pt>
                  <c:pt idx="36">
                    <c:v>23:30</c:v>
                  </c:pt>
                  <c:pt idx="37">
                    <c:v>00:00</c:v>
                  </c:pt>
                  <c:pt idx="38">
                    <c:v>00:30</c:v>
                  </c:pt>
                  <c:pt idx="39">
                    <c:v>01:00</c:v>
                  </c:pt>
                  <c:pt idx="40">
                    <c:v>01:30</c:v>
                  </c:pt>
                  <c:pt idx="41">
                    <c:v>02:00</c:v>
                  </c:pt>
                  <c:pt idx="42">
                    <c:v>02:30</c:v>
                  </c:pt>
                  <c:pt idx="43">
                    <c:v>03:00</c:v>
                  </c:pt>
                  <c:pt idx="44">
                    <c:v>03:30</c:v>
                  </c:pt>
                  <c:pt idx="45">
                    <c:v>04:00</c:v>
                  </c:pt>
                  <c:pt idx="46">
                    <c:v>04:30</c:v>
                  </c:pt>
                  <c:pt idx="47">
                    <c:v>05:00</c:v>
                  </c:pt>
                </c:lvl>
              </c:multiLvlStrCache>
            </c:multiLvlStrRef>
          </c:cat>
          <c:val>
            <c:numRef>
              <c:f>Sheet1!$C$2:$C$49</c:f>
              <c:numCache>
                <c:formatCode>General</c:formatCode>
                <c:ptCount val="48"/>
                <c:pt idx="0">
                  <c:v>1.4267663880621686</c:v>
                </c:pt>
                <c:pt idx="1">
                  <c:v>1.4267663880621686</c:v>
                </c:pt>
                <c:pt idx="2">
                  <c:v>1.4267663880621686</c:v>
                </c:pt>
                <c:pt idx="3">
                  <c:v>1.4267663880621686</c:v>
                </c:pt>
                <c:pt idx="4">
                  <c:v>1.4267663880621686</c:v>
                </c:pt>
                <c:pt idx="5">
                  <c:v>1.4267663880621686</c:v>
                </c:pt>
                <c:pt idx="6">
                  <c:v>1.4267663880621686</c:v>
                </c:pt>
                <c:pt idx="7">
                  <c:v>1.4267663880621686</c:v>
                </c:pt>
                <c:pt idx="8">
                  <c:v>1.4267663880621686</c:v>
                </c:pt>
                <c:pt idx="9">
                  <c:v>1.4267663880621686</c:v>
                </c:pt>
                <c:pt idx="10">
                  <c:v>1.4267663880621686</c:v>
                </c:pt>
                <c:pt idx="11">
                  <c:v>1.4267663880621686</c:v>
                </c:pt>
                <c:pt idx="12">
                  <c:v>1.4267663880621686</c:v>
                </c:pt>
                <c:pt idx="13">
                  <c:v>1.4267663880621686</c:v>
                </c:pt>
                <c:pt idx="14">
                  <c:v>1.4267663880621686</c:v>
                </c:pt>
                <c:pt idx="15">
                  <c:v>1.4267663880621686</c:v>
                </c:pt>
                <c:pt idx="16">
                  <c:v>1.4267663880621686</c:v>
                </c:pt>
                <c:pt idx="17">
                  <c:v>1.4267663880621686</c:v>
                </c:pt>
                <c:pt idx="18">
                  <c:v>1.4267663880621686</c:v>
                </c:pt>
                <c:pt idx="19">
                  <c:v>1.4267663880621686</c:v>
                </c:pt>
                <c:pt idx="20">
                  <c:v>1.4267663880621686</c:v>
                </c:pt>
                <c:pt idx="21">
                  <c:v>1.4267663880621686</c:v>
                </c:pt>
                <c:pt idx="22">
                  <c:v>1.4267663880621686</c:v>
                </c:pt>
                <c:pt idx="23">
                  <c:v>1.4267663880621686</c:v>
                </c:pt>
                <c:pt idx="24">
                  <c:v>1.4267663880621686</c:v>
                </c:pt>
                <c:pt idx="25">
                  <c:v>1.4267663880621686</c:v>
                </c:pt>
                <c:pt idx="26">
                  <c:v>1.4267663880621686</c:v>
                </c:pt>
                <c:pt idx="27">
                  <c:v>1.4267663880621686</c:v>
                </c:pt>
                <c:pt idx="28">
                  <c:v>1.4267663880621686</c:v>
                </c:pt>
                <c:pt idx="29">
                  <c:v>1.4267663880621686</c:v>
                </c:pt>
                <c:pt idx="30">
                  <c:v>1.4267663880621686</c:v>
                </c:pt>
                <c:pt idx="31">
                  <c:v>1.4267663880621686</c:v>
                </c:pt>
                <c:pt idx="32">
                  <c:v>1.4267663880621686</c:v>
                </c:pt>
                <c:pt idx="33">
                  <c:v>1.4267663880621686</c:v>
                </c:pt>
                <c:pt idx="34">
                  <c:v>1.4267663880621686</c:v>
                </c:pt>
                <c:pt idx="35">
                  <c:v>1.4267663880621686</c:v>
                </c:pt>
                <c:pt idx="36">
                  <c:v>1.4267663880621686</c:v>
                </c:pt>
                <c:pt idx="37">
                  <c:v>1.4267663880621686</c:v>
                </c:pt>
                <c:pt idx="38">
                  <c:v>1.4267663880621686</c:v>
                </c:pt>
                <c:pt idx="39">
                  <c:v>1.4267663880621686</c:v>
                </c:pt>
                <c:pt idx="40">
                  <c:v>1.4267663880621686</c:v>
                </c:pt>
                <c:pt idx="41">
                  <c:v>1.4267663880621686</c:v>
                </c:pt>
                <c:pt idx="42">
                  <c:v>1.4267663880621686</c:v>
                </c:pt>
                <c:pt idx="43">
                  <c:v>1.4267663880621686</c:v>
                </c:pt>
                <c:pt idx="44">
                  <c:v>1.4267663880621686</c:v>
                </c:pt>
                <c:pt idx="45">
                  <c:v>1.4267663880621686</c:v>
                </c:pt>
                <c:pt idx="46">
                  <c:v>1.4267663880621686</c:v>
                </c:pt>
                <c:pt idx="47">
                  <c:v>1.4267663880621686</c:v>
                </c:pt>
              </c:numCache>
            </c:numRef>
          </c:val>
          <c:smooth val="0"/>
        </c:ser>
        <c:ser>
          <c:idx val="2"/>
          <c:order val="2"/>
          <c:tx>
            <c:strRef>
              <c:f>Sheet1!$D$1</c:f>
              <c:strCache>
                <c:ptCount val="1"/>
                <c:pt idx="0">
                  <c:v>Critical threshold</c:v>
                </c:pt>
              </c:strCache>
            </c:strRef>
          </c:tx>
          <c:spPr>
            <a:solidFill>
              <a:srgbClr val="C62828"/>
            </a:solidFill>
            <a:ln w="25400" cap="flat">
              <a:solidFill>
                <a:srgbClr val="C62828"/>
              </a:solidFill>
              <a:prstDash val="solid"/>
              <a:round/>
            </a:ln>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C62828"/>
              </a:solidFill>
              <a:ln w="9525" cap="flat">
                <a:solidFill>
                  <a:srgbClr val="C62828"/>
                </a:solidFill>
                <a:prstDash val="solid"/>
                <a:round/>
              </a:ln>
              <a:effectLst/>
            </c:spPr>
          </c:marker>
          <c:cat>
            <c:multiLvlStrRef>
              <c:f>Sheet1!$A$2:$A$49</c:f>
              <c:multiLvlStrCache>
                <c:ptCount val="48"/>
                <c:lvl>
                  <c:pt idx="0">
                    <c:v>05:30</c:v>
                  </c:pt>
                  <c:pt idx="1">
                    <c:v>06:00</c:v>
                  </c:pt>
                  <c:pt idx="2">
                    <c:v>06:30</c:v>
                  </c:pt>
                  <c:pt idx="3">
                    <c:v>07:00</c:v>
                  </c:pt>
                  <c:pt idx="4">
                    <c:v>07:30</c:v>
                  </c:pt>
                  <c:pt idx="5">
                    <c:v>08:00</c:v>
                  </c:pt>
                  <c:pt idx="6">
                    <c:v>08:30</c:v>
                  </c:pt>
                  <c:pt idx="7">
                    <c:v>09:00</c:v>
                  </c:pt>
                  <c:pt idx="8">
                    <c:v>09:30</c:v>
                  </c:pt>
                  <c:pt idx="9">
                    <c:v>10:00</c:v>
                  </c:pt>
                  <c:pt idx="10">
                    <c:v>10:30</c:v>
                  </c:pt>
                  <c:pt idx="11">
                    <c:v>11:00</c:v>
                  </c:pt>
                  <c:pt idx="12">
                    <c:v>11:30</c:v>
                  </c:pt>
                  <c:pt idx="13">
                    <c:v>12:00</c:v>
                  </c:pt>
                  <c:pt idx="14">
                    <c:v>12:30</c:v>
                  </c:pt>
                  <c:pt idx="15">
                    <c:v>13:00</c:v>
                  </c:pt>
                  <c:pt idx="16">
                    <c:v>13:30</c:v>
                  </c:pt>
                  <c:pt idx="17">
                    <c:v>14:00</c:v>
                  </c:pt>
                  <c:pt idx="18">
                    <c:v>14:30</c:v>
                  </c:pt>
                  <c:pt idx="19">
                    <c:v>15:00</c:v>
                  </c:pt>
                  <c:pt idx="20">
                    <c:v>15:30</c:v>
                  </c:pt>
                  <c:pt idx="21">
                    <c:v>16:00</c:v>
                  </c:pt>
                  <c:pt idx="22">
                    <c:v>16:30</c:v>
                  </c:pt>
                  <c:pt idx="23">
                    <c:v>17:00</c:v>
                  </c:pt>
                  <c:pt idx="24">
                    <c:v>17:30</c:v>
                  </c:pt>
                  <c:pt idx="25">
                    <c:v>18:00</c:v>
                  </c:pt>
                  <c:pt idx="26">
                    <c:v>18:30</c:v>
                  </c:pt>
                  <c:pt idx="27">
                    <c:v>19:00</c:v>
                  </c:pt>
                  <c:pt idx="28">
                    <c:v>19:30</c:v>
                  </c:pt>
                  <c:pt idx="29">
                    <c:v>20:00</c:v>
                  </c:pt>
                  <c:pt idx="30">
                    <c:v>20:30</c:v>
                  </c:pt>
                  <c:pt idx="31">
                    <c:v>21:00</c:v>
                  </c:pt>
                  <c:pt idx="32">
                    <c:v>21:30</c:v>
                  </c:pt>
                  <c:pt idx="33">
                    <c:v>22:00</c:v>
                  </c:pt>
                  <c:pt idx="34">
                    <c:v>22:30</c:v>
                  </c:pt>
                  <c:pt idx="35">
                    <c:v>23:00</c:v>
                  </c:pt>
                  <c:pt idx="36">
                    <c:v>23:30</c:v>
                  </c:pt>
                  <c:pt idx="37">
                    <c:v>00:00</c:v>
                  </c:pt>
                  <c:pt idx="38">
                    <c:v>00:30</c:v>
                  </c:pt>
                  <c:pt idx="39">
                    <c:v>01:00</c:v>
                  </c:pt>
                  <c:pt idx="40">
                    <c:v>01:30</c:v>
                  </c:pt>
                  <c:pt idx="41">
                    <c:v>02:00</c:v>
                  </c:pt>
                  <c:pt idx="42">
                    <c:v>02:30</c:v>
                  </c:pt>
                  <c:pt idx="43">
                    <c:v>03:00</c:v>
                  </c:pt>
                  <c:pt idx="44">
                    <c:v>03:30</c:v>
                  </c:pt>
                  <c:pt idx="45">
                    <c:v>04:00</c:v>
                  </c:pt>
                  <c:pt idx="46">
                    <c:v>04:30</c:v>
                  </c:pt>
                  <c:pt idx="47">
                    <c:v>05:00</c:v>
                  </c:pt>
                </c:lvl>
              </c:multiLvlStrCache>
            </c:multiLvlStrRef>
          </c:cat>
          <c:val>
            <c:numRef>
              <c:f>Sheet1!$D$2:$D$49</c:f>
              <c:numCache>
                <c:formatCode>General</c:formatCode>
                <c:ptCount val="48"/>
                <c:pt idx="0">
                  <c:v>1.716142896513869</c:v>
                </c:pt>
                <c:pt idx="1">
                  <c:v>1.716142896513869</c:v>
                </c:pt>
                <c:pt idx="2">
                  <c:v>1.716142896513869</c:v>
                </c:pt>
                <c:pt idx="3">
                  <c:v>1.716142896513869</c:v>
                </c:pt>
                <c:pt idx="4">
                  <c:v>1.716142896513869</c:v>
                </c:pt>
                <c:pt idx="5">
                  <c:v>1.716142896513869</c:v>
                </c:pt>
                <c:pt idx="6">
                  <c:v>1.716142896513869</c:v>
                </c:pt>
                <c:pt idx="7">
                  <c:v>1.716142896513869</c:v>
                </c:pt>
                <c:pt idx="8">
                  <c:v>1.716142896513869</c:v>
                </c:pt>
                <c:pt idx="9">
                  <c:v>1.716142896513869</c:v>
                </c:pt>
                <c:pt idx="10">
                  <c:v>1.716142896513869</c:v>
                </c:pt>
                <c:pt idx="11">
                  <c:v>1.716142896513869</c:v>
                </c:pt>
                <c:pt idx="12">
                  <c:v>1.716142896513869</c:v>
                </c:pt>
                <c:pt idx="13">
                  <c:v>1.716142896513869</c:v>
                </c:pt>
                <c:pt idx="14">
                  <c:v>1.716142896513869</c:v>
                </c:pt>
                <c:pt idx="15">
                  <c:v>1.716142896513869</c:v>
                </c:pt>
                <c:pt idx="16">
                  <c:v>1.716142896513869</c:v>
                </c:pt>
                <c:pt idx="17">
                  <c:v>1.716142896513869</c:v>
                </c:pt>
                <c:pt idx="18">
                  <c:v>1.716142896513869</c:v>
                </c:pt>
                <c:pt idx="19">
                  <c:v>1.716142896513869</c:v>
                </c:pt>
                <c:pt idx="20">
                  <c:v>1.716142896513869</c:v>
                </c:pt>
                <c:pt idx="21">
                  <c:v>1.716142896513869</c:v>
                </c:pt>
                <c:pt idx="22">
                  <c:v>1.716142896513869</c:v>
                </c:pt>
                <c:pt idx="23">
                  <c:v>1.716142896513869</c:v>
                </c:pt>
                <c:pt idx="24">
                  <c:v>1.716142896513869</c:v>
                </c:pt>
                <c:pt idx="25">
                  <c:v>1.716142896513869</c:v>
                </c:pt>
                <c:pt idx="26">
                  <c:v>1.716142896513869</c:v>
                </c:pt>
                <c:pt idx="27">
                  <c:v>1.716142896513869</c:v>
                </c:pt>
                <c:pt idx="28">
                  <c:v>1.716142896513869</c:v>
                </c:pt>
                <c:pt idx="29">
                  <c:v>1.716142896513869</c:v>
                </c:pt>
                <c:pt idx="30">
                  <c:v>1.716142896513869</c:v>
                </c:pt>
                <c:pt idx="31">
                  <c:v>1.716142896513869</c:v>
                </c:pt>
                <c:pt idx="32">
                  <c:v>1.716142896513869</c:v>
                </c:pt>
                <c:pt idx="33">
                  <c:v>1.716142896513869</c:v>
                </c:pt>
                <c:pt idx="34">
                  <c:v>1.716142896513869</c:v>
                </c:pt>
                <c:pt idx="35">
                  <c:v>1.716142896513869</c:v>
                </c:pt>
                <c:pt idx="36">
                  <c:v>1.716142896513869</c:v>
                </c:pt>
                <c:pt idx="37">
                  <c:v>1.716142896513869</c:v>
                </c:pt>
                <c:pt idx="38">
                  <c:v>1.716142896513869</c:v>
                </c:pt>
                <c:pt idx="39">
                  <c:v>1.716142896513869</c:v>
                </c:pt>
                <c:pt idx="40">
                  <c:v>1.716142896513869</c:v>
                </c:pt>
                <c:pt idx="41">
                  <c:v>1.716142896513869</c:v>
                </c:pt>
                <c:pt idx="42">
                  <c:v>1.716142896513869</c:v>
                </c:pt>
                <c:pt idx="43">
                  <c:v>1.716142896513869</c:v>
                </c:pt>
                <c:pt idx="44">
                  <c:v>1.716142896513869</c:v>
                </c:pt>
                <c:pt idx="45">
                  <c:v>1.716142896513869</c:v>
                </c:pt>
                <c:pt idx="46">
                  <c:v>1.716142896513869</c:v>
                </c:pt>
                <c:pt idx="47">
                  <c:v>1.716142896513869</c:v>
                </c:pt>
              </c:numCache>
            </c:numRef>
          </c:val>
          <c:smooth val="0"/>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75B"/>
                </a:solidFill>
                <a:latin typeface="+mn-lt"/>
              </a:defRPr>
            </a:pPr>
            <a:endParaRPr lang="en-US"/>
          </a:p>
        </c:txPr>
        <c:crossAx val="2094734552"/>
        <c:crosses val="autoZero"/>
        <c:auto val="1"/>
        <c:lblAlgn val="ctr"/>
        <c:noMultiLvlLbl val="1"/>
        <c:tickLblSkip val="8"/>
      </c:catAx>
      <c:valAx>
        <c:axId val="2094734552"/>
        <c:scaling>
          <c:orientation val="minMax"/>
        </c:scaling>
        <c:delete val="0"/>
        <c:axPos val="l"/>
        <c:majorGridlines>
          <c:spPr>
            <a:ln w="9525" cap="flat">
              <a:solidFill>
                <a:srgbClr val="D5DEE7"/>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sentence: four soft-computing techniques each issue a five-level flood alert with a reason, and we test how good and how robust those alerts are on held-out river data. The five squares are the alert levels used throughout: Normal, Low, Moderate, High, Critical.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motivations, three research questions. Every result later in the deck answers one of Q1 to Q3.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datasets come from peer-reviewed papers with public repositories; files are checksum-pinned. The Brazilian origin is disclosed: we looked for Indian data first and none offers open sub-daily level plus rainfall. CAMELS-IND is daily only and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Thresholds for Bengalas in metres: 0.993, 1.137, 1.427, 1.716. Only 3.1 % of test steps are alerts, which is why we report precision, recall and F1 rather than accuracy. Labels are proxies: scores measure agreement with this rule, not real-world flood warnings.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models get exactly the same three inputs, so differences come from the technique. The reliability layer is a switch: off means raw readings, on means each reading is checked and reliability-weighted before the models run. Everything is fitted on the training period; hyper-parameters and PSO use only the validation block; the test period is evaluated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Solid lines are the embedded Type-1 membership functions of the five level terms; the two grey lines are the upper and lower membership functions of the High term. The gap between them is the footprint of uncertainty: we are not sure exactly where High begins, because the mean + 2 sd boundary varies between training years. We cap the band at half the ramp width; without that cap, a higher level could produce a lower alert, which we found and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PSO answers Q2. The decision vector, objective and settings are fixed and documented. Because the untuned IT2FIS is one of the starting particles, PSO's validation score is at least as good by construction; only the test period can show whether that carries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SOM is unsupervised: it only learns prototype states. Labels are used afterwards to give each node a level, with an asymmetric cost so rare High and Critical states are not outvoted by Normal. Node 56 is the node the flood example later in the deck lands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ANFIS uses the same 80 rule premises as the IT2FIS, so the two are directly comparable, but each rule's output is a learned linear equation. The interpretability constraint was motivated by wrong explanations, not by scores, and it lowered the Malwathu score. That trade-off is disclosed in the experiment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horizon table is the data check behind offering 30 minutes, 1 hour and 3 hours: enough labelled rows, enough alert steps, and the class actually changes between now and the horizon, so the task is not trivial. The daily dataset cannot represent sub-daily horizons, so they are reported as unsupported rather than interpolated.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comparison: clean sensors, one hour ahead, on the held-out test period. The bracket is a 95 % moving-block bootstrap interval; whole days are resampled because neighbouring 30-minute steps are not independent. We only call a model better when the intervals do not overlap. The threshold rule is a reference: the labels are built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Persistence MAE vs ARX MAE: 30 min 0.0075 vs 0.0080 m; 1 h 0.0132 vs 0.0137 m; 3 h 0.0316 vs 0.0322 m. Better 3-hour skill would need more inputs, for example upstream gauges or rainfall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PSO raises test F1 at every Bengalas horizon, but every pair of 95 % intervals overlaps (1 h: untuned [0.850, 0.915] vs tuned [0.859, 0.922]). On Malwathu the validation score rose but the test score did not move: a textbook sign of fitting the validation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ANFIS collapses under noise (medium 0.413, high 0.186); we have not isolated why. SOM is the least robust overall. The reliability layer is not a free win, and the weak detection of stuck and conflicting sensors is a real limitation, shown openly on the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test-period data, replayable on the Assess Risk tab. Thirty minutes before the river crossed the flood threshold, IT2FIS, PSO-IT2FIS and SOM issued Critical from the fast rise and heavy rain, ANFIS said High, and the level-only reference still said Moderate. Every bullet on the right is generated from the model's own internals.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state these limits before anyone asks. Two design changes were made after some test numbers had been printed (the uncertainty-band cap and the ANFIS constraints); both were triggered by defects rather than scores and are disclosed in the experiment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answers and the next steps, then open the live demo: Assess Risk with the December 2022 episode, then Compare Models and the sensor-fault simulator.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329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0241280" cy="118872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3337560"/>
            <a:ext cx="9601200" cy="1097280"/>
          </a:xfrm>
          <a:prstGeom prst="rect">
            <a:avLst/>
          </a:prstGeom>
          <a:noFill/>
          <a:ln/>
        </p:spPr>
        <p:txBody>
          <a:bodyPr wrap="square" rtlCol="0"/>
          <a:lstStyle>
            <a:lvl1pPr indent="0" marL="0">
              <a:buNone/>
              <a:defRPr lang="en-US" sz="2000" dirty="0">
                <a:solidFill>
                  <a:schemeClr val="accent3"/>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B7C"/>
                </a:solidFill>
              </a:rPr>
              <a:t>HydroSentinel AI · v0.6 · project review</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0241280" cy="1188720"/>
          </a:xfrm>
          <a:prstGeom prst="rect">
            <a:avLst/>
          </a:prstGeom>
          <a:noFill/>
          <a:ln/>
        </p:spPr>
        <p:txBody>
          <a:bodyPr wrap="square" lIns="0" tIns="0" rIns="0" bIns="0" rtlCol="0" anchor="b"/>
          <a:lstStyle/>
          <a:p>
            <a:pPr algn="l" indent="0" marL="0">
              <a:buNone/>
            </a:pPr>
            <a:r>
              <a:rPr lang="en-US" sz="4800" b="1" dirty="0">
                <a:solidFill>
                  <a:schemeClr val="bg1"/>
                </a:solidFill>
              </a:rPr>
              <a:t>HydroSentinel AI</a:t>
            </a:r>
            <a:endParaRPr lang="en-US" sz="4800" dirty="0"/>
          </a:p>
        </p:txBody>
      </p:sp>
      <p:sp>
        <p:nvSpPr>
          <p:cNvPr id="3" name="Text 0"/>
          <p:cNvSpPr/>
          <p:nvPr>
            <p:ph idx="101" type="body" hasCustomPrompt="1"/>
          </p:nvPr>
        </p:nvSpPr>
        <p:spPr>
          <a:xfrm>
            <a:off x="548640" y="3337560"/>
            <a:ext cx="9601200" cy="1097280"/>
          </a:xfrm>
          <a:prstGeom prst="rect">
            <a:avLst/>
          </a:prstGeom>
          <a:noFill/>
          <a:ln/>
        </p:spPr>
        <p:txBody>
          <a:bodyPr wrap="square" lIns="0" tIns="0" rIns="0" bIns="0" rtlCol="0" anchor="t"/>
          <a:lstStyle/>
          <a:p>
            <a:pPr indent="0" marL="0">
              <a:buNone/>
            </a:pPr>
            <a:r>
              <a:rPr lang="en-US" sz="2000" dirty="0">
                <a:solidFill>
                  <a:schemeClr val="accent3"/>
                </a:solidFill>
              </a:rPr>
              <a:t>Five-level flood-risk alerts from IT2FIS, PSO, SOM and ANFIS, compared on real river data</a:t>
            </a:r>
            <a:endParaRPr lang="en-US" sz="2000" dirty="0"/>
          </a:p>
        </p:txBody>
      </p:sp>
      <p:sp>
        <p:nvSpPr>
          <p:cNvPr id="4" name="level-dot-1"/>
          <p:cNvSpPr/>
          <p:nvPr/>
        </p:nvSpPr>
        <p:spPr>
          <a:xfrm>
            <a:off x="548640" y="1417320"/>
            <a:ext cx="457200" cy="457200"/>
          </a:xfrm>
          <a:prstGeom prst="roundRect">
            <a:avLst>
              <a:gd name="adj" fmla="val 20000"/>
            </a:avLst>
          </a:prstGeom>
          <a:solidFill>
            <a:srgbClr val="2E8B57"/>
          </a:solidFill>
          <a:ln w="12700">
            <a:solidFill>
              <a:srgbClr val="2E8B57"/>
            </a:solidFill>
            <a:prstDash val="solid"/>
          </a:ln>
        </p:spPr>
      </p:sp>
      <p:sp>
        <p:nvSpPr>
          <p:cNvPr id="5" name="level-dot-2"/>
          <p:cNvSpPr/>
          <p:nvPr/>
        </p:nvSpPr>
        <p:spPr>
          <a:xfrm>
            <a:off x="1115568" y="1417320"/>
            <a:ext cx="457200" cy="457200"/>
          </a:xfrm>
          <a:prstGeom prst="roundRect">
            <a:avLst>
              <a:gd name="adj" fmla="val 20000"/>
            </a:avLst>
          </a:prstGeom>
          <a:solidFill>
            <a:srgbClr val="7F9A1C"/>
          </a:solidFill>
          <a:ln w="12700">
            <a:solidFill>
              <a:srgbClr val="7F9A1C"/>
            </a:solidFill>
            <a:prstDash val="solid"/>
          </a:ln>
        </p:spPr>
      </p:sp>
      <p:sp>
        <p:nvSpPr>
          <p:cNvPr id="6" name="level-dot-3"/>
          <p:cNvSpPr/>
          <p:nvPr/>
        </p:nvSpPr>
        <p:spPr>
          <a:xfrm>
            <a:off x="1682496" y="1417320"/>
            <a:ext cx="457200" cy="457200"/>
          </a:xfrm>
          <a:prstGeom prst="roundRect">
            <a:avLst>
              <a:gd name="adj" fmla="val 20000"/>
            </a:avLst>
          </a:prstGeom>
          <a:solidFill>
            <a:srgbClr val="C99206"/>
          </a:solidFill>
          <a:ln w="12700">
            <a:solidFill>
              <a:srgbClr val="C99206"/>
            </a:solidFill>
            <a:prstDash val="solid"/>
          </a:ln>
        </p:spPr>
      </p:sp>
      <p:sp>
        <p:nvSpPr>
          <p:cNvPr id="7" name="level-dot-4"/>
          <p:cNvSpPr/>
          <p:nvPr/>
        </p:nvSpPr>
        <p:spPr>
          <a:xfrm>
            <a:off x="2249424" y="1417320"/>
            <a:ext cx="457200" cy="457200"/>
          </a:xfrm>
          <a:prstGeom prst="roundRect">
            <a:avLst>
              <a:gd name="adj" fmla="val 20000"/>
            </a:avLst>
          </a:prstGeom>
          <a:solidFill>
            <a:srgbClr val="DD6418"/>
          </a:solidFill>
          <a:ln w="12700">
            <a:solidFill>
              <a:srgbClr val="DD6418"/>
            </a:solidFill>
            <a:prstDash val="solid"/>
          </a:ln>
        </p:spPr>
      </p:sp>
      <p:sp>
        <p:nvSpPr>
          <p:cNvPr id="8" name="level-dot-5"/>
          <p:cNvSpPr/>
          <p:nvPr/>
        </p:nvSpPr>
        <p:spPr>
          <a:xfrm>
            <a:off x="2816352" y="1417320"/>
            <a:ext cx="457200" cy="457200"/>
          </a:xfrm>
          <a:prstGeom prst="roundRect">
            <a:avLst>
              <a:gd name="adj" fmla="val 20000"/>
            </a:avLst>
          </a:prstGeom>
          <a:solidFill>
            <a:srgbClr val="C62828"/>
          </a:solidFill>
          <a:ln w="12700">
            <a:solidFill>
              <a:srgbClr val="C62828"/>
            </a:solidFill>
            <a:prstDash val="solid"/>
          </a:ln>
        </p:spPr>
      </p:sp>
      <p:sp>
        <p:nvSpPr>
          <p:cNvPr id="9" name="text-6"/>
          <p:cNvSpPr txBox="1"/>
          <p:nvPr/>
        </p:nvSpPr>
        <p:spPr>
          <a:xfrm>
            <a:off x="548640" y="5120640"/>
            <a:ext cx="8229600" cy="365760"/>
          </a:xfrm>
          <a:prstGeom prst="rect">
            <a:avLst/>
          </a:prstGeom>
          <a:noFill/>
          <a:ln/>
        </p:spPr>
        <p:txBody>
          <a:bodyPr wrap="square" lIns="0" tIns="0" rIns="0" bIns="0" rtlCol="0" anchor="t"/>
          <a:lstStyle/>
          <a:p>
            <a:pPr indent="0" marL="0">
              <a:buNone/>
            </a:pPr>
            <a:r>
              <a:rPr lang="en-US" sz="1600" dirty="0">
                <a:solidFill>
                  <a:srgbClr val="CADCFC"/>
                </a:solidFill>
              </a:rPr>
              <a:t>Soft Computing project review · version 0.6 · October 2026</a:t>
            </a:r>
            <a:endParaRPr lang="en-US" sz="1600" dirty="0"/>
          </a:p>
        </p:txBody>
      </p:sp>
      <p:sp>
        <p:nvSpPr>
          <p:cNvPr id="10" name="text-7"/>
          <p:cNvSpPr txBox="1"/>
          <p:nvPr/>
        </p:nvSpPr>
        <p:spPr>
          <a:xfrm>
            <a:off x="548640" y="5532120"/>
            <a:ext cx="8229600" cy="365760"/>
          </a:xfrm>
          <a:prstGeom prst="rect">
            <a:avLst/>
          </a:prstGeom>
          <a:noFill/>
          <a:ln/>
        </p:spPr>
        <p:txBody>
          <a:bodyPr wrap="square" lIns="0" tIns="0" rIns="0" bIns="0" rtlCol="0" anchor="t"/>
          <a:lstStyle/>
          <a:p>
            <a:pPr indent="0" marL="0">
              <a:buNone/>
            </a:pPr>
            <a:r>
              <a:rPr lang="en-US" sz="1600" dirty="0">
                <a:solidFill>
                  <a:srgbClr val="CADCFC"/>
                </a:solidFill>
              </a:rPr>
              <a:t>Live demo: floodguard-ai-chi.vercel.app</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Why this project</a:t>
            </a:r>
            <a:endParaRPr lang="en-US" sz="3400" dirty="0"/>
          </a:p>
        </p:txBody>
      </p:sp>
      <p:sp>
        <p:nvSpPr>
          <p:cNvPr id="3" name="dot-8"/>
          <p:cNvSpPr txBox="1"/>
          <p:nvPr/>
        </p:nvSpPr>
        <p:spPr>
          <a:xfrm>
            <a:off x="548640" y="1463040"/>
            <a:ext cx="457200" cy="457200"/>
          </a:xfrm>
          <a:prstGeom prst="ellipse">
            <a:avLst/>
          </a:prstGeom>
          <a:solidFill>
            <a:srgbClr val="1C7C7D"/>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4" name="text-9"/>
          <p:cNvSpPr txBox="1"/>
          <p:nvPr/>
        </p:nvSpPr>
        <p:spPr>
          <a:xfrm>
            <a:off x="1234440" y="1417320"/>
            <a:ext cx="4754880" cy="411480"/>
          </a:xfrm>
          <a:prstGeom prst="rect">
            <a:avLst/>
          </a:prstGeom>
          <a:noFill/>
          <a:ln/>
        </p:spPr>
        <p:txBody>
          <a:bodyPr wrap="square" lIns="0" tIns="0" rIns="0" bIns="0" rtlCol="0" anchor="t"/>
          <a:lstStyle/>
          <a:p>
            <a:pPr indent="0" marL="0">
              <a:buNone/>
            </a:pPr>
            <a:r>
              <a:rPr lang="en-US" sz="2000" b="1" dirty="0">
                <a:solidFill>
                  <a:schemeClr val="tx1"/>
                </a:solidFill>
              </a:rPr>
              <a:t>Sensors fail</a:t>
            </a:r>
            <a:endParaRPr lang="en-US" sz="2000" dirty="0"/>
          </a:p>
        </p:txBody>
      </p:sp>
      <p:sp>
        <p:nvSpPr>
          <p:cNvPr id="5" name="text-10"/>
          <p:cNvSpPr txBox="1"/>
          <p:nvPr/>
        </p:nvSpPr>
        <p:spPr>
          <a:xfrm>
            <a:off x="1234440" y="1847088"/>
            <a:ext cx="4754880" cy="822960"/>
          </a:xfrm>
          <a:prstGeom prst="rect">
            <a:avLst/>
          </a:prstGeom>
          <a:noFill/>
          <a:ln/>
        </p:spPr>
        <p:txBody>
          <a:bodyPr wrap="square" lIns="0" tIns="0" rIns="0" bIns="0" rtlCol="0" anchor="t"/>
          <a:lstStyle/>
          <a:p>
            <a:pPr indent="0" marL="0">
              <a:buNone/>
            </a:pPr>
            <a:r>
              <a:rPr lang="en-US" sz="1500" dirty="0">
                <a:solidFill>
                  <a:srgbClr val="33475B"/>
                </a:solidFill>
              </a:rPr>
              <a:t>Gauges go missing, freeze, spike or disagree, and an alarm built on a bad reading is a false alarm or a missed flood.</a:t>
            </a:r>
            <a:endParaRPr lang="en-US" sz="1500" dirty="0"/>
          </a:p>
        </p:txBody>
      </p:sp>
      <p:sp>
        <p:nvSpPr>
          <p:cNvPr id="6" name="dot-11"/>
          <p:cNvSpPr txBox="1"/>
          <p:nvPr/>
        </p:nvSpPr>
        <p:spPr>
          <a:xfrm>
            <a:off x="548640" y="2834640"/>
            <a:ext cx="457200" cy="457200"/>
          </a:xfrm>
          <a:prstGeom prst="ellipse">
            <a:avLst/>
          </a:prstGeom>
          <a:solidFill>
            <a:srgbClr val="1C7C7D"/>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7" name="text-12"/>
          <p:cNvSpPr txBox="1"/>
          <p:nvPr/>
        </p:nvSpPr>
        <p:spPr>
          <a:xfrm>
            <a:off x="1234440" y="2788920"/>
            <a:ext cx="4754880" cy="411480"/>
          </a:xfrm>
          <a:prstGeom prst="rect">
            <a:avLst/>
          </a:prstGeom>
          <a:noFill/>
          <a:ln/>
        </p:spPr>
        <p:txBody>
          <a:bodyPr wrap="square" lIns="0" tIns="0" rIns="0" bIns="0" rtlCol="0" anchor="t"/>
          <a:lstStyle/>
          <a:p>
            <a:pPr indent="0" marL="0">
              <a:buNone/>
            </a:pPr>
            <a:r>
              <a:rPr lang="en-US" sz="2000" b="1" dirty="0">
                <a:solidFill>
                  <a:schemeClr val="tx1"/>
                </a:solidFill>
              </a:rPr>
              <a:t>Alerts must be explained</a:t>
            </a:r>
            <a:endParaRPr lang="en-US" sz="2000" dirty="0"/>
          </a:p>
        </p:txBody>
      </p:sp>
      <p:sp>
        <p:nvSpPr>
          <p:cNvPr id="8" name="text-13"/>
          <p:cNvSpPr txBox="1"/>
          <p:nvPr/>
        </p:nvSpPr>
        <p:spPr>
          <a:xfrm>
            <a:off x="1234440" y="3218688"/>
            <a:ext cx="4754880" cy="822960"/>
          </a:xfrm>
          <a:prstGeom prst="rect">
            <a:avLst/>
          </a:prstGeom>
          <a:noFill/>
          <a:ln/>
        </p:spPr>
        <p:txBody>
          <a:bodyPr wrap="square" lIns="0" tIns="0" rIns="0" bIns="0" rtlCol="0" anchor="t"/>
          <a:lstStyle/>
          <a:p>
            <a:pPr indent="0" marL="0">
              <a:buNone/>
            </a:pPr>
            <a:r>
              <a:rPr lang="en-US" sz="1500" dirty="0">
                <a:solidFill>
                  <a:srgbClr val="33475B"/>
                </a:solidFill>
              </a:rPr>
              <a:t>A flood warning that cannot say why it was raised is hard to trust or act on.</a:t>
            </a:r>
            <a:endParaRPr lang="en-US" sz="1500" dirty="0"/>
          </a:p>
        </p:txBody>
      </p:sp>
      <p:sp>
        <p:nvSpPr>
          <p:cNvPr id="9" name="dot-14"/>
          <p:cNvSpPr txBox="1"/>
          <p:nvPr/>
        </p:nvSpPr>
        <p:spPr>
          <a:xfrm>
            <a:off x="548640" y="4206240"/>
            <a:ext cx="457200" cy="457200"/>
          </a:xfrm>
          <a:prstGeom prst="ellipse">
            <a:avLst/>
          </a:prstGeom>
          <a:solidFill>
            <a:srgbClr val="1C7C7D"/>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0" name="text-15"/>
          <p:cNvSpPr txBox="1"/>
          <p:nvPr/>
        </p:nvSpPr>
        <p:spPr>
          <a:xfrm>
            <a:off x="1234440" y="4160520"/>
            <a:ext cx="4754880" cy="411480"/>
          </a:xfrm>
          <a:prstGeom prst="rect">
            <a:avLst/>
          </a:prstGeom>
          <a:noFill/>
          <a:ln/>
        </p:spPr>
        <p:txBody>
          <a:bodyPr wrap="square" lIns="0" tIns="0" rIns="0" bIns="0" rtlCol="0" anchor="t"/>
          <a:lstStyle/>
          <a:p>
            <a:pPr indent="0" marL="0">
              <a:buNone/>
            </a:pPr>
            <a:r>
              <a:rPr lang="en-US" sz="2000" b="1" dirty="0">
                <a:solidFill>
                  <a:schemeClr val="tx1"/>
                </a:solidFill>
              </a:rPr>
              <a:t>Which technique works?</a:t>
            </a:r>
            <a:endParaRPr lang="en-US" sz="2000" dirty="0"/>
          </a:p>
        </p:txBody>
      </p:sp>
      <p:sp>
        <p:nvSpPr>
          <p:cNvPr id="11" name="text-16"/>
          <p:cNvSpPr txBox="1"/>
          <p:nvPr/>
        </p:nvSpPr>
        <p:spPr>
          <a:xfrm>
            <a:off x="1234440" y="4590288"/>
            <a:ext cx="4754880" cy="822960"/>
          </a:xfrm>
          <a:prstGeom prst="rect">
            <a:avLst/>
          </a:prstGeom>
          <a:noFill/>
          <a:ln/>
        </p:spPr>
        <p:txBody>
          <a:bodyPr wrap="square" lIns="0" tIns="0" rIns="0" bIns="0" rtlCol="0" anchor="t"/>
          <a:lstStyle/>
          <a:p>
            <a:pPr indent="0" marL="0">
              <a:buNone/>
            </a:pPr>
            <a:r>
              <a:rPr lang="en-US" sz="1500" dirty="0">
                <a:solidFill>
                  <a:srgbClr val="33475B"/>
                </a:solidFill>
              </a:rPr>
              <a:t>Expert fuzzy rules, optimisation, unsupervised maps and neuro-fuzzy learning have never been compared like-for-like here.</a:t>
            </a:r>
            <a:endParaRPr lang="en-US" sz="1500" dirty="0"/>
          </a:p>
        </p:txBody>
      </p:sp>
      <p:sp>
        <p:nvSpPr>
          <p:cNvPr id="12" name="card-17"/>
          <p:cNvSpPr/>
          <p:nvPr/>
        </p:nvSpPr>
        <p:spPr>
          <a:xfrm>
            <a:off x="6400800" y="1325880"/>
            <a:ext cx="5239512" cy="4160520"/>
          </a:xfrm>
          <a:prstGeom prst="roundRect">
            <a:avLst>
              <a:gd name="adj" fmla="val 2637"/>
            </a:avLst>
          </a:prstGeom>
          <a:solidFill>
            <a:srgbClr val="13293D"/>
          </a:solidFill>
          <a:ln w="12700">
            <a:solidFill>
              <a:srgbClr val="13293D"/>
            </a:solidFill>
            <a:prstDash val="solid"/>
          </a:ln>
        </p:spPr>
      </p:sp>
      <p:sp>
        <p:nvSpPr>
          <p:cNvPr id="13" name="text-18"/>
          <p:cNvSpPr txBox="1"/>
          <p:nvPr/>
        </p:nvSpPr>
        <p:spPr>
          <a:xfrm>
            <a:off x="6720840" y="1554480"/>
            <a:ext cx="466344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Research questions</a:t>
            </a:r>
            <a:endParaRPr lang="en-US" sz="2200" dirty="0"/>
          </a:p>
        </p:txBody>
      </p:sp>
      <p:sp>
        <p:nvSpPr>
          <p:cNvPr id="14" name="text-19"/>
          <p:cNvSpPr txBox="1"/>
          <p:nvPr/>
        </p:nvSpPr>
        <p:spPr>
          <a:xfrm>
            <a:off x="6720840" y="2240280"/>
            <a:ext cx="548640" cy="365760"/>
          </a:xfrm>
          <a:prstGeom prst="rect">
            <a:avLst/>
          </a:prstGeom>
          <a:noFill/>
          <a:ln/>
        </p:spPr>
        <p:txBody>
          <a:bodyPr wrap="square" lIns="0" tIns="0" rIns="0" bIns="0" rtlCol="0" anchor="t"/>
          <a:lstStyle/>
          <a:p>
            <a:pPr indent="0" marL="0">
              <a:buNone/>
            </a:pPr>
            <a:r>
              <a:rPr lang="en-US" sz="1800" b="1" dirty="0">
                <a:solidFill>
                  <a:srgbClr val="5FA8D3"/>
                </a:solidFill>
              </a:rPr>
              <a:t>Q1</a:t>
            </a:r>
            <a:endParaRPr lang="en-US" sz="1800" dirty="0"/>
          </a:p>
        </p:txBody>
      </p:sp>
      <p:sp>
        <p:nvSpPr>
          <p:cNvPr id="15" name="text-20"/>
          <p:cNvSpPr txBox="1"/>
          <p:nvPr/>
        </p:nvSpPr>
        <p:spPr>
          <a:xfrm>
            <a:off x="7269480" y="2240280"/>
            <a:ext cx="4114800" cy="914400"/>
          </a:xfrm>
          <a:prstGeom prst="rect">
            <a:avLst/>
          </a:prstGeom>
          <a:noFill/>
          <a:ln/>
        </p:spPr>
        <p:txBody>
          <a:bodyPr wrap="square" lIns="0" tIns="0" rIns="0" bIns="0" rtlCol="0" anchor="t"/>
          <a:lstStyle/>
          <a:p>
            <a:pPr indent="0" marL="0">
              <a:buNone/>
            </a:pPr>
            <a:r>
              <a:rPr lang="en-US" sz="1500" dirty="0">
                <a:solidFill>
                  <a:srgbClr val="FFFFFF"/>
                </a:solidFill>
              </a:rPr>
              <a:t>Which of IT2FIS, PSO-tuned IT2FIS, SOM and ANFIS gives the best five-level alerts?</a:t>
            </a:r>
            <a:endParaRPr lang="en-US" sz="1500" dirty="0"/>
          </a:p>
        </p:txBody>
      </p:sp>
      <p:sp>
        <p:nvSpPr>
          <p:cNvPr id="16" name="text-21"/>
          <p:cNvSpPr txBox="1"/>
          <p:nvPr/>
        </p:nvSpPr>
        <p:spPr>
          <a:xfrm>
            <a:off x="6720840" y="3291840"/>
            <a:ext cx="548640" cy="365760"/>
          </a:xfrm>
          <a:prstGeom prst="rect">
            <a:avLst/>
          </a:prstGeom>
          <a:noFill/>
          <a:ln/>
        </p:spPr>
        <p:txBody>
          <a:bodyPr wrap="square" lIns="0" tIns="0" rIns="0" bIns="0" rtlCol="0" anchor="t"/>
          <a:lstStyle/>
          <a:p>
            <a:pPr indent="0" marL="0">
              <a:buNone/>
            </a:pPr>
            <a:r>
              <a:rPr lang="en-US" sz="1800" b="1" dirty="0">
                <a:solidFill>
                  <a:srgbClr val="5FA8D3"/>
                </a:solidFill>
              </a:rPr>
              <a:t>Q2</a:t>
            </a:r>
            <a:endParaRPr lang="en-US" sz="1800" dirty="0"/>
          </a:p>
        </p:txBody>
      </p:sp>
      <p:sp>
        <p:nvSpPr>
          <p:cNvPr id="17" name="text-22"/>
          <p:cNvSpPr txBox="1"/>
          <p:nvPr/>
        </p:nvSpPr>
        <p:spPr>
          <a:xfrm>
            <a:off x="7269480" y="3291840"/>
            <a:ext cx="4114800" cy="914400"/>
          </a:xfrm>
          <a:prstGeom prst="rect">
            <a:avLst/>
          </a:prstGeom>
          <a:noFill/>
          <a:ln/>
        </p:spPr>
        <p:txBody>
          <a:bodyPr wrap="square" lIns="0" tIns="0" rIns="0" bIns="0" rtlCol="0" anchor="t"/>
          <a:lstStyle/>
          <a:p>
            <a:pPr indent="0" marL="0">
              <a:buNone/>
            </a:pPr>
            <a:r>
              <a:rPr lang="en-US" sz="1500" dirty="0">
                <a:solidFill>
                  <a:srgbClr val="FFFFFF"/>
                </a:solidFill>
              </a:rPr>
              <a:t>Does PSO tuning improve the expert IT2FIS, or only fit the validation data?</a:t>
            </a:r>
            <a:endParaRPr lang="en-US" sz="1500" dirty="0"/>
          </a:p>
        </p:txBody>
      </p:sp>
      <p:sp>
        <p:nvSpPr>
          <p:cNvPr id="18" name="text-23"/>
          <p:cNvSpPr txBox="1"/>
          <p:nvPr/>
        </p:nvSpPr>
        <p:spPr>
          <a:xfrm>
            <a:off x="6720840" y="4343400"/>
            <a:ext cx="548640" cy="365760"/>
          </a:xfrm>
          <a:prstGeom prst="rect">
            <a:avLst/>
          </a:prstGeom>
          <a:noFill/>
          <a:ln/>
        </p:spPr>
        <p:txBody>
          <a:bodyPr wrap="square" lIns="0" tIns="0" rIns="0" bIns="0" rtlCol="0" anchor="t"/>
          <a:lstStyle/>
          <a:p>
            <a:pPr indent="0" marL="0">
              <a:buNone/>
            </a:pPr>
            <a:r>
              <a:rPr lang="en-US" sz="1800" b="1" dirty="0">
                <a:solidFill>
                  <a:srgbClr val="5FA8D3"/>
                </a:solidFill>
              </a:rPr>
              <a:t>Q3</a:t>
            </a:r>
            <a:endParaRPr lang="en-US" sz="1800" dirty="0"/>
          </a:p>
        </p:txBody>
      </p:sp>
      <p:sp>
        <p:nvSpPr>
          <p:cNvPr id="19" name="text-24"/>
          <p:cNvSpPr txBox="1"/>
          <p:nvPr/>
        </p:nvSpPr>
        <p:spPr>
          <a:xfrm>
            <a:off x="7269480" y="4343400"/>
            <a:ext cx="4114800" cy="914400"/>
          </a:xfrm>
          <a:prstGeom prst="rect">
            <a:avLst/>
          </a:prstGeom>
          <a:noFill/>
          <a:ln/>
        </p:spPr>
        <p:txBody>
          <a:bodyPr wrap="square" lIns="0" tIns="0" rIns="0" bIns="0" rtlCol="0" anchor="t"/>
          <a:lstStyle/>
          <a:p>
            <a:pPr indent="0" marL="0">
              <a:buNone/>
            </a:pPr>
            <a:r>
              <a:rPr lang="en-US" sz="1500" dirty="0">
                <a:solidFill>
                  <a:srgbClr val="FFFFFF"/>
                </a:solidFill>
              </a:rPr>
              <a:t>How do the models cope with faulty sensors, and does a reliability layer help?</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Real river data, fully traceable</a:t>
            </a:r>
            <a:endParaRPr lang="en-US" sz="3400" dirty="0"/>
          </a:p>
        </p:txBody>
      </p:sp>
      <p:sp>
        <p:nvSpPr>
          <p:cNvPr id="3" name="card-25"/>
          <p:cNvSpPr/>
          <p:nvPr/>
        </p:nvSpPr>
        <p:spPr>
          <a:xfrm>
            <a:off x="548640" y="1325880"/>
            <a:ext cx="5404104" cy="4160520"/>
          </a:xfrm>
          <a:prstGeom prst="roundRect">
            <a:avLst>
              <a:gd name="adj" fmla="val 2637"/>
            </a:avLst>
          </a:prstGeom>
          <a:solidFill>
            <a:srgbClr val="EEF3F6"/>
          </a:solidFill>
          <a:ln w="12700">
            <a:solidFill>
              <a:srgbClr val="EEF3F6"/>
            </a:solidFill>
            <a:prstDash val="solid"/>
          </a:ln>
        </p:spPr>
      </p:sp>
      <p:sp>
        <p:nvSpPr>
          <p:cNvPr id="4" name="text-26"/>
          <p:cNvSpPr txBox="1"/>
          <p:nvPr/>
        </p:nvSpPr>
        <p:spPr>
          <a:xfrm>
            <a:off x="822960" y="1508760"/>
            <a:ext cx="4846320" cy="411480"/>
          </a:xfrm>
          <a:prstGeom prst="rect">
            <a:avLst/>
          </a:prstGeom>
          <a:noFill/>
          <a:ln/>
        </p:spPr>
        <p:txBody>
          <a:bodyPr wrap="square" lIns="0" tIns="0" rIns="0" bIns="0" rtlCol="0" anchor="t"/>
          <a:lstStyle/>
          <a:p>
            <a:pPr indent="0" marL="0">
              <a:buNone/>
            </a:pPr>
            <a:r>
              <a:rPr lang="en-US" sz="1900" b="1" dirty="0">
                <a:solidFill>
                  <a:schemeClr val="tx1"/>
                </a:solidFill>
              </a:rPr>
              <a:t>Bengalas River, Brazil (primary)</a:t>
            </a:r>
            <a:endParaRPr lang="en-US" sz="1900" dirty="0"/>
          </a:p>
        </p:txBody>
      </p:sp>
      <p:sp>
        <p:nvSpPr>
          <p:cNvPr id="5" name="text-27"/>
          <p:cNvSpPr txBox="1"/>
          <p:nvPr/>
        </p:nvSpPr>
        <p:spPr>
          <a:xfrm>
            <a:off x="822960" y="2057400"/>
            <a:ext cx="164592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72,011</a:t>
            </a:r>
            <a:endParaRPr lang="en-US" sz="2800" dirty="0"/>
          </a:p>
        </p:txBody>
      </p:sp>
      <p:sp>
        <p:nvSpPr>
          <p:cNvPr id="6" name="text-28"/>
          <p:cNvSpPr txBox="1"/>
          <p:nvPr/>
        </p:nvSpPr>
        <p:spPr>
          <a:xfrm>
            <a:off x="822960" y="2606040"/>
            <a:ext cx="1645920" cy="274320"/>
          </a:xfrm>
          <a:prstGeom prst="rect">
            <a:avLst/>
          </a:prstGeom>
          <a:noFill/>
          <a:ln/>
        </p:spPr>
        <p:txBody>
          <a:bodyPr wrap="square" lIns="0" tIns="0" rIns="0" bIns="0" rtlCol="0" anchor="t"/>
          <a:lstStyle/>
          <a:p>
            <a:pPr indent="0" marL="0">
              <a:buNone/>
            </a:pPr>
            <a:r>
              <a:rPr lang="en-US" sz="1200" dirty="0">
                <a:solidFill>
                  <a:srgbClr val="5B6B7C"/>
                </a:solidFill>
              </a:rPr>
              <a:t>records</a:t>
            </a:r>
            <a:endParaRPr lang="en-US" sz="1200" dirty="0"/>
          </a:p>
        </p:txBody>
      </p:sp>
      <p:sp>
        <p:nvSpPr>
          <p:cNvPr id="7" name="text-29"/>
          <p:cNvSpPr txBox="1"/>
          <p:nvPr/>
        </p:nvSpPr>
        <p:spPr>
          <a:xfrm>
            <a:off x="2514600" y="2057400"/>
            <a:ext cx="164592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30 min</a:t>
            </a:r>
            <a:endParaRPr lang="en-US" sz="2800" dirty="0"/>
          </a:p>
        </p:txBody>
      </p:sp>
      <p:sp>
        <p:nvSpPr>
          <p:cNvPr id="8" name="text-30"/>
          <p:cNvSpPr txBox="1"/>
          <p:nvPr/>
        </p:nvSpPr>
        <p:spPr>
          <a:xfrm>
            <a:off x="2514600" y="2606040"/>
            <a:ext cx="1645920" cy="274320"/>
          </a:xfrm>
          <a:prstGeom prst="rect">
            <a:avLst/>
          </a:prstGeom>
          <a:noFill/>
          <a:ln/>
        </p:spPr>
        <p:txBody>
          <a:bodyPr wrap="square" lIns="0" tIns="0" rIns="0" bIns="0" rtlCol="0" anchor="t"/>
          <a:lstStyle/>
          <a:p>
            <a:pPr indent="0" marL="0">
              <a:buNone/>
            </a:pPr>
            <a:r>
              <a:rPr lang="en-US" sz="1200" dirty="0">
                <a:solidFill>
                  <a:srgbClr val="5B6B7C"/>
                </a:solidFill>
              </a:rPr>
              <a:t>sampling</a:t>
            </a:r>
            <a:endParaRPr lang="en-US" sz="1200" dirty="0"/>
          </a:p>
        </p:txBody>
      </p:sp>
      <p:sp>
        <p:nvSpPr>
          <p:cNvPr id="9" name="text-31"/>
          <p:cNvSpPr txBox="1"/>
          <p:nvPr/>
        </p:nvSpPr>
        <p:spPr>
          <a:xfrm>
            <a:off x="4206240" y="2057400"/>
            <a:ext cx="164592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2019–23</a:t>
            </a:r>
            <a:endParaRPr lang="en-US" sz="2800" dirty="0"/>
          </a:p>
        </p:txBody>
      </p:sp>
      <p:sp>
        <p:nvSpPr>
          <p:cNvPr id="10" name="text-32"/>
          <p:cNvSpPr txBox="1"/>
          <p:nvPr/>
        </p:nvSpPr>
        <p:spPr>
          <a:xfrm>
            <a:off x="4206240" y="2606040"/>
            <a:ext cx="1645920" cy="274320"/>
          </a:xfrm>
          <a:prstGeom prst="rect">
            <a:avLst/>
          </a:prstGeom>
          <a:noFill/>
          <a:ln/>
        </p:spPr>
        <p:txBody>
          <a:bodyPr wrap="square" lIns="0" tIns="0" rIns="0" bIns="0" rtlCol="0" anchor="t"/>
          <a:lstStyle/>
          <a:p>
            <a:pPr indent="0" marL="0">
              <a:buNone/>
            </a:pPr>
            <a:r>
              <a:rPr lang="en-US" sz="1200" dirty="0">
                <a:solidFill>
                  <a:srgbClr val="5B6B7C"/>
                </a:solidFill>
              </a:rPr>
              <a:t>period</a:t>
            </a:r>
            <a:endParaRPr lang="en-US" sz="1200" dirty="0"/>
          </a:p>
        </p:txBody>
      </p:sp>
      <p:sp>
        <p:nvSpPr>
          <p:cNvPr id="11" name="text-33"/>
          <p:cNvSpPr txBox="1"/>
          <p:nvPr/>
        </p:nvSpPr>
        <p:spPr>
          <a:xfrm>
            <a:off x="822960" y="3108960"/>
            <a:ext cx="4846320" cy="2194560"/>
          </a:xfrm>
          <a:prstGeom prst="rect">
            <a:avLst/>
          </a:prstGeom>
          <a:noFill/>
          <a:ln/>
        </p:spPr>
        <p:txBody>
          <a:bodyPr wrap="square" lIns="0" tIns="0" rIns="0" bIns="0" rtlCol="0" anchor="t"/>
          <a:lstStyle/>
          <a:p>
            <a:pPr indent="0" marL="0">
              <a:buNone/>
            </a:pPr>
            <a:r>
              <a:rPr lang="en-US" sz="1500" dirty="0">
                <a:solidFill>
                  <a:srgbClr val="33475B"/>
                </a:solidFill>
              </a:rPr>
              <a:t>Water level [m], station rain gauge and a 504-cell weather-radar grid. Station 221342310, Petrópolis, RJ. Soares et al., Transactions in GIS 30(2) e70254 (2026), doi:10.1111/tgis.70254. MIT-licensed repository, SHA-256 checked.</a:t>
            </a:r>
            <a:endParaRPr lang="en-US" sz="1500" dirty="0"/>
          </a:p>
        </p:txBody>
      </p:sp>
      <p:sp>
        <p:nvSpPr>
          <p:cNvPr id="12" name="card-34"/>
          <p:cNvSpPr/>
          <p:nvPr/>
        </p:nvSpPr>
        <p:spPr>
          <a:xfrm>
            <a:off x="6236208" y="1325880"/>
            <a:ext cx="5404104" cy="4160520"/>
          </a:xfrm>
          <a:prstGeom prst="roundRect">
            <a:avLst>
              <a:gd name="adj" fmla="val 2637"/>
            </a:avLst>
          </a:prstGeom>
          <a:solidFill>
            <a:srgbClr val="EEF3F6"/>
          </a:solidFill>
          <a:ln w="12700">
            <a:solidFill>
              <a:srgbClr val="EEF3F6"/>
            </a:solidFill>
            <a:prstDash val="solid"/>
          </a:ln>
        </p:spPr>
      </p:sp>
      <p:sp>
        <p:nvSpPr>
          <p:cNvPr id="13" name="text-35"/>
          <p:cNvSpPr txBox="1"/>
          <p:nvPr/>
        </p:nvSpPr>
        <p:spPr>
          <a:xfrm>
            <a:off x="6510528" y="1508760"/>
            <a:ext cx="4846320" cy="411480"/>
          </a:xfrm>
          <a:prstGeom prst="rect">
            <a:avLst/>
          </a:prstGeom>
          <a:noFill/>
          <a:ln/>
        </p:spPr>
        <p:txBody>
          <a:bodyPr wrap="square" lIns="0" tIns="0" rIns="0" bIns="0" rtlCol="0" anchor="t"/>
          <a:lstStyle/>
          <a:p>
            <a:pPr indent="0" marL="0">
              <a:buNone/>
            </a:pPr>
            <a:r>
              <a:rPr lang="en-US" sz="1900" b="1" dirty="0">
                <a:solidFill>
                  <a:schemeClr val="tx1"/>
                </a:solidFill>
              </a:rPr>
              <a:t>Malwathu Oya, Sri Lanka (check)</a:t>
            </a:r>
            <a:endParaRPr lang="en-US" sz="1900" dirty="0"/>
          </a:p>
        </p:txBody>
      </p:sp>
      <p:sp>
        <p:nvSpPr>
          <p:cNvPr id="14" name="text-36"/>
          <p:cNvSpPr txBox="1"/>
          <p:nvPr/>
        </p:nvSpPr>
        <p:spPr>
          <a:xfrm>
            <a:off x="6510528" y="2057400"/>
            <a:ext cx="164592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4,765</a:t>
            </a:r>
            <a:endParaRPr lang="en-US" sz="2800" dirty="0"/>
          </a:p>
        </p:txBody>
      </p:sp>
      <p:sp>
        <p:nvSpPr>
          <p:cNvPr id="15" name="text-37"/>
          <p:cNvSpPr txBox="1"/>
          <p:nvPr/>
        </p:nvSpPr>
        <p:spPr>
          <a:xfrm>
            <a:off x="6510528" y="2606040"/>
            <a:ext cx="1645920" cy="274320"/>
          </a:xfrm>
          <a:prstGeom prst="rect">
            <a:avLst/>
          </a:prstGeom>
          <a:noFill/>
          <a:ln/>
        </p:spPr>
        <p:txBody>
          <a:bodyPr wrap="square" lIns="0" tIns="0" rIns="0" bIns="0" rtlCol="0" anchor="t"/>
          <a:lstStyle/>
          <a:p>
            <a:pPr indent="0" marL="0">
              <a:buNone/>
            </a:pPr>
            <a:r>
              <a:rPr lang="en-US" sz="1200" dirty="0">
                <a:solidFill>
                  <a:srgbClr val="5B6B7C"/>
                </a:solidFill>
              </a:rPr>
              <a:t>days</a:t>
            </a:r>
            <a:endParaRPr lang="en-US" sz="1200" dirty="0"/>
          </a:p>
        </p:txBody>
      </p:sp>
      <p:sp>
        <p:nvSpPr>
          <p:cNvPr id="16" name="text-38"/>
          <p:cNvSpPr txBox="1"/>
          <p:nvPr/>
        </p:nvSpPr>
        <p:spPr>
          <a:xfrm>
            <a:off x="8202168" y="2057400"/>
            <a:ext cx="164592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daily</a:t>
            </a:r>
            <a:endParaRPr lang="en-US" sz="2800" dirty="0"/>
          </a:p>
        </p:txBody>
      </p:sp>
      <p:sp>
        <p:nvSpPr>
          <p:cNvPr id="17" name="text-39"/>
          <p:cNvSpPr txBox="1"/>
          <p:nvPr/>
        </p:nvSpPr>
        <p:spPr>
          <a:xfrm>
            <a:off x="8202168" y="2606040"/>
            <a:ext cx="1645920" cy="274320"/>
          </a:xfrm>
          <a:prstGeom prst="rect">
            <a:avLst/>
          </a:prstGeom>
          <a:noFill/>
          <a:ln/>
        </p:spPr>
        <p:txBody>
          <a:bodyPr wrap="square" lIns="0" tIns="0" rIns="0" bIns="0" rtlCol="0" anchor="t"/>
          <a:lstStyle/>
          <a:p>
            <a:pPr indent="0" marL="0">
              <a:buNone/>
            </a:pPr>
            <a:r>
              <a:rPr lang="en-US" sz="1200" dirty="0">
                <a:solidFill>
                  <a:srgbClr val="5B6B7C"/>
                </a:solidFill>
              </a:rPr>
              <a:t>sampling</a:t>
            </a:r>
            <a:endParaRPr lang="en-US" sz="1200" dirty="0"/>
          </a:p>
        </p:txBody>
      </p:sp>
      <p:sp>
        <p:nvSpPr>
          <p:cNvPr id="18" name="text-40"/>
          <p:cNvSpPr txBox="1"/>
          <p:nvPr/>
        </p:nvSpPr>
        <p:spPr>
          <a:xfrm>
            <a:off x="9893808" y="2057400"/>
            <a:ext cx="164592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2005–18</a:t>
            </a:r>
            <a:endParaRPr lang="en-US" sz="2800" dirty="0"/>
          </a:p>
        </p:txBody>
      </p:sp>
      <p:sp>
        <p:nvSpPr>
          <p:cNvPr id="19" name="text-41"/>
          <p:cNvSpPr txBox="1"/>
          <p:nvPr/>
        </p:nvSpPr>
        <p:spPr>
          <a:xfrm>
            <a:off x="9893808" y="2606040"/>
            <a:ext cx="1645920" cy="274320"/>
          </a:xfrm>
          <a:prstGeom prst="rect">
            <a:avLst/>
          </a:prstGeom>
          <a:noFill/>
          <a:ln/>
        </p:spPr>
        <p:txBody>
          <a:bodyPr wrap="square" lIns="0" tIns="0" rIns="0" bIns="0" rtlCol="0" anchor="t"/>
          <a:lstStyle/>
          <a:p>
            <a:pPr indent="0" marL="0">
              <a:buNone/>
            </a:pPr>
            <a:r>
              <a:rPr lang="en-US" sz="1200" dirty="0">
                <a:solidFill>
                  <a:srgbClr val="5B6B7C"/>
                </a:solidFill>
              </a:rPr>
              <a:t>period</a:t>
            </a:r>
            <a:endParaRPr lang="en-US" sz="1200" dirty="0"/>
          </a:p>
        </p:txBody>
      </p:sp>
      <p:sp>
        <p:nvSpPr>
          <p:cNvPr id="20" name="text-42"/>
          <p:cNvSpPr txBox="1"/>
          <p:nvPr/>
        </p:nvSpPr>
        <p:spPr>
          <a:xfrm>
            <a:off x="6510528" y="3108960"/>
            <a:ext cx="4846320" cy="2194560"/>
          </a:xfrm>
          <a:prstGeom prst="rect">
            <a:avLst/>
          </a:prstGeom>
          <a:noFill/>
          <a:ln/>
        </p:spPr>
        <p:txBody>
          <a:bodyPr wrap="square" lIns="0" tIns="0" rIns="0" bIns="0" rtlCol="0" anchor="t"/>
          <a:lstStyle/>
          <a:p>
            <a:pPr indent="0" marL="0">
              <a:buNone/>
            </a:pPr>
            <a:r>
              <a:rPr lang="en-US" sz="1500" dirty="0">
                <a:solidFill>
                  <a:srgbClr val="33475B"/>
                </a:solidFill>
              </a:rPr>
              <a:t>Water level at Kappachchiya and 6 rain gauges. Rathnayake et al., PLOS ONE 18(4) e0282847 (2023). No dates in the file, so a day index is used. Daily data cannot support sub-daily horizons.</a:t>
            </a:r>
            <a:endParaRPr lang="en-US" sz="1500" dirty="0"/>
          </a:p>
        </p:txBody>
      </p:sp>
      <p:sp>
        <p:nvSpPr>
          <p:cNvPr id="21" name="card-43"/>
          <p:cNvSpPr/>
          <p:nvPr/>
        </p:nvSpPr>
        <p:spPr>
          <a:xfrm>
            <a:off x="548640" y="5715000"/>
            <a:ext cx="11094415" cy="548640"/>
          </a:xfrm>
          <a:prstGeom prst="roundRect">
            <a:avLst>
              <a:gd name="adj" fmla="val 20000"/>
            </a:avLst>
          </a:prstGeom>
          <a:solidFill>
            <a:srgbClr val="E3F1F1"/>
          </a:solidFill>
          <a:ln w="12700">
            <a:solidFill>
              <a:srgbClr val="E3F1F1"/>
            </a:solidFill>
            <a:prstDash val="solid"/>
          </a:ln>
        </p:spPr>
      </p:sp>
      <p:sp>
        <p:nvSpPr>
          <p:cNvPr id="22" name="text-44"/>
          <p:cNvSpPr txBox="1"/>
          <p:nvPr/>
        </p:nvSpPr>
        <p:spPr>
          <a:xfrm>
            <a:off x="777240" y="5715000"/>
            <a:ext cx="10637215" cy="548640"/>
          </a:xfrm>
          <a:prstGeom prst="rect">
            <a:avLst/>
          </a:prstGeom>
          <a:noFill/>
          <a:ln/>
        </p:spPr>
        <p:txBody>
          <a:bodyPr wrap="square" lIns="0" tIns="0" rIns="0" bIns="0" rtlCol="0" anchor="ctr"/>
          <a:lstStyle/>
          <a:p>
            <a:pPr indent="0" marL="0">
              <a:buNone/>
            </a:pPr>
            <a:r>
              <a:rPr lang="en-US" sz="1500" b="1" dirty="0">
                <a:solidFill>
                  <a:schemeClr val="accent1"/>
                </a:solidFill>
              </a:rPr>
              <a:t>Indian sources (IMD, CWC, India-WRIS, NWDP, CAMELS-IND) were checked: none has open, co-located sub-daily level + rain data.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Five alert levels from the training data</a:t>
            </a:r>
            <a:endParaRPr lang="en-US" sz="3400" dirty="0"/>
          </a:p>
        </p:txBody>
      </p:sp>
      <p:sp>
        <p:nvSpPr>
          <p:cNvPr id="3" name="level-45"/>
          <p:cNvSpPr/>
          <p:nvPr/>
        </p:nvSpPr>
        <p:spPr>
          <a:xfrm>
            <a:off x="548640" y="1371600"/>
            <a:ext cx="2103120" cy="1508760"/>
          </a:xfrm>
          <a:prstGeom prst="roundRect">
            <a:avLst>
              <a:gd name="adj" fmla="val 7273"/>
            </a:avLst>
          </a:prstGeom>
          <a:solidFill>
            <a:srgbClr val="2E8B57"/>
          </a:solidFill>
          <a:ln w="12700">
            <a:solidFill>
              <a:srgbClr val="2E8B57"/>
            </a:solidFill>
            <a:prstDash val="solid"/>
          </a:ln>
        </p:spPr>
      </p:sp>
      <p:sp>
        <p:nvSpPr>
          <p:cNvPr id="4" name="text-46"/>
          <p:cNvSpPr txBox="1"/>
          <p:nvPr/>
        </p:nvSpPr>
        <p:spPr>
          <a:xfrm>
            <a:off x="731520" y="1508760"/>
            <a:ext cx="1737360" cy="411480"/>
          </a:xfrm>
          <a:prstGeom prst="rect">
            <a:avLst/>
          </a:prstGeom>
          <a:noFill/>
          <a:ln/>
        </p:spPr>
        <p:txBody>
          <a:bodyPr wrap="square" lIns="0" tIns="0" rIns="0" bIns="0" rtlCol="0" anchor="t"/>
          <a:lstStyle/>
          <a:p>
            <a:pPr indent="0" marL="0">
              <a:buNone/>
            </a:pPr>
            <a:r>
              <a:rPr lang="en-US" sz="2000" b="1" dirty="0">
                <a:solidFill>
                  <a:srgbClr val="FFFFFF"/>
                </a:solidFill>
              </a:rPr>
              <a:t>Normal</a:t>
            </a:r>
            <a:endParaRPr lang="en-US" sz="2000" dirty="0"/>
          </a:p>
        </p:txBody>
      </p:sp>
      <p:sp>
        <p:nvSpPr>
          <p:cNvPr id="5" name="text-47"/>
          <p:cNvSpPr txBox="1"/>
          <p:nvPr/>
        </p:nvSpPr>
        <p:spPr>
          <a:xfrm>
            <a:off x="731520" y="1965960"/>
            <a:ext cx="1737360" cy="411480"/>
          </a:xfrm>
          <a:prstGeom prst="rect">
            <a:avLst/>
          </a:prstGeom>
          <a:noFill/>
          <a:ln/>
        </p:spPr>
        <p:txBody>
          <a:bodyPr wrap="square" lIns="0" tIns="0" rIns="0" bIns="0" rtlCol="0" anchor="t"/>
          <a:lstStyle/>
          <a:p>
            <a:pPr indent="0" marL="0">
              <a:buNone/>
            </a:pPr>
            <a:r>
              <a:rPr lang="en-US" sz="1800" dirty="0">
                <a:solidFill>
                  <a:srgbClr val="FFFFFF"/>
                </a:solidFill>
              </a:rPr>
              <a:t>&lt; 0.99 m</a:t>
            </a:r>
            <a:endParaRPr lang="en-US" sz="1800" dirty="0"/>
          </a:p>
        </p:txBody>
      </p:sp>
      <p:sp>
        <p:nvSpPr>
          <p:cNvPr id="6" name="text-48"/>
          <p:cNvSpPr txBox="1"/>
          <p:nvPr/>
        </p:nvSpPr>
        <p:spPr>
          <a:xfrm>
            <a:off x="731520" y="2377440"/>
            <a:ext cx="1737360" cy="320040"/>
          </a:xfrm>
          <a:prstGeom prst="rect">
            <a:avLst/>
          </a:prstGeom>
          <a:noFill/>
          <a:ln/>
        </p:spPr>
        <p:txBody>
          <a:bodyPr wrap="square" lIns="0" tIns="0" rIns="0" bIns="0" rtlCol="0" anchor="t"/>
          <a:lstStyle/>
          <a:p>
            <a:pPr indent="0" marL="0">
              <a:buNone/>
            </a:pPr>
            <a:r>
              <a:rPr lang="en-US" sz="1300" dirty="0">
                <a:solidFill>
                  <a:srgbClr val="FFFFFF"/>
                </a:solidFill>
              </a:rPr>
              <a:t>below μ + 0.5σ</a:t>
            </a:r>
            <a:endParaRPr lang="en-US" sz="1300" dirty="0"/>
          </a:p>
        </p:txBody>
      </p:sp>
      <p:sp>
        <p:nvSpPr>
          <p:cNvPr id="7" name="level-49"/>
          <p:cNvSpPr/>
          <p:nvPr/>
        </p:nvSpPr>
        <p:spPr>
          <a:xfrm>
            <a:off x="2788920" y="1371600"/>
            <a:ext cx="2103120" cy="1508760"/>
          </a:xfrm>
          <a:prstGeom prst="roundRect">
            <a:avLst>
              <a:gd name="adj" fmla="val 7273"/>
            </a:avLst>
          </a:prstGeom>
          <a:solidFill>
            <a:srgbClr val="7F9A1C"/>
          </a:solidFill>
          <a:ln w="12700">
            <a:solidFill>
              <a:srgbClr val="7F9A1C"/>
            </a:solidFill>
            <a:prstDash val="solid"/>
          </a:ln>
        </p:spPr>
      </p:sp>
      <p:sp>
        <p:nvSpPr>
          <p:cNvPr id="8" name="text-50"/>
          <p:cNvSpPr txBox="1"/>
          <p:nvPr/>
        </p:nvSpPr>
        <p:spPr>
          <a:xfrm>
            <a:off x="2971800" y="1508760"/>
            <a:ext cx="1737360" cy="411480"/>
          </a:xfrm>
          <a:prstGeom prst="rect">
            <a:avLst/>
          </a:prstGeom>
          <a:noFill/>
          <a:ln/>
        </p:spPr>
        <p:txBody>
          <a:bodyPr wrap="square" lIns="0" tIns="0" rIns="0" bIns="0" rtlCol="0" anchor="t"/>
          <a:lstStyle/>
          <a:p>
            <a:pPr indent="0" marL="0">
              <a:buNone/>
            </a:pPr>
            <a:r>
              <a:rPr lang="en-US" sz="2000" b="1" dirty="0">
                <a:solidFill>
                  <a:srgbClr val="FFFFFF"/>
                </a:solidFill>
              </a:rPr>
              <a:t>Low</a:t>
            </a:r>
            <a:endParaRPr lang="en-US" sz="2000" dirty="0"/>
          </a:p>
        </p:txBody>
      </p:sp>
      <p:sp>
        <p:nvSpPr>
          <p:cNvPr id="9" name="text-51"/>
          <p:cNvSpPr txBox="1"/>
          <p:nvPr/>
        </p:nvSpPr>
        <p:spPr>
          <a:xfrm>
            <a:off x="2971800" y="1965960"/>
            <a:ext cx="1737360" cy="411480"/>
          </a:xfrm>
          <a:prstGeom prst="rect">
            <a:avLst/>
          </a:prstGeom>
          <a:noFill/>
          <a:ln/>
        </p:spPr>
        <p:txBody>
          <a:bodyPr wrap="square" lIns="0" tIns="0" rIns="0" bIns="0" rtlCol="0" anchor="t"/>
          <a:lstStyle/>
          <a:p>
            <a:pPr indent="0" marL="0">
              <a:buNone/>
            </a:pPr>
            <a:r>
              <a:rPr lang="en-US" sz="1800" dirty="0">
                <a:solidFill>
                  <a:srgbClr val="FFFFFF"/>
                </a:solidFill>
              </a:rPr>
              <a:t>≥ 0.99 m</a:t>
            </a:r>
            <a:endParaRPr lang="en-US" sz="1800" dirty="0"/>
          </a:p>
        </p:txBody>
      </p:sp>
      <p:sp>
        <p:nvSpPr>
          <p:cNvPr id="10" name="text-52"/>
          <p:cNvSpPr txBox="1"/>
          <p:nvPr/>
        </p:nvSpPr>
        <p:spPr>
          <a:xfrm>
            <a:off x="2971800" y="2377440"/>
            <a:ext cx="1737360" cy="320040"/>
          </a:xfrm>
          <a:prstGeom prst="rect">
            <a:avLst/>
          </a:prstGeom>
          <a:noFill/>
          <a:ln/>
        </p:spPr>
        <p:txBody>
          <a:bodyPr wrap="square" lIns="0" tIns="0" rIns="0" bIns="0" rtlCol="0" anchor="t"/>
          <a:lstStyle/>
          <a:p>
            <a:pPr indent="0" marL="0">
              <a:buNone/>
            </a:pPr>
            <a:r>
              <a:rPr lang="en-US" sz="1300" dirty="0">
                <a:solidFill>
                  <a:srgbClr val="FFFFFF"/>
                </a:solidFill>
              </a:rPr>
              <a:t>from μ + 0.5σ</a:t>
            </a:r>
            <a:endParaRPr lang="en-US" sz="1300" dirty="0"/>
          </a:p>
        </p:txBody>
      </p:sp>
      <p:sp>
        <p:nvSpPr>
          <p:cNvPr id="11" name="level-53"/>
          <p:cNvSpPr/>
          <p:nvPr/>
        </p:nvSpPr>
        <p:spPr>
          <a:xfrm>
            <a:off x="5029200" y="1371600"/>
            <a:ext cx="2103120" cy="1508760"/>
          </a:xfrm>
          <a:prstGeom prst="roundRect">
            <a:avLst>
              <a:gd name="adj" fmla="val 7273"/>
            </a:avLst>
          </a:prstGeom>
          <a:solidFill>
            <a:srgbClr val="C99206"/>
          </a:solidFill>
          <a:ln w="12700">
            <a:solidFill>
              <a:srgbClr val="C99206"/>
            </a:solidFill>
            <a:prstDash val="solid"/>
          </a:ln>
        </p:spPr>
      </p:sp>
      <p:sp>
        <p:nvSpPr>
          <p:cNvPr id="12" name="text-54"/>
          <p:cNvSpPr txBox="1"/>
          <p:nvPr/>
        </p:nvSpPr>
        <p:spPr>
          <a:xfrm>
            <a:off x="5212080" y="1508760"/>
            <a:ext cx="1737360" cy="411480"/>
          </a:xfrm>
          <a:prstGeom prst="rect">
            <a:avLst/>
          </a:prstGeom>
          <a:noFill/>
          <a:ln/>
        </p:spPr>
        <p:txBody>
          <a:bodyPr wrap="square" lIns="0" tIns="0" rIns="0" bIns="0" rtlCol="0" anchor="t"/>
          <a:lstStyle/>
          <a:p>
            <a:pPr indent="0" marL="0">
              <a:buNone/>
            </a:pPr>
            <a:r>
              <a:rPr lang="en-US" sz="2000" b="1" dirty="0">
                <a:solidFill>
                  <a:srgbClr val="FFFFFF"/>
                </a:solidFill>
              </a:rPr>
              <a:t>Moderate</a:t>
            </a:r>
            <a:endParaRPr lang="en-US" sz="2000" dirty="0"/>
          </a:p>
        </p:txBody>
      </p:sp>
      <p:sp>
        <p:nvSpPr>
          <p:cNvPr id="13" name="text-55"/>
          <p:cNvSpPr txBox="1"/>
          <p:nvPr/>
        </p:nvSpPr>
        <p:spPr>
          <a:xfrm>
            <a:off x="5212080" y="1965960"/>
            <a:ext cx="1737360" cy="411480"/>
          </a:xfrm>
          <a:prstGeom prst="rect">
            <a:avLst/>
          </a:prstGeom>
          <a:noFill/>
          <a:ln/>
        </p:spPr>
        <p:txBody>
          <a:bodyPr wrap="square" lIns="0" tIns="0" rIns="0" bIns="0" rtlCol="0" anchor="t"/>
          <a:lstStyle/>
          <a:p>
            <a:pPr indent="0" marL="0">
              <a:buNone/>
            </a:pPr>
            <a:r>
              <a:rPr lang="en-US" sz="1800" dirty="0">
                <a:solidFill>
                  <a:srgbClr val="FFFFFF"/>
                </a:solidFill>
              </a:rPr>
              <a:t>≥ 1.14 m</a:t>
            </a:r>
            <a:endParaRPr lang="en-US" sz="1800" dirty="0"/>
          </a:p>
        </p:txBody>
      </p:sp>
      <p:sp>
        <p:nvSpPr>
          <p:cNvPr id="14" name="text-56"/>
          <p:cNvSpPr txBox="1"/>
          <p:nvPr/>
        </p:nvSpPr>
        <p:spPr>
          <a:xfrm>
            <a:off x="5212080" y="2377440"/>
            <a:ext cx="1737360" cy="320040"/>
          </a:xfrm>
          <a:prstGeom prst="rect">
            <a:avLst/>
          </a:prstGeom>
          <a:noFill/>
          <a:ln/>
        </p:spPr>
        <p:txBody>
          <a:bodyPr wrap="square" lIns="0" tIns="0" rIns="0" bIns="0" rtlCol="0" anchor="t"/>
          <a:lstStyle/>
          <a:p>
            <a:pPr indent="0" marL="0">
              <a:buNone/>
            </a:pPr>
            <a:r>
              <a:rPr lang="en-US" sz="1300" dirty="0">
                <a:solidFill>
                  <a:srgbClr val="FFFFFF"/>
                </a:solidFill>
              </a:rPr>
              <a:t>from μ + 1σ</a:t>
            </a:r>
            <a:endParaRPr lang="en-US" sz="1300" dirty="0"/>
          </a:p>
        </p:txBody>
      </p:sp>
      <p:sp>
        <p:nvSpPr>
          <p:cNvPr id="15" name="level-57"/>
          <p:cNvSpPr/>
          <p:nvPr/>
        </p:nvSpPr>
        <p:spPr>
          <a:xfrm>
            <a:off x="7269480" y="1371600"/>
            <a:ext cx="2103120" cy="1508760"/>
          </a:xfrm>
          <a:prstGeom prst="roundRect">
            <a:avLst>
              <a:gd name="adj" fmla="val 7273"/>
            </a:avLst>
          </a:prstGeom>
          <a:solidFill>
            <a:srgbClr val="DD6418"/>
          </a:solidFill>
          <a:ln w="12700">
            <a:solidFill>
              <a:srgbClr val="DD6418"/>
            </a:solidFill>
            <a:prstDash val="solid"/>
          </a:ln>
        </p:spPr>
      </p:sp>
      <p:sp>
        <p:nvSpPr>
          <p:cNvPr id="16" name="text-58"/>
          <p:cNvSpPr txBox="1"/>
          <p:nvPr/>
        </p:nvSpPr>
        <p:spPr>
          <a:xfrm>
            <a:off x="7452360" y="1508760"/>
            <a:ext cx="1737360" cy="411480"/>
          </a:xfrm>
          <a:prstGeom prst="rect">
            <a:avLst/>
          </a:prstGeom>
          <a:noFill/>
          <a:ln/>
        </p:spPr>
        <p:txBody>
          <a:bodyPr wrap="square" lIns="0" tIns="0" rIns="0" bIns="0" rtlCol="0" anchor="t"/>
          <a:lstStyle/>
          <a:p>
            <a:pPr indent="0" marL="0">
              <a:buNone/>
            </a:pPr>
            <a:r>
              <a:rPr lang="en-US" sz="2000" b="1" dirty="0">
                <a:solidFill>
                  <a:srgbClr val="FFFFFF"/>
                </a:solidFill>
              </a:rPr>
              <a:t>High</a:t>
            </a:r>
            <a:endParaRPr lang="en-US" sz="2000" dirty="0"/>
          </a:p>
        </p:txBody>
      </p:sp>
      <p:sp>
        <p:nvSpPr>
          <p:cNvPr id="17" name="text-59"/>
          <p:cNvSpPr txBox="1"/>
          <p:nvPr/>
        </p:nvSpPr>
        <p:spPr>
          <a:xfrm>
            <a:off x="7452360" y="1965960"/>
            <a:ext cx="1737360" cy="411480"/>
          </a:xfrm>
          <a:prstGeom prst="rect">
            <a:avLst/>
          </a:prstGeom>
          <a:noFill/>
          <a:ln/>
        </p:spPr>
        <p:txBody>
          <a:bodyPr wrap="square" lIns="0" tIns="0" rIns="0" bIns="0" rtlCol="0" anchor="t"/>
          <a:lstStyle/>
          <a:p>
            <a:pPr indent="0" marL="0">
              <a:buNone/>
            </a:pPr>
            <a:r>
              <a:rPr lang="en-US" sz="1800" dirty="0">
                <a:solidFill>
                  <a:srgbClr val="FFFFFF"/>
                </a:solidFill>
              </a:rPr>
              <a:t>≥ 1.43 m</a:t>
            </a:r>
            <a:endParaRPr lang="en-US" sz="1800" dirty="0"/>
          </a:p>
        </p:txBody>
      </p:sp>
      <p:sp>
        <p:nvSpPr>
          <p:cNvPr id="18" name="text-60"/>
          <p:cNvSpPr txBox="1"/>
          <p:nvPr/>
        </p:nvSpPr>
        <p:spPr>
          <a:xfrm>
            <a:off x="7452360" y="2377440"/>
            <a:ext cx="1737360" cy="320040"/>
          </a:xfrm>
          <a:prstGeom prst="rect">
            <a:avLst/>
          </a:prstGeom>
          <a:noFill/>
          <a:ln/>
        </p:spPr>
        <p:txBody>
          <a:bodyPr wrap="square" lIns="0" tIns="0" rIns="0" bIns="0" rtlCol="0" anchor="t"/>
          <a:lstStyle/>
          <a:p>
            <a:pPr indent="0" marL="0">
              <a:buNone/>
            </a:pPr>
            <a:r>
              <a:rPr lang="en-US" sz="1300" dirty="0">
                <a:solidFill>
                  <a:srgbClr val="FFFFFF"/>
                </a:solidFill>
              </a:rPr>
              <a:t>from μ + 2σ</a:t>
            </a:r>
            <a:endParaRPr lang="en-US" sz="1300" dirty="0"/>
          </a:p>
        </p:txBody>
      </p:sp>
      <p:sp>
        <p:nvSpPr>
          <p:cNvPr id="19" name="level-61"/>
          <p:cNvSpPr/>
          <p:nvPr/>
        </p:nvSpPr>
        <p:spPr>
          <a:xfrm>
            <a:off x="9509760" y="1371600"/>
            <a:ext cx="2103120" cy="1508760"/>
          </a:xfrm>
          <a:prstGeom prst="roundRect">
            <a:avLst>
              <a:gd name="adj" fmla="val 7273"/>
            </a:avLst>
          </a:prstGeom>
          <a:solidFill>
            <a:srgbClr val="C62828"/>
          </a:solidFill>
          <a:ln w="12700">
            <a:solidFill>
              <a:srgbClr val="C62828"/>
            </a:solidFill>
            <a:prstDash val="solid"/>
          </a:ln>
        </p:spPr>
      </p:sp>
      <p:sp>
        <p:nvSpPr>
          <p:cNvPr id="20" name="text-62"/>
          <p:cNvSpPr txBox="1"/>
          <p:nvPr/>
        </p:nvSpPr>
        <p:spPr>
          <a:xfrm>
            <a:off x="9692640" y="1508760"/>
            <a:ext cx="1737360" cy="411480"/>
          </a:xfrm>
          <a:prstGeom prst="rect">
            <a:avLst/>
          </a:prstGeom>
          <a:noFill/>
          <a:ln/>
        </p:spPr>
        <p:txBody>
          <a:bodyPr wrap="square" lIns="0" tIns="0" rIns="0" bIns="0" rtlCol="0" anchor="t"/>
          <a:lstStyle/>
          <a:p>
            <a:pPr indent="0" marL="0">
              <a:buNone/>
            </a:pPr>
            <a:r>
              <a:rPr lang="en-US" sz="2000" b="1" dirty="0">
                <a:solidFill>
                  <a:srgbClr val="FFFFFF"/>
                </a:solidFill>
              </a:rPr>
              <a:t>Critical</a:t>
            </a:r>
            <a:endParaRPr lang="en-US" sz="2000" dirty="0"/>
          </a:p>
        </p:txBody>
      </p:sp>
      <p:sp>
        <p:nvSpPr>
          <p:cNvPr id="21" name="text-63"/>
          <p:cNvSpPr txBox="1"/>
          <p:nvPr/>
        </p:nvSpPr>
        <p:spPr>
          <a:xfrm>
            <a:off x="9692640" y="1965960"/>
            <a:ext cx="1737360" cy="411480"/>
          </a:xfrm>
          <a:prstGeom prst="rect">
            <a:avLst/>
          </a:prstGeom>
          <a:noFill/>
          <a:ln/>
        </p:spPr>
        <p:txBody>
          <a:bodyPr wrap="square" lIns="0" tIns="0" rIns="0" bIns="0" rtlCol="0" anchor="t"/>
          <a:lstStyle/>
          <a:p>
            <a:pPr indent="0" marL="0">
              <a:buNone/>
            </a:pPr>
            <a:r>
              <a:rPr lang="en-US" sz="1800" dirty="0">
                <a:solidFill>
                  <a:srgbClr val="FFFFFF"/>
                </a:solidFill>
              </a:rPr>
              <a:t>≥ 1.72 m</a:t>
            </a:r>
            <a:endParaRPr lang="en-US" sz="1800" dirty="0"/>
          </a:p>
        </p:txBody>
      </p:sp>
      <p:sp>
        <p:nvSpPr>
          <p:cNvPr id="22" name="text-64"/>
          <p:cNvSpPr txBox="1"/>
          <p:nvPr/>
        </p:nvSpPr>
        <p:spPr>
          <a:xfrm>
            <a:off x="9692640" y="2377440"/>
            <a:ext cx="1737360" cy="320040"/>
          </a:xfrm>
          <a:prstGeom prst="rect">
            <a:avLst/>
          </a:prstGeom>
          <a:noFill/>
          <a:ln/>
        </p:spPr>
        <p:txBody>
          <a:bodyPr wrap="square" lIns="0" tIns="0" rIns="0" bIns="0" rtlCol="0" anchor="t"/>
          <a:lstStyle/>
          <a:p>
            <a:pPr indent="0" marL="0">
              <a:buNone/>
            </a:pPr>
            <a:r>
              <a:rPr lang="en-US" sz="1300" dirty="0">
                <a:solidFill>
                  <a:srgbClr val="FFFFFF"/>
                </a:solidFill>
              </a:rPr>
              <a:t>from μ + 3σ</a:t>
            </a:r>
            <a:endParaRPr lang="en-US" sz="1300" dirty="0"/>
          </a:p>
        </p:txBody>
      </p:sp>
      <p:sp>
        <p:nvSpPr>
          <p:cNvPr id="23" name="text-65"/>
          <p:cNvSpPr txBox="1"/>
          <p:nvPr/>
        </p:nvSpPr>
        <p:spPr>
          <a:xfrm>
            <a:off x="7269480" y="2971800"/>
            <a:ext cx="4343400" cy="548640"/>
          </a:xfrm>
          <a:prstGeom prst="rect">
            <a:avLst/>
          </a:prstGeom>
          <a:noFill/>
          <a:ln/>
        </p:spPr>
        <p:txBody>
          <a:bodyPr wrap="square" lIns="0" tIns="0" rIns="0" bIns="0" rtlCol="0" anchor="t"/>
          <a:lstStyle/>
          <a:p>
            <a:pPr indent="0" marL="0">
              <a:buNone/>
            </a:pPr>
            <a:r>
              <a:rPr lang="en-US" sz="1300" b="1" dirty="0">
                <a:solidFill>
                  <a:srgbClr val="C62828"/>
                </a:solidFill>
              </a:rPr>
              <a:t>ALERT = High or Critical  (μ + 2σ is the flood threshold in the source paper's code)</a:t>
            </a:r>
            <a:endParaRPr lang="en-US" sz="1300" dirty="0"/>
          </a:p>
        </p:txBody>
      </p:sp>
      <p:sp>
        <p:nvSpPr>
          <p:cNvPr id="24" name="card-66"/>
          <p:cNvSpPr/>
          <p:nvPr/>
        </p:nvSpPr>
        <p:spPr>
          <a:xfrm>
            <a:off x="548640" y="3657600"/>
            <a:ext cx="5486400" cy="1874520"/>
          </a:xfrm>
          <a:prstGeom prst="roundRect">
            <a:avLst>
              <a:gd name="adj" fmla="val 5854"/>
            </a:avLst>
          </a:prstGeom>
          <a:solidFill>
            <a:srgbClr val="EEF3F6"/>
          </a:solidFill>
          <a:ln w="12700">
            <a:solidFill>
              <a:srgbClr val="EEF3F6"/>
            </a:solidFill>
            <a:prstDash val="solid"/>
          </a:ln>
        </p:spPr>
      </p:sp>
      <p:sp>
        <p:nvSpPr>
          <p:cNvPr id="25" name="text-67"/>
          <p:cNvSpPr txBox="1"/>
          <p:nvPr/>
        </p:nvSpPr>
        <p:spPr>
          <a:xfrm>
            <a:off x="822960" y="3794760"/>
            <a:ext cx="4937760" cy="365760"/>
          </a:xfrm>
          <a:prstGeom prst="rect">
            <a:avLst/>
          </a:prstGeom>
          <a:noFill/>
          <a:ln/>
        </p:spPr>
        <p:txBody>
          <a:bodyPr wrap="square" lIns="0" tIns="0" rIns="0" bIns="0" rtlCol="0" anchor="t"/>
          <a:lstStyle/>
          <a:p>
            <a:pPr indent="0" marL="0">
              <a:buNone/>
            </a:pPr>
            <a:r>
              <a:rPr lang="en-US" sz="1700" b="1" dirty="0">
                <a:solidFill>
                  <a:schemeClr val="tx1"/>
                </a:solidFill>
              </a:rPr>
              <a:t>How a label is made (proxy, not a recorded flood)</a:t>
            </a:r>
            <a:endParaRPr lang="en-US" sz="1700" dirty="0"/>
          </a:p>
        </p:txBody>
      </p:sp>
      <p:sp>
        <p:nvSpPr>
          <p:cNvPr id="26" name="text-68"/>
          <p:cNvSpPr txBox="1"/>
          <p:nvPr/>
        </p:nvSpPr>
        <p:spPr>
          <a:xfrm>
            <a:off x="822960" y="4206240"/>
            <a:ext cx="4937760" cy="1234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33475B"/>
                </a:solidFill>
              </a:rPr>
              <a:t>Label for time t at horizon h = the alert level of the water level actually observed at t + h.</a:t>
            </a:r>
            <a:endParaRPr lang="en-US" sz="1500" dirty="0"/>
          </a:p>
          <a:p>
            <a:pPr marL="342900" indent="-342900">
              <a:spcAft>
                <a:spcPts val="600"/>
              </a:spcAft>
              <a:buSzPct val="100000"/>
              <a:buChar char="•"/>
            </a:pPr>
            <a:r>
              <a:rPr lang="en-US" sz="1500" dirty="0">
                <a:solidFill>
                  <a:srgbClr val="33475B"/>
                </a:solidFill>
              </a:rPr>
              <a:t>μ and σ come from the training period only; no flood events exist in the data.</a:t>
            </a:r>
            <a:endParaRPr lang="en-US" sz="1500" dirty="0"/>
          </a:p>
        </p:txBody>
      </p:sp>
      <p:graphicFrame>
        <p:nvGraphicFramePr>
          <p:cNvPr id="27" name="label-balance-chart" descr=""/>
          <p:cNvGraphicFramePr/>
          <p:nvPr/>
        </p:nvGraphicFramePr>
        <p:xfrm>
          <a:off x="6400800" y="3611880"/>
          <a:ext cx="5239512" cy="20116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One pipeline, four techniques side by side</a:t>
            </a:r>
            <a:endParaRPr lang="en-US" sz="3400" dirty="0"/>
          </a:p>
        </p:txBody>
      </p:sp>
      <p:sp>
        <p:nvSpPr>
          <p:cNvPr id="3" name="stage-69"/>
          <p:cNvSpPr/>
          <p:nvPr/>
        </p:nvSpPr>
        <p:spPr>
          <a:xfrm>
            <a:off x="548640" y="2331720"/>
            <a:ext cx="1828800" cy="1097280"/>
          </a:xfrm>
          <a:prstGeom prst="roundRect">
            <a:avLst>
              <a:gd name="adj" fmla="val 10000"/>
            </a:avLst>
          </a:prstGeom>
          <a:solidFill>
            <a:srgbClr val="1B4965"/>
          </a:solidFill>
          <a:ln w="12700">
            <a:solidFill>
              <a:srgbClr val="1B4965"/>
            </a:solidFill>
            <a:prstDash val="solid"/>
          </a:ln>
        </p:spPr>
      </p:sp>
      <p:sp>
        <p:nvSpPr>
          <p:cNvPr id="4" name="text-70"/>
          <p:cNvSpPr txBox="1"/>
          <p:nvPr/>
        </p:nvSpPr>
        <p:spPr>
          <a:xfrm>
            <a:off x="685800" y="2441448"/>
            <a:ext cx="1554480" cy="365760"/>
          </a:xfrm>
          <a:prstGeom prst="rect">
            <a:avLst/>
          </a:prstGeom>
          <a:noFill/>
          <a:ln/>
        </p:spPr>
        <p:txBody>
          <a:bodyPr wrap="square" lIns="0" tIns="0" rIns="0" bIns="0" rtlCol="0" anchor="t"/>
          <a:lstStyle/>
          <a:p>
            <a:pPr indent="0" marL="0">
              <a:buNone/>
            </a:pPr>
            <a:r>
              <a:rPr lang="en-US" sz="1600" b="1" dirty="0">
                <a:solidFill>
                  <a:srgbClr val="FFFFFF"/>
                </a:solidFill>
              </a:rPr>
              <a:t>Sensors</a:t>
            </a:r>
            <a:endParaRPr lang="en-US" sz="1600" dirty="0"/>
          </a:p>
        </p:txBody>
      </p:sp>
      <p:sp>
        <p:nvSpPr>
          <p:cNvPr id="5" name="text-71"/>
          <p:cNvSpPr txBox="1"/>
          <p:nvPr/>
        </p:nvSpPr>
        <p:spPr>
          <a:xfrm>
            <a:off x="685800" y="2807208"/>
            <a:ext cx="1554480" cy="548640"/>
          </a:xfrm>
          <a:prstGeom prst="rect">
            <a:avLst/>
          </a:prstGeom>
          <a:noFill/>
          <a:ln/>
        </p:spPr>
        <p:txBody>
          <a:bodyPr wrap="square" lIns="0" tIns="0" rIns="0" bIns="0" rtlCol="0" anchor="t"/>
          <a:lstStyle/>
          <a:p>
            <a:pPr indent="0" marL="0">
              <a:buNone/>
            </a:pPr>
            <a:r>
              <a:rPr lang="en-US" sz="1200" dirty="0">
                <a:solidFill>
                  <a:srgbClr val="FFFFFF"/>
                </a:solidFill>
              </a:rPr>
              <a:t>water level, rain gauges / radar</a:t>
            </a:r>
            <a:endParaRPr lang="en-US" sz="1200" dirty="0"/>
          </a:p>
        </p:txBody>
      </p:sp>
      <p:sp>
        <p:nvSpPr>
          <p:cNvPr id="6" name="stage-72"/>
          <p:cNvSpPr/>
          <p:nvPr/>
        </p:nvSpPr>
        <p:spPr>
          <a:xfrm>
            <a:off x="2743200" y="2331720"/>
            <a:ext cx="2103120" cy="1097280"/>
          </a:xfrm>
          <a:prstGeom prst="roundRect">
            <a:avLst>
              <a:gd name="adj" fmla="val 10000"/>
            </a:avLst>
          </a:prstGeom>
          <a:solidFill>
            <a:srgbClr val="E07A1F"/>
          </a:solidFill>
          <a:ln w="12700">
            <a:solidFill>
              <a:srgbClr val="E07A1F"/>
            </a:solidFill>
            <a:prstDash val="solid"/>
          </a:ln>
        </p:spPr>
      </p:sp>
      <p:sp>
        <p:nvSpPr>
          <p:cNvPr id="7" name="text-73"/>
          <p:cNvSpPr txBox="1"/>
          <p:nvPr/>
        </p:nvSpPr>
        <p:spPr>
          <a:xfrm>
            <a:off x="2880360" y="2441448"/>
            <a:ext cx="1828800" cy="365760"/>
          </a:xfrm>
          <a:prstGeom prst="rect">
            <a:avLst/>
          </a:prstGeom>
          <a:noFill/>
          <a:ln/>
        </p:spPr>
        <p:txBody>
          <a:bodyPr wrap="square" lIns="0" tIns="0" rIns="0" bIns="0" rtlCol="0" anchor="t"/>
          <a:lstStyle/>
          <a:p>
            <a:pPr indent="0" marL="0">
              <a:buNone/>
            </a:pPr>
            <a:r>
              <a:rPr lang="en-US" sz="1600" b="1" dirty="0">
                <a:solidFill>
                  <a:srgbClr val="FFFFFF"/>
                </a:solidFill>
              </a:rPr>
              <a:t>Reliability layer</a:t>
            </a:r>
            <a:endParaRPr lang="en-US" sz="1600" dirty="0"/>
          </a:p>
        </p:txBody>
      </p:sp>
      <p:sp>
        <p:nvSpPr>
          <p:cNvPr id="8" name="text-74"/>
          <p:cNvSpPr txBox="1"/>
          <p:nvPr/>
        </p:nvSpPr>
        <p:spPr>
          <a:xfrm>
            <a:off x="2880360" y="2807208"/>
            <a:ext cx="1828800" cy="548640"/>
          </a:xfrm>
          <a:prstGeom prst="rect">
            <a:avLst/>
          </a:prstGeom>
          <a:noFill/>
          <a:ln/>
        </p:spPr>
        <p:txBody>
          <a:bodyPr wrap="square" lIns="0" tIns="0" rIns="0" bIns="0" rtlCol="0" anchor="t"/>
          <a:lstStyle/>
          <a:p>
            <a:pPr indent="0" marL="0">
              <a:buNone/>
            </a:pPr>
            <a:r>
              <a:rPr lang="en-US" sz="1200" dirty="0">
                <a:solidFill>
                  <a:srgbClr val="FFFFFF"/>
                </a:solidFill>
              </a:rPr>
              <a:t>optional: check readings, down-weight, fuse</a:t>
            </a:r>
            <a:endParaRPr lang="en-US" sz="1200" dirty="0"/>
          </a:p>
        </p:txBody>
      </p:sp>
      <p:sp>
        <p:nvSpPr>
          <p:cNvPr id="9" name="stage-75"/>
          <p:cNvSpPr/>
          <p:nvPr/>
        </p:nvSpPr>
        <p:spPr>
          <a:xfrm>
            <a:off x="5212080" y="2331720"/>
            <a:ext cx="1691640" cy="1097280"/>
          </a:xfrm>
          <a:prstGeom prst="roundRect">
            <a:avLst>
              <a:gd name="adj" fmla="val 10000"/>
            </a:avLst>
          </a:prstGeom>
          <a:solidFill>
            <a:srgbClr val="1B4965"/>
          </a:solidFill>
          <a:ln w="12700">
            <a:solidFill>
              <a:srgbClr val="1B4965"/>
            </a:solidFill>
            <a:prstDash val="solid"/>
          </a:ln>
        </p:spPr>
      </p:sp>
      <p:sp>
        <p:nvSpPr>
          <p:cNvPr id="10" name="text-76"/>
          <p:cNvSpPr txBox="1"/>
          <p:nvPr/>
        </p:nvSpPr>
        <p:spPr>
          <a:xfrm>
            <a:off x="5349240" y="2441448"/>
            <a:ext cx="1417320" cy="365760"/>
          </a:xfrm>
          <a:prstGeom prst="rect">
            <a:avLst/>
          </a:prstGeom>
          <a:noFill/>
          <a:ln/>
        </p:spPr>
        <p:txBody>
          <a:bodyPr wrap="square" lIns="0" tIns="0" rIns="0" bIns="0" rtlCol="0" anchor="t"/>
          <a:lstStyle/>
          <a:p>
            <a:pPr indent="0" marL="0">
              <a:buNone/>
            </a:pPr>
            <a:r>
              <a:rPr lang="en-US" sz="1600" b="1" dirty="0">
                <a:solidFill>
                  <a:srgbClr val="FFFFFF"/>
                </a:solidFill>
              </a:rPr>
              <a:t>3 inputs</a:t>
            </a:r>
            <a:endParaRPr lang="en-US" sz="1600" dirty="0"/>
          </a:p>
        </p:txBody>
      </p:sp>
      <p:sp>
        <p:nvSpPr>
          <p:cNvPr id="11" name="text-77"/>
          <p:cNvSpPr txBox="1"/>
          <p:nvPr/>
        </p:nvSpPr>
        <p:spPr>
          <a:xfrm>
            <a:off x="5349240" y="2807208"/>
            <a:ext cx="1417320" cy="548640"/>
          </a:xfrm>
          <a:prstGeom prst="rect">
            <a:avLst/>
          </a:prstGeom>
          <a:noFill/>
          <a:ln/>
        </p:spPr>
        <p:txBody>
          <a:bodyPr wrap="square" lIns="0" tIns="0" rIns="0" bIns="0" rtlCol="0" anchor="t"/>
          <a:lstStyle/>
          <a:p>
            <a:pPr indent="0" marL="0">
              <a:buNone/>
            </a:pPr>
            <a:r>
              <a:rPr lang="en-US" sz="1200" dirty="0">
                <a:solidFill>
                  <a:srgbClr val="FFFFFF"/>
                </a:solidFill>
              </a:rPr>
              <a:t>level · rate of rise · rain</a:t>
            </a:r>
            <a:endParaRPr lang="en-US" sz="1200" dirty="0"/>
          </a:p>
        </p:txBody>
      </p:sp>
      <p:sp>
        <p:nvSpPr>
          <p:cNvPr id="12" name="model-78"/>
          <p:cNvSpPr/>
          <p:nvPr/>
        </p:nvSpPr>
        <p:spPr>
          <a:xfrm>
            <a:off x="7406640" y="1371600"/>
            <a:ext cx="2103120" cy="594360"/>
          </a:xfrm>
          <a:prstGeom prst="roundRect">
            <a:avLst>
              <a:gd name="adj" fmla="val 15385"/>
            </a:avLst>
          </a:prstGeom>
          <a:solidFill>
            <a:srgbClr val="1D5FA8"/>
          </a:solidFill>
          <a:ln w="12700">
            <a:solidFill>
              <a:srgbClr val="1D5FA8"/>
            </a:solidFill>
            <a:prstDash val="solid"/>
          </a:ln>
        </p:spPr>
      </p:sp>
      <p:sp>
        <p:nvSpPr>
          <p:cNvPr id="13" name="text-79"/>
          <p:cNvSpPr txBox="1"/>
          <p:nvPr/>
        </p:nvSpPr>
        <p:spPr>
          <a:xfrm>
            <a:off x="7406640" y="1371600"/>
            <a:ext cx="2103120" cy="594360"/>
          </a:xfrm>
          <a:prstGeom prst="rect">
            <a:avLst/>
          </a:prstGeom>
          <a:noFill/>
          <a:ln/>
        </p:spPr>
        <p:txBody>
          <a:bodyPr wrap="square" lIns="0" tIns="0" rIns="0" bIns="0" rtlCol="0" anchor="ctr"/>
          <a:lstStyle/>
          <a:p>
            <a:pPr algn="ctr" indent="0" marL="0">
              <a:buNone/>
            </a:pPr>
            <a:r>
              <a:rPr lang="en-US" sz="1600" b="1" dirty="0">
                <a:solidFill>
                  <a:srgbClr val="FFFFFF"/>
                </a:solidFill>
              </a:rPr>
              <a:t>IT2FIS</a:t>
            </a:r>
            <a:endParaRPr lang="en-US" sz="1600" dirty="0"/>
          </a:p>
        </p:txBody>
      </p:sp>
      <p:sp>
        <p:nvSpPr>
          <p:cNvPr id="14" name="arrow-80"/>
          <p:cNvSpPr/>
          <p:nvPr/>
        </p:nvSpPr>
        <p:spPr>
          <a:xfrm flipV="1">
            <a:off x="6903720" y="1664208"/>
            <a:ext cx="502920" cy="1216152"/>
          </a:xfrm>
          <a:prstGeom prst="line">
            <a:avLst/>
          </a:prstGeom>
          <a:noFill/>
          <a:ln w="19050">
            <a:solidFill>
              <a:srgbClr val="8A9BAD"/>
            </a:solidFill>
            <a:prstDash val="solid"/>
            <a:tailEnd type="triangle"/>
          </a:ln>
        </p:spPr>
      </p:sp>
      <p:sp>
        <p:nvSpPr>
          <p:cNvPr id="15" name="arrow-81"/>
          <p:cNvSpPr/>
          <p:nvPr/>
        </p:nvSpPr>
        <p:spPr>
          <a:xfrm>
            <a:off x="9509760" y="1664208"/>
            <a:ext cx="411480" cy="1216152"/>
          </a:xfrm>
          <a:prstGeom prst="line">
            <a:avLst/>
          </a:prstGeom>
          <a:noFill/>
          <a:ln w="19050">
            <a:solidFill>
              <a:srgbClr val="8A9BAD"/>
            </a:solidFill>
            <a:prstDash val="solid"/>
            <a:tailEnd type="triangle"/>
          </a:ln>
        </p:spPr>
      </p:sp>
      <p:sp>
        <p:nvSpPr>
          <p:cNvPr id="16" name="model-82"/>
          <p:cNvSpPr/>
          <p:nvPr/>
        </p:nvSpPr>
        <p:spPr>
          <a:xfrm>
            <a:off x="7406640" y="2148840"/>
            <a:ext cx="2103120" cy="594360"/>
          </a:xfrm>
          <a:prstGeom prst="roundRect">
            <a:avLst>
              <a:gd name="adj" fmla="val 15385"/>
            </a:avLst>
          </a:prstGeom>
          <a:solidFill>
            <a:srgbClr val="7B4FB0"/>
          </a:solidFill>
          <a:ln w="12700">
            <a:solidFill>
              <a:srgbClr val="7B4FB0"/>
            </a:solidFill>
            <a:prstDash val="solid"/>
          </a:ln>
        </p:spPr>
      </p:sp>
      <p:sp>
        <p:nvSpPr>
          <p:cNvPr id="17" name="text-83"/>
          <p:cNvSpPr txBox="1"/>
          <p:nvPr/>
        </p:nvSpPr>
        <p:spPr>
          <a:xfrm>
            <a:off x="7406640" y="2148840"/>
            <a:ext cx="2103120" cy="594360"/>
          </a:xfrm>
          <a:prstGeom prst="rect">
            <a:avLst/>
          </a:prstGeom>
          <a:noFill/>
          <a:ln/>
        </p:spPr>
        <p:txBody>
          <a:bodyPr wrap="square" lIns="0" tIns="0" rIns="0" bIns="0" rtlCol="0" anchor="ctr"/>
          <a:lstStyle/>
          <a:p>
            <a:pPr algn="ctr" indent="0" marL="0">
              <a:buNone/>
            </a:pPr>
            <a:r>
              <a:rPr lang="en-US" sz="1600" b="1" dirty="0">
                <a:solidFill>
                  <a:srgbClr val="FFFFFF"/>
                </a:solidFill>
              </a:rPr>
              <a:t>PSO-IT2FIS</a:t>
            </a:r>
            <a:endParaRPr lang="en-US" sz="1600" dirty="0"/>
          </a:p>
        </p:txBody>
      </p:sp>
      <p:sp>
        <p:nvSpPr>
          <p:cNvPr id="18" name="arrow-84"/>
          <p:cNvSpPr/>
          <p:nvPr/>
        </p:nvSpPr>
        <p:spPr>
          <a:xfrm flipV="1">
            <a:off x="6903720" y="2441448"/>
            <a:ext cx="502920" cy="438912"/>
          </a:xfrm>
          <a:prstGeom prst="line">
            <a:avLst/>
          </a:prstGeom>
          <a:noFill/>
          <a:ln w="19050">
            <a:solidFill>
              <a:srgbClr val="8A9BAD"/>
            </a:solidFill>
            <a:prstDash val="solid"/>
            <a:tailEnd type="triangle"/>
          </a:ln>
        </p:spPr>
      </p:sp>
      <p:sp>
        <p:nvSpPr>
          <p:cNvPr id="19" name="arrow-85"/>
          <p:cNvSpPr/>
          <p:nvPr/>
        </p:nvSpPr>
        <p:spPr>
          <a:xfrm>
            <a:off x="9509760" y="2441448"/>
            <a:ext cx="411480" cy="438912"/>
          </a:xfrm>
          <a:prstGeom prst="line">
            <a:avLst/>
          </a:prstGeom>
          <a:noFill/>
          <a:ln w="19050">
            <a:solidFill>
              <a:srgbClr val="8A9BAD"/>
            </a:solidFill>
            <a:prstDash val="solid"/>
            <a:tailEnd type="triangle"/>
          </a:ln>
        </p:spPr>
      </p:sp>
      <p:sp>
        <p:nvSpPr>
          <p:cNvPr id="20" name="model-86"/>
          <p:cNvSpPr/>
          <p:nvPr/>
        </p:nvSpPr>
        <p:spPr>
          <a:xfrm>
            <a:off x="7406640" y="2926080"/>
            <a:ext cx="2103120" cy="594360"/>
          </a:xfrm>
          <a:prstGeom prst="roundRect">
            <a:avLst>
              <a:gd name="adj" fmla="val 15385"/>
            </a:avLst>
          </a:prstGeom>
          <a:solidFill>
            <a:srgbClr val="2F8F8A"/>
          </a:solidFill>
          <a:ln w="12700">
            <a:solidFill>
              <a:srgbClr val="2F8F8A"/>
            </a:solidFill>
            <a:prstDash val="solid"/>
          </a:ln>
        </p:spPr>
      </p:sp>
      <p:sp>
        <p:nvSpPr>
          <p:cNvPr id="21" name="text-87"/>
          <p:cNvSpPr txBox="1"/>
          <p:nvPr/>
        </p:nvSpPr>
        <p:spPr>
          <a:xfrm>
            <a:off x="7406640" y="2926080"/>
            <a:ext cx="2103120" cy="594360"/>
          </a:xfrm>
          <a:prstGeom prst="rect">
            <a:avLst/>
          </a:prstGeom>
          <a:noFill/>
          <a:ln/>
        </p:spPr>
        <p:txBody>
          <a:bodyPr wrap="square" lIns="0" tIns="0" rIns="0" bIns="0" rtlCol="0" anchor="ctr"/>
          <a:lstStyle/>
          <a:p>
            <a:pPr algn="ctr" indent="0" marL="0">
              <a:buNone/>
            </a:pPr>
            <a:r>
              <a:rPr lang="en-US" sz="1600" b="1" dirty="0">
                <a:solidFill>
                  <a:srgbClr val="FFFFFF"/>
                </a:solidFill>
              </a:rPr>
              <a:t>SOM</a:t>
            </a:r>
            <a:endParaRPr lang="en-US" sz="1600" dirty="0"/>
          </a:p>
        </p:txBody>
      </p:sp>
      <p:sp>
        <p:nvSpPr>
          <p:cNvPr id="22" name="arrow-88"/>
          <p:cNvSpPr/>
          <p:nvPr/>
        </p:nvSpPr>
        <p:spPr>
          <a:xfrm>
            <a:off x="6903720" y="2880360"/>
            <a:ext cx="502920" cy="338328"/>
          </a:xfrm>
          <a:prstGeom prst="line">
            <a:avLst/>
          </a:prstGeom>
          <a:noFill/>
          <a:ln w="19050">
            <a:solidFill>
              <a:srgbClr val="8A9BAD"/>
            </a:solidFill>
            <a:prstDash val="solid"/>
            <a:tailEnd type="triangle"/>
          </a:ln>
        </p:spPr>
      </p:sp>
      <p:sp>
        <p:nvSpPr>
          <p:cNvPr id="23" name="arrow-89"/>
          <p:cNvSpPr/>
          <p:nvPr/>
        </p:nvSpPr>
        <p:spPr>
          <a:xfrm flipV="1">
            <a:off x="9509760" y="2880360"/>
            <a:ext cx="411480" cy="338328"/>
          </a:xfrm>
          <a:prstGeom prst="line">
            <a:avLst/>
          </a:prstGeom>
          <a:noFill/>
          <a:ln w="19050">
            <a:solidFill>
              <a:srgbClr val="8A9BAD"/>
            </a:solidFill>
            <a:prstDash val="solid"/>
            <a:tailEnd type="triangle"/>
          </a:ln>
        </p:spPr>
      </p:sp>
      <p:sp>
        <p:nvSpPr>
          <p:cNvPr id="24" name="model-90"/>
          <p:cNvSpPr/>
          <p:nvPr/>
        </p:nvSpPr>
        <p:spPr>
          <a:xfrm>
            <a:off x="7406640" y="3703320"/>
            <a:ext cx="2103120" cy="594360"/>
          </a:xfrm>
          <a:prstGeom prst="roundRect">
            <a:avLst>
              <a:gd name="adj" fmla="val 15385"/>
            </a:avLst>
          </a:prstGeom>
          <a:solidFill>
            <a:srgbClr val="C2571A"/>
          </a:solidFill>
          <a:ln w="12700">
            <a:solidFill>
              <a:srgbClr val="C2571A"/>
            </a:solidFill>
            <a:prstDash val="solid"/>
          </a:ln>
        </p:spPr>
      </p:sp>
      <p:sp>
        <p:nvSpPr>
          <p:cNvPr id="25" name="text-91"/>
          <p:cNvSpPr txBox="1"/>
          <p:nvPr/>
        </p:nvSpPr>
        <p:spPr>
          <a:xfrm>
            <a:off x="7406640" y="3703320"/>
            <a:ext cx="2103120" cy="594360"/>
          </a:xfrm>
          <a:prstGeom prst="rect">
            <a:avLst/>
          </a:prstGeom>
          <a:noFill/>
          <a:ln/>
        </p:spPr>
        <p:txBody>
          <a:bodyPr wrap="square" lIns="0" tIns="0" rIns="0" bIns="0" rtlCol="0" anchor="ctr"/>
          <a:lstStyle/>
          <a:p>
            <a:pPr algn="ctr" indent="0" marL="0">
              <a:buNone/>
            </a:pPr>
            <a:r>
              <a:rPr lang="en-US" sz="1600" b="1" dirty="0">
                <a:solidFill>
                  <a:srgbClr val="FFFFFF"/>
                </a:solidFill>
              </a:rPr>
              <a:t>ANFIS</a:t>
            </a:r>
            <a:endParaRPr lang="en-US" sz="1600" dirty="0"/>
          </a:p>
        </p:txBody>
      </p:sp>
      <p:sp>
        <p:nvSpPr>
          <p:cNvPr id="26" name="arrow-92"/>
          <p:cNvSpPr/>
          <p:nvPr/>
        </p:nvSpPr>
        <p:spPr>
          <a:xfrm>
            <a:off x="6903720" y="2880360"/>
            <a:ext cx="502920" cy="1115568"/>
          </a:xfrm>
          <a:prstGeom prst="line">
            <a:avLst/>
          </a:prstGeom>
          <a:noFill/>
          <a:ln w="19050">
            <a:solidFill>
              <a:srgbClr val="8A9BAD"/>
            </a:solidFill>
            <a:prstDash val="solid"/>
            <a:tailEnd type="triangle"/>
          </a:ln>
        </p:spPr>
      </p:sp>
      <p:sp>
        <p:nvSpPr>
          <p:cNvPr id="27" name="arrow-93"/>
          <p:cNvSpPr/>
          <p:nvPr/>
        </p:nvSpPr>
        <p:spPr>
          <a:xfrm flipV="1">
            <a:off x="9509760" y="2880360"/>
            <a:ext cx="411480" cy="1115568"/>
          </a:xfrm>
          <a:prstGeom prst="line">
            <a:avLst/>
          </a:prstGeom>
          <a:noFill/>
          <a:ln w="19050">
            <a:solidFill>
              <a:srgbClr val="8A9BAD"/>
            </a:solidFill>
            <a:prstDash val="solid"/>
            <a:tailEnd type="triangle"/>
          </a:ln>
        </p:spPr>
      </p:sp>
      <p:sp>
        <p:nvSpPr>
          <p:cNvPr id="28" name="stage-94"/>
          <p:cNvSpPr/>
          <p:nvPr/>
        </p:nvSpPr>
        <p:spPr>
          <a:xfrm>
            <a:off x="9921240" y="2331720"/>
            <a:ext cx="1719072" cy="1097280"/>
          </a:xfrm>
          <a:prstGeom prst="roundRect">
            <a:avLst>
              <a:gd name="adj" fmla="val 10000"/>
            </a:avLst>
          </a:prstGeom>
          <a:solidFill>
            <a:srgbClr val="1C7C7D"/>
          </a:solidFill>
          <a:ln w="12700">
            <a:solidFill>
              <a:srgbClr val="1C7C7D"/>
            </a:solidFill>
            <a:prstDash val="solid"/>
          </a:ln>
        </p:spPr>
      </p:sp>
      <p:sp>
        <p:nvSpPr>
          <p:cNvPr id="29" name="text-95"/>
          <p:cNvSpPr txBox="1"/>
          <p:nvPr/>
        </p:nvSpPr>
        <p:spPr>
          <a:xfrm>
            <a:off x="10058400" y="2441448"/>
            <a:ext cx="1444752" cy="365760"/>
          </a:xfrm>
          <a:prstGeom prst="rect">
            <a:avLst/>
          </a:prstGeom>
          <a:noFill/>
          <a:ln/>
        </p:spPr>
        <p:txBody>
          <a:bodyPr wrap="square" lIns="0" tIns="0" rIns="0" bIns="0" rtlCol="0" anchor="t"/>
          <a:lstStyle/>
          <a:p>
            <a:pPr indent="0" marL="0">
              <a:buNone/>
            </a:pPr>
            <a:r>
              <a:rPr lang="en-US" sz="1600" b="1" dirty="0">
                <a:solidFill>
                  <a:srgbClr val="FFFFFF"/>
                </a:solidFill>
              </a:rPr>
              <a:t>Alert + reasons</a:t>
            </a:r>
            <a:endParaRPr lang="en-US" sz="1600" dirty="0"/>
          </a:p>
        </p:txBody>
      </p:sp>
      <p:sp>
        <p:nvSpPr>
          <p:cNvPr id="30" name="text-96"/>
          <p:cNvSpPr txBox="1"/>
          <p:nvPr/>
        </p:nvSpPr>
        <p:spPr>
          <a:xfrm>
            <a:off x="10058400" y="2807208"/>
            <a:ext cx="1444752" cy="548640"/>
          </a:xfrm>
          <a:prstGeom prst="rect">
            <a:avLst/>
          </a:prstGeom>
          <a:noFill/>
          <a:ln/>
        </p:spPr>
        <p:txBody>
          <a:bodyPr wrap="square" lIns="0" tIns="0" rIns="0" bIns="0" rtlCol="0" anchor="t"/>
          <a:lstStyle/>
          <a:p>
            <a:pPr indent="0" marL="0">
              <a:buNone/>
            </a:pPr>
            <a:r>
              <a:rPr lang="en-US" sz="1200" dirty="0">
                <a:solidFill>
                  <a:srgbClr val="FFFFFF"/>
                </a:solidFill>
              </a:rPr>
              <a:t>Normal … Critical</a:t>
            </a:r>
            <a:endParaRPr lang="en-US" sz="1200" dirty="0"/>
          </a:p>
        </p:txBody>
      </p:sp>
      <p:sp>
        <p:nvSpPr>
          <p:cNvPr id="31" name="arrow-97"/>
          <p:cNvSpPr/>
          <p:nvPr/>
        </p:nvSpPr>
        <p:spPr>
          <a:xfrm>
            <a:off x="2377440" y="2880360"/>
            <a:ext cx="365760" cy="914"/>
          </a:xfrm>
          <a:prstGeom prst="line">
            <a:avLst/>
          </a:prstGeom>
          <a:noFill/>
          <a:ln w="19050">
            <a:solidFill>
              <a:srgbClr val="8A9BAD"/>
            </a:solidFill>
            <a:prstDash val="solid"/>
            <a:tailEnd type="triangle"/>
          </a:ln>
        </p:spPr>
      </p:sp>
      <p:sp>
        <p:nvSpPr>
          <p:cNvPr id="32" name="arrow-98"/>
          <p:cNvSpPr/>
          <p:nvPr/>
        </p:nvSpPr>
        <p:spPr>
          <a:xfrm>
            <a:off x="4846320" y="2880360"/>
            <a:ext cx="365760" cy="914"/>
          </a:xfrm>
          <a:prstGeom prst="line">
            <a:avLst/>
          </a:prstGeom>
          <a:noFill/>
          <a:ln w="19050">
            <a:solidFill>
              <a:srgbClr val="8A9BAD"/>
            </a:solidFill>
            <a:prstDash val="solid"/>
            <a:tailEnd type="triangle"/>
          </a:ln>
        </p:spPr>
      </p:sp>
      <p:sp>
        <p:nvSpPr>
          <p:cNvPr id="33" name="text-99"/>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500" b="1" dirty="0">
                <a:solidFill>
                  <a:schemeClr val="tx1"/>
                </a:solidFill>
              </a:rPr>
              <a:t>Chronological split, no shuffling (Bengalas)</a:t>
            </a:r>
            <a:endParaRPr lang="en-US" sz="1500" dirty="0"/>
          </a:p>
        </p:txBody>
      </p:sp>
      <p:sp>
        <p:nvSpPr>
          <p:cNvPr id="34" name="split-100"/>
          <p:cNvSpPr/>
          <p:nvPr/>
        </p:nvSpPr>
        <p:spPr>
          <a:xfrm>
            <a:off x="548640" y="4800600"/>
            <a:ext cx="6166974" cy="502920"/>
          </a:xfrm>
          <a:prstGeom prst="rect">
            <a:avLst/>
          </a:prstGeom>
          <a:solidFill>
            <a:srgbClr val="1B4965"/>
          </a:solidFill>
          <a:ln w="12700">
            <a:solidFill>
              <a:srgbClr val="1B4965"/>
            </a:solidFill>
            <a:prstDash val="solid"/>
          </a:ln>
        </p:spPr>
      </p:sp>
      <p:sp>
        <p:nvSpPr>
          <p:cNvPr id="35" name="text-101"/>
          <p:cNvSpPr txBox="1"/>
          <p:nvPr/>
        </p:nvSpPr>
        <p:spPr>
          <a:xfrm>
            <a:off x="658368" y="4800600"/>
            <a:ext cx="5984094" cy="502920"/>
          </a:xfrm>
          <a:prstGeom prst="rect">
            <a:avLst/>
          </a:prstGeom>
          <a:noFill/>
          <a:ln/>
        </p:spPr>
        <p:txBody>
          <a:bodyPr wrap="square" lIns="0" tIns="0" rIns="0" bIns="0" rtlCol="0" anchor="ctr"/>
          <a:lstStyle/>
          <a:p>
            <a:pPr indent="0" marL="0">
              <a:buNone/>
            </a:pPr>
            <a:r>
              <a:rPr lang="en-US" sz="1300" b="1" dirty="0">
                <a:solidFill>
                  <a:srgbClr val="FFFFFF"/>
                </a:solidFill>
              </a:rPr>
              <a:t>Fit block (train 80 %) · 40,325 rows</a:t>
            </a:r>
            <a:endParaRPr lang="en-US" sz="1300" dirty="0"/>
          </a:p>
        </p:txBody>
      </p:sp>
      <p:sp>
        <p:nvSpPr>
          <p:cNvPr id="36" name="text-102"/>
          <p:cNvSpPr txBox="1"/>
          <p:nvPr/>
        </p:nvSpPr>
        <p:spPr>
          <a:xfrm>
            <a:off x="658368" y="5349240"/>
            <a:ext cx="6029814" cy="274320"/>
          </a:xfrm>
          <a:prstGeom prst="rect">
            <a:avLst/>
          </a:prstGeom>
          <a:noFill/>
          <a:ln/>
        </p:spPr>
        <p:txBody>
          <a:bodyPr wrap="square" lIns="0" tIns="0" rIns="0" bIns="0" rtlCol="0" anchor="t"/>
          <a:lstStyle/>
          <a:p>
            <a:pPr indent="0" marL="0">
              <a:buNone/>
            </a:pPr>
            <a:r>
              <a:rPr lang="en-US" sz="1200" dirty="0">
                <a:solidFill>
                  <a:srgbClr val="5B6B7C"/>
                </a:solidFill>
              </a:rPr>
              <a:t>2019-01 → 2021-10</a:t>
            </a:r>
            <a:endParaRPr lang="en-US" sz="1200" dirty="0"/>
          </a:p>
        </p:txBody>
      </p:sp>
      <p:sp>
        <p:nvSpPr>
          <p:cNvPr id="37" name="split-103"/>
          <p:cNvSpPr/>
          <p:nvPr/>
        </p:nvSpPr>
        <p:spPr>
          <a:xfrm>
            <a:off x="6761334" y="4800600"/>
            <a:ext cx="1507569" cy="502920"/>
          </a:xfrm>
          <a:prstGeom prst="rect">
            <a:avLst/>
          </a:prstGeom>
          <a:solidFill>
            <a:srgbClr val="5FA8D3"/>
          </a:solidFill>
          <a:ln w="12700">
            <a:solidFill>
              <a:srgbClr val="5FA8D3"/>
            </a:solidFill>
            <a:prstDash val="solid"/>
          </a:ln>
        </p:spPr>
      </p:sp>
      <p:sp>
        <p:nvSpPr>
          <p:cNvPr id="38" name="text-104"/>
          <p:cNvSpPr txBox="1"/>
          <p:nvPr/>
        </p:nvSpPr>
        <p:spPr>
          <a:xfrm>
            <a:off x="6871062" y="4800600"/>
            <a:ext cx="1324689" cy="502920"/>
          </a:xfrm>
          <a:prstGeom prst="rect">
            <a:avLst/>
          </a:prstGeom>
          <a:noFill/>
          <a:ln/>
        </p:spPr>
        <p:txBody>
          <a:bodyPr wrap="square" lIns="0" tIns="0" rIns="0" bIns="0" rtlCol="0" anchor="ctr"/>
          <a:lstStyle/>
          <a:p>
            <a:pPr indent="0" marL="0">
              <a:buNone/>
            </a:pPr>
            <a:r>
              <a:rPr lang="en-US" sz="1300" b="1" dirty="0">
                <a:solidFill>
                  <a:srgbClr val="FFFFFF"/>
                </a:solidFill>
              </a:rPr>
              <a:t>Validation · 10,082 rows</a:t>
            </a:r>
            <a:endParaRPr lang="en-US" sz="1300" dirty="0"/>
          </a:p>
        </p:txBody>
      </p:sp>
      <p:sp>
        <p:nvSpPr>
          <p:cNvPr id="39" name="text-105"/>
          <p:cNvSpPr txBox="1"/>
          <p:nvPr/>
        </p:nvSpPr>
        <p:spPr>
          <a:xfrm>
            <a:off x="6871062" y="5349240"/>
            <a:ext cx="1370409" cy="274320"/>
          </a:xfrm>
          <a:prstGeom prst="rect">
            <a:avLst/>
          </a:prstGeom>
          <a:noFill/>
          <a:ln/>
        </p:spPr>
        <p:txBody>
          <a:bodyPr wrap="square" lIns="0" tIns="0" rIns="0" bIns="0" rtlCol="0" anchor="t"/>
          <a:lstStyle/>
          <a:p>
            <a:pPr indent="0" marL="0">
              <a:buNone/>
            </a:pPr>
            <a:r>
              <a:rPr lang="en-US" sz="1200" dirty="0">
                <a:solidFill>
                  <a:srgbClr val="5B6B7C"/>
                </a:solidFill>
              </a:rPr>
              <a:t>→ 2022-07</a:t>
            </a:r>
            <a:endParaRPr lang="en-US" sz="1200" dirty="0"/>
          </a:p>
        </p:txBody>
      </p:sp>
      <p:sp>
        <p:nvSpPr>
          <p:cNvPr id="40" name="split-106"/>
          <p:cNvSpPr/>
          <p:nvPr/>
        </p:nvSpPr>
        <p:spPr>
          <a:xfrm>
            <a:off x="8314623" y="4800600"/>
            <a:ext cx="3282712" cy="502920"/>
          </a:xfrm>
          <a:prstGeom prst="rect">
            <a:avLst/>
          </a:prstGeom>
          <a:solidFill>
            <a:srgbClr val="1C7C7D"/>
          </a:solidFill>
          <a:ln w="12700">
            <a:solidFill>
              <a:srgbClr val="1C7C7D"/>
            </a:solidFill>
            <a:prstDash val="solid"/>
          </a:ln>
        </p:spPr>
      </p:sp>
      <p:sp>
        <p:nvSpPr>
          <p:cNvPr id="41" name="text-107"/>
          <p:cNvSpPr txBox="1"/>
          <p:nvPr/>
        </p:nvSpPr>
        <p:spPr>
          <a:xfrm>
            <a:off x="8424351" y="4800600"/>
            <a:ext cx="3099832" cy="502920"/>
          </a:xfrm>
          <a:prstGeom prst="rect">
            <a:avLst/>
          </a:prstGeom>
          <a:noFill/>
          <a:ln/>
        </p:spPr>
        <p:txBody>
          <a:bodyPr wrap="square" lIns="0" tIns="0" rIns="0" bIns="0" rtlCol="0" anchor="ctr"/>
          <a:lstStyle/>
          <a:p>
            <a:pPr indent="0" marL="0">
              <a:buNone/>
            </a:pPr>
            <a:r>
              <a:rPr lang="en-US" sz="1300" b="1" dirty="0">
                <a:solidFill>
                  <a:srgbClr val="FFFFFF"/>
                </a:solidFill>
              </a:rPr>
              <a:t>Test (used once) · 21,604 rows</a:t>
            </a:r>
            <a:endParaRPr lang="en-US" sz="1300" dirty="0"/>
          </a:p>
        </p:txBody>
      </p:sp>
      <p:sp>
        <p:nvSpPr>
          <p:cNvPr id="42" name="text-108"/>
          <p:cNvSpPr txBox="1"/>
          <p:nvPr/>
        </p:nvSpPr>
        <p:spPr>
          <a:xfrm>
            <a:off x="8424351" y="5349240"/>
            <a:ext cx="3145552" cy="274320"/>
          </a:xfrm>
          <a:prstGeom prst="rect">
            <a:avLst/>
          </a:prstGeom>
          <a:noFill/>
          <a:ln/>
        </p:spPr>
        <p:txBody>
          <a:bodyPr wrap="square" lIns="0" tIns="0" rIns="0" bIns="0" rtlCol="0" anchor="t"/>
          <a:lstStyle/>
          <a:p>
            <a:pPr indent="0" marL="0">
              <a:buNone/>
            </a:pPr>
            <a:r>
              <a:rPr lang="en-US" sz="1200" dirty="0">
                <a:solidFill>
                  <a:srgbClr val="5B6B7C"/>
                </a:solidFill>
              </a:rPr>
              <a:t>2022-07 → 2023-12</a:t>
            </a:r>
            <a:endParaRPr lang="en-US" sz="1200" dirty="0"/>
          </a:p>
        </p:txBody>
      </p:sp>
      <p:sp>
        <p:nvSpPr>
          <p:cNvPr id="43" name="card-109"/>
          <p:cNvSpPr/>
          <p:nvPr/>
        </p:nvSpPr>
        <p:spPr>
          <a:xfrm>
            <a:off x="548640" y="5760720"/>
            <a:ext cx="11094415" cy="548640"/>
          </a:xfrm>
          <a:prstGeom prst="roundRect">
            <a:avLst>
              <a:gd name="adj" fmla="val 20000"/>
            </a:avLst>
          </a:prstGeom>
          <a:solidFill>
            <a:srgbClr val="E3F1F1"/>
          </a:solidFill>
          <a:ln w="12700">
            <a:solidFill>
              <a:srgbClr val="E3F1F1"/>
            </a:solidFill>
            <a:prstDash val="solid"/>
          </a:ln>
        </p:spPr>
      </p:sp>
      <p:sp>
        <p:nvSpPr>
          <p:cNvPr id="44" name="text-110"/>
          <p:cNvSpPr txBox="1"/>
          <p:nvPr/>
        </p:nvSpPr>
        <p:spPr>
          <a:xfrm>
            <a:off x="777240" y="5760720"/>
            <a:ext cx="10637215" cy="548640"/>
          </a:xfrm>
          <a:prstGeom prst="rect">
            <a:avLst/>
          </a:prstGeom>
          <a:noFill/>
          <a:ln/>
        </p:spPr>
        <p:txBody>
          <a:bodyPr wrap="square" lIns="0" tIns="0" rIns="0" bIns="0" rtlCol="0" anchor="ctr"/>
          <a:lstStyle/>
          <a:p>
            <a:pPr indent="0" marL="0">
              <a:buNone/>
            </a:pPr>
            <a:r>
              <a:rPr lang="en-US" sz="1500" b="1" dirty="0">
                <a:solidFill>
                  <a:schemeClr val="accent1"/>
                </a:solidFill>
              </a:rPr>
              <a:t>Same inputs, same labels, same split: differences in the results come from the technique itself.</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IT2FIS: expert rules with uncertain boundaries</a:t>
            </a:r>
            <a:endParaRPr lang="en-US" sz="3400" dirty="0"/>
          </a:p>
        </p:txBody>
      </p:sp>
      <p:sp>
        <p:nvSpPr>
          <p:cNvPr id="3" name="dot-111"/>
          <p:cNvSpPr txBox="1"/>
          <p:nvPr/>
        </p:nvSpPr>
        <p:spPr>
          <a:xfrm>
            <a:off x="548640" y="1371600"/>
            <a:ext cx="411480" cy="411480"/>
          </a:xfrm>
          <a:prstGeom prst="ellipse">
            <a:avLst/>
          </a:prstGeom>
          <a:solidFill>
            <a:srgbClr val="1D5FA8"/>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4" name="text-112"/>
          <p:cNvSpPr txBox="1"/>
          <p:nvPr/>
        </p:nvSpPr>
        <p:spPr>
          <a:xfrm>
            <a:off x="1143000" y="1353312"/>
            <a:ext cx="4389120" cy="347472"/>
          </a:xfrm>
          <a:prstGeom prst="rect">
            <a:avLst/>
          </a:prstGeom>
          <a:noFill/>
          <a:ln/>
        </p:spPr>
        <p:txBody>
          <a:bodyPr wrap="square" lIns="0" tIns="0" rIns="0" bIns="0" rtlCol="0" anchor="t"/>
          <a:lstStyle/>
          <a:p>
            <a:pPr indent="0" marL="0">
              <a:buNone/>
            </a:pPr>
            <a:r>
              <a:rPr lang="en-US" sz="1700" b="1" dirty="0">
                <a:solidFill>
                  <a:schemeClr val="tx1"/>
                </a:solidFill>
              </a:rPr>
              <a:t>Fuzzify</a:t>
            </a:r>
            <a:endParaRPr lang="en-US" sz="1700" dirty="0"/>
          </a:p>
        </p:txBody>
      </p:sp>
      <p:sp>
        <p:nvSpPr>
          <p:cNvPr id="5" name="text-113"/>
          <p:cNvSpPr txBox="1"/>
          <p:nvPr/>
        </p:nvSpPr>
        <p:spPr>
          <a:xfrm>
            <a:off x="1143000" y="1700784"/>
            <a:ext cx="4389120" cy="685800"/>
          </a:xfrm>
          <a:prstGeom prst="rect">
            <a:avLst/>
          </a:prstGeom>
          <a:noFill/>
          <a:ln/>
        </p:spPr>
        <p:txBody>
          <a:bodyPr wrap="square" lIns="0" tIns="0" rIns="0" bIns="0" rtlCol="0" anchor="t"/>
          <a:lstStyle/>
          <a:p>
            <a:pPr indent="0" marL="0">
              <a:buNone/>
            </a:pPr>
            <a:r>
              <a:rPr lang="en-US" sz="1400" dirty="0">
                <a:solidFill>
                  <a:srgbClr val="33475B"/>
                </a:solidFill>
              </a:rPr>
              <a:t>Each input gets a lower and an upper membership grade in each term (level has 5 terms; rise and rain have 4).</a:t>
            </a:r>
            <a:endParaRPr lang="en-US" sz="1400" dirty="0"/>
          </a:p>
        </p:txBody>
      </p:sp>
      <p:sp>
        <p:nvSpPr>
          <p:cNvPr id="6" name="dot-114"/>
          <p:cNvSpPr txBox="1"/>
          <p:nvPr/>
        </p:nvSpPr>
        <p:spPr>
          <a:xfrm>
            <a:off x="548640" y="2423160"/>
            <a:ext cx="411480" cy="411480"/>
          </a:xfrm>
          <a:prstGeom prst="ellipse">
            <a:avLst/>
          </a:prstGeom>
          <a:solidFill>
            <a:srgbClr val="1D5FA8"/>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7" name="text-115"/>
          <p:cNvSpPr txBox="1"/>
          <p:nvPr/>
        </p:nvSpPr>
        <p:spPr>
          <a:xfrm>
            <a:off x="1143000" y="2404872"/>
            <a:ext cx="4389120" cy="347472"/>
          </a:xfrm>
          <a:prstGeom prst="rect">
            <a:avLst/>
          </a:prstGeom>
          <a:noFill/>
          <a:ln/>
        </p:spPr>
        <p:txBody>
          <a:bodyPr wrap="square" lIns="0" tIns="0" rIns="0" bIns="0" rtlCol="0" anchor="t"/>
          <a:lstStyle/>
          <a:p>
            <a:pPr indent="0" marL="0">
              <a:buNone/>
            </a:pPr>
            <a:r>
              <a:rPr lang="en-US" sz="1700" b="1" dirty="0">
                <a:solidFill>
                  <a:schemeClr val="tx1"/>
                </a:solidFill>
              </a:rPr>
              <a:t>Fire 80 rules</a:t>
            </a:r>
            <a:endParaRPr lang="en-US" sz="1700" dirty="0"/>
          </a:p>
        </p:txBody>
      </p:sp>
      <p:sp>
        <p:nvSpPr>
          <p:cNvPr id="8" name="text-116"/>
          <p:cNvSpPr txBox="1"/>
          <p:nvPr/>
        </p:nvSpPr>
        <p:spPr>
          <a:xfrm>
            <a:off x="1143000" y="2752344"/>
            <a:ext cx="4389120" cy="685800"/>
          </a:xfrm>
          <a:prstGeom prst="rect">
            <a:avLst/>
          </a:prstGeom>
          <a:noFill/>
          <a:ln/>
        </p:spPr>
        <p:txBody>
          <a:bodyPr wrap="square" lIns="0" tIns="0" rIns="0" bIns="0" rtlCol="0" anchor="t"/>
          <a:lstStyle/>
          <a:p>
            <a:pPr indent="0" marL="0">
              <a:buNone/>
            </a:pPr>
            <a:r>
              <a:rPr lang="en-US" sz="1400" dirty="0">
                <a:solidFill>
                  <a:srgbClr val="33475B"/>
                </a:solidFill>
              </a:rPr>
              <a:t>e.g. IF level is Elevated AND rise is Rising AND rain is Heavy THEN risk is Critical.</a:t>
            </a:r>
            <a:endParaRPr lang="en-US" sz="1400" dirty="0"/>
          </a:p>
        </p:txBody>
      </p:sp>
      <p:sp>
        <p:nvSpPr>
          <p:cNvPr id="9" name="dot-117"/>
          <p:cNvSpPr txBox="1"/>
          <p:nvPr/>
        </p:nvSpPr>
        <p:spPr>
          <a:xfrm>
            <a:off x="548640" y="3474720"/>
            <a:ext cx="411480" cy="411480"/>
          </a:xfrm>
          <a:prstGeom prst="ellipse">
            <a:avLst/>
          </a:prstGeom>
          <a:solidFill>
            <a:srgbClr val="1D5FA8"/>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0" name="text-118"/>
          <p:cNvSpPr txBox="1"/>
          <p:nvPr/>
        </p:nvSpPr>
        <p:spPr>
          <a:xfrm>
            <a:off x="1143000" y="3456432"/>
            <a:ext cx="4389120" cy="347472"/>
          </a:xfrm>
          <a:prstGeom prst="rect">
            <a:avLst/>
          </a:prstGeom>
          <a:noFill/>
          <a:ln/>
        </p:spPr>
        <p:txBody>
          <a:bodyPr wrap="square" lIns="0" tIns="0" rIns="0" bIns="0" rtlCol="0" anchor="t"/>
          <a:lstStyle/>
          <a:p>
            <a:pPr indent="0" marL="0">
              <a:buNone/>
            </a:pPr>
            <a:r>
              <a:rPr lang="en-US" sz="1700" b="1" dirty="0">
                <a:solidFill>
                  <a:schemeClr val="tx1"/>
                </a:solidFill>
              </a:rPr>
              <a:t>Type-reduce</a:t>
            </a:r>
            <a:endParaRPr lang="en-US" sz="1700" dirty="0"/>
          </a:p>
        </p:txBody>
      </p:sp>
      <p:sp>
        <p:nvSpPr>
          <p:cNvPr id="11" name="text-119"/>
          <p:cNvSpPr txBox="1"/>
          <p:nvPr/>
        </p:nvSpPr>
        <p:spPr>
          <a:xfrm>
            <a:off x="1143000" y="3803904"/>
            <a:ext cx="4389120" cy="685800"/>
          </a:xfrm>
          <a:prstGeom prst="rect">
            <a:avLst/>
          </a:prstGeom>
          <a:noFill/>
          <a:ln/>
        </p:spPr>
        <p:txBody>
          <a:bodyPr wrap="square" lIns="0" tIns="0" rIns="0" bIns="0" rtlCol="0" anchor="t"/>
          <a:lstStyle/>
          <a:p>
            <a:pPr indent="0" marL="0">
              <a:buNone/>
            </a:pPr>
            <a:r>
              <a:rPr lang="en-US" sz="1400" dirty="0">
                <a:solidFill>
                  <a:srgbClr val="33475B"/>
                </a:solidFill>
              </a:rPr>
              <a:t>Karnik–Mendel gives a risk interval [yl, yr] on a 0–100 scale.</a:t>
            </a:r>
            <a:endParaRPr lang="en-US" sz="1400" dirty="0"/>
          </a:p>
        </p:txBody>
      </p:sp>
      <p:sp>
        <p:nvSpPr>
          <p:cNvPr id="12" name="dot-120"/>
          <p:cNvSpPr txBox="1"/>
          <p:nvPr/>
        </p:nvSpPr>
        <p:spPr>
          <a:xfrm>
            <a:off x="548640" y="4526280"/>
            <a:ext cx="411480" cy="411480"/>
          </a:xfrm>
          <a:prstGeom prst="ellipse">
            <a:avLst/>
          </a:prstGeom>
          <a:solidFill>
            <a:srgbClr val="1D5FA8"/>
          </a:solid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3" name="text-121"/>
          <p:cNvSpPr txBox="1"/>
          <p:nvPr/>
        </p:nvSpPr>
        <p:spPr>
          <a:xfrm>
            <a:off x="1143000" y="4507992"/>
            <a:ext cx="4389120" cy="347472"/>
          </a:xfrm>
          <a:prstGeom prst="rect">
            <a:avLst/>
          </a:prstGeom>
          <a:noFill/>
          <a:ln/>
        </p:spPr>
        <p:txBody>
          <a:bodyPr wrap="square" lIns="0" tIns="0" rIns="0" bIns="0" rtlCol="0" anchor="t"/>
          <a:lstStyle/>
          <a:p>
            <a:pPr indent="0" marL="0">
              <a:buNone/>
            </a:pPr>
            <a:r>
              <a:rPr lang="en-US" sz="1700" b="1" dirty="0">
                <a:solidFill>
                  <a:schemeClr val="tx1"/>
                </a:solidFill>
              </a:rPr>
              <a:t>Decide</a:t>
            </a:r>
            <a:endParaRPr lang="en-US" sz="1700" dirty="0"/>
          </a:p>
        </p:txBody>
      </p:sp>
      <p:sp>
        <p:nvSpPr>
          <p:cNvPr id="14" name="text-122"/>
          <p:cNvSpPr txBox="1"/>
          <p:nvPr/>
        </p:nvSpPr>
        <p:spPr>
          <a:xfrm>
            <a:off x="1143000" y="4855464"/>
            <a:ext cx="4389120" cy="685800"/>
          </a:xfrm>
          <a:prstGeom prst="rect">
            <a:avLst/>
          </a:prstGeom>
          <a:noFill/>
          <a:ln/>
        </p:spPr>
        <p:txBody>
          <a:bodyPr wrap="square" lIns="0" tIns="0" rIns="0" bIns="0" rtlCol="0" anchor="t"/>
          <a:lstStyle/>
          <a:p>
            <a:pPr indent="0" marL="0">
              <a:buNone/>
            </a:pPr>
            <a:r>
              <a:rPr lang="en-US" sz="1400" dirty="0">
                <a:solidFill>
                  <a:srgbClr val="33475B"/>
                </a:solidFill>
              </a:rPr>
              <a:t>Midpoint → band: 0–20 Normal … 80–100 Critical.</a:t>
            </a:r>
            <a:endParaRPr lang="en-US" sz="1400" dirty="0"/>
          </a:p>
        </p:txBody>
      </p:sp>
      <p:graphicFrame>
        <p:nvGraphicFramePr>
          <p:cNvPr id="15" name="it2-mf-chart" descr=""/>
          <p:cNvGraphicFramePr/>
          <p:nvPr/>
        </p:nvGraphicFramePr>
        <p:xfrm>
          <a:off x="5486400" y="1325880"/>
          <a:ext cx="6153912" cy="4160520"/>
        </p:xfrm>
        <a:graphic xmlns:a="http://schemas.openxmlformats.org/drawingml/2006/main">
          <a:graphicData uri="http://schemas.openxmlformats.org/drawingml/2006/chart">
            <c:chart xmlns:c="http://schemas.openxmlformats.org/drawingml/2006/chart" r:id="rId1"/>
          </a:graphicData>
        </a:graphic>
      </p:graphicFrame>
      <p:sp>
        <p:nvSpPr>
          <p:cNvPr id="16" name="card-123"/>
          <p:cNvSpPr/>
          <p:nvPr/>
        </p:nvSpPr>
        <p:spPr>
          <a:xfrm>
            <a:off x="548640" y="5715000"/>
            <a:ext cx="11094415" cy="548640"/>
          </a:xfrm>
          <a:prstGeom prst="roundRect">
            <a:avLst>
              <a:gd name="adj" fmla="val 20000"/>
            </a:avLst>
          </a:prstGeom>
          <a:solidFill>
            <a:srgbClr val="E3F1F1"/>
          </a:solidFill>
          <a:ln w="12700">
            <a:solidFill>
              <a:srgbClr val="E3F1F1"/>
            </a:solidFill>
            <a:prstDash val="solid"/>
          </a:ln>
        </p:spPr>
      </p:sp>
      <p:sp>
        <p:nvSpPr>
          <p:cNvPr id="17" name="text-124"/>
          <p:cNvSpPr txBox="1"/>
          <p:nvPr/>
        </p:nvSpPr>
        <p:spPr>
          <a:xfrm>
            <a:off x="777240" y="5715000"/>
            <a:ext cx="10637215" cy="548640"/>
          </a:xfrm>
          <a:prstGeom prst="rect">
            <a:avLst/>
          </a:prstGeom>
          <a:noFill/>
          <a:ln/>
        </p:spPr>
        <p:txBody>
          <a:bodyPr wrap="square" lIns="0" tIns="0" rIns="0" bIns="0" rtlCol="0" anchor="ctr"/>
          <a:lstStyle/>
          <a:p>
            <a:pPr indent="0" marL="0">
              <a:buNone/>
            </a:pPr>
            <a:r>
              <a:rPr lang="en-US" sz="1500" b="1" dirty="0">
                <a:solidFill>
                  <a:schemeClr val="accent1"/>
                </a:solidFill>
              </a:rPr>
              <a:t>Nothing is trained on labels: boundaries come from training statistics, the band from year-to-year variation.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PSO: tuning where the fuzzy sets sit</a:t>
            </a:r>
            <a:endParaRPr lang="en-US" sz="3400" dirty="0"/>
          </a:p>
        </p:txBody>
      </p:sp>
      <p:sp>
        <p:nvSpPr>
          <p:cNvPr id="3" name="card-125"/>
          <p:cNvSpPr/>
          <p:nvPr/>
        </p:nvSpPr>
        <p:spPr>
          <a:xfrm>
            <a:off x="548640" y="1325880"/>
            <a:ext cx="5669280" cy="1280160"/>
          </a:xfrm>
          <a:prstGeom prst="roundRect">
            <a:avLst>
              <a:gd name="adj" fmla="val 8571"/>
            </a:avLst>
          </a:prstGeom>
          <a:solidFill>
            <a:srgbClr val="EEF3F6"/>
          </a:solidFill>
          <a:ln w="12700">
            <a:solidFill>
              <a:srgbClr val="EEF3F6"/>
            </a:solidFill>
            <a:prstDash val="solid"/>
          </a:ln>
        </p:spPr>
      </p:sp>
      <p:sp>
        <p:nvSpPr>
          <p:cNvPr id="4" name="text-126"/>
          <p:cNvSpPr txBox="1"/>
          <p:nvPr/>
        </p:nvSpPr>
        <p:spPr>
          <a:xfrm>
            <a:off x="777240" y="1435608"/>
            <a:ext cx="5212080" cy="347472"/>
          </a:xfrm>
          <a:prstGeom prst="rect">
            <a:avLst/>
          </a:prstGeom>
          <a:noFill/>
          <a:ln/>
        </p:spPr>
        <p:txBody>
          <a:bodyPr wrap="square" lIns="0" tIns="0" rIns="0" bIns="0" rtlCol="0" anchor="t"/>
          <a:lstStyle/>
          <a:p>
            <a:pPr indent="0" marL="0">
              <a:buNone/>
            </a:pPr>
            <a:r>
              <a:rPr lang="en-US" sz="1700" b="1" dirty="0">
                <a:solidFill>
                  <a:srgbClr val="7B4FB0"/>
                </a:solidFill>
              </a:rPr>
              <a:t>What is optimised</a:t>
            </a:r>
            <a:endParaRPr lang="en-US" sz="1700" dirty="0"/>
          </a:p>
        </p:txBody>
      </p:sp>
      <p:sp>
        <p:nvSpPr>
          <p:cNvPr id="5" name="text-127"/>
          <p:cNvSpPr txBox="1"/>
          <p:nvPr/>
        </p:nvSpPr>
        <p:spPr>
          <a:xfrm>
            <a:off x="777240" y="1783080"/>
            <a:ext cx="5212080" cy="777240"/>
          </a:xfrm>
          <a:prstGeom prst="rect">
            <a:avLst/>
          </a:prstGeom>
          <a:noFill/>
          <a:ln/>
        </p:spPr>
        <p:txBody>
          <a:bodyPr wrap="square" lIns="0" tIns="0" rIns="0" bIns="0" rtlCol="0" anchor="t"/>
          <a:lstStyle/>
          <a:p>
            <a:pPr indent="0" marL="0">
              <a:buNone/>
            </a:pPr>
            <a:r>
              <a:rPr lang="en-US" sz="1400" dirty="0">
                <a:solidFill>
                  <a:srgbClr val="33475B"/>
                </a:solidFill>
              </a:rPr>
              <a:t>11 numbers: a shift for each of the 10 crossover points (4 level, 3 rise, 3 rain; at most 40 % of the gap to a neighbour) and 1 scale for the uncertainty band (0–3×). Rules and inference stay unchanged.</a:t>
            </a:r>
            <a:endParaRPr lang="en-US" sz="1400" dirty="0"/>
          </a:p>
        </p:txBody>
      </p:sp>
      <p:sp>
        <p:nvSpPr>
          <p:cNvPr id="6" name="card-128"/>
          <p:cNvSpPr/>
          <p:nvPr/>
        </p:nvSpPr>
        <p:spPr>
          <a:xfrm>
            <a:off x="548640" y="2743200"/>
            <a:ext cx="5669280" cy="1280160"/>
          </a:xfrm>
          <a:prstGeom prst="roundRect">
            <a:avLst>
              <a:gd name="adj" fmla="val 8571"/>
            </a:avLst>
          </a:prstGeom>
          <a:solidFill>
            <a:srgbClr val="EEF3F6"/>
          </a:solidFill>
          <a:ln w="12700">
            <a:solidFill>
              <a:srgbClr val="EEF3F6"/>
            </a:solidFill>
            <a:prstDash val="solid"/>
          </a:ln>
        </p:spPr>
      </p:sp>
      <p:sp>
        <p:nvSpPr>
          <p:cNvPr id="7" name="text-129"/>
          <p:cNvSpPr txBox="1"/>
          <p:nvPr/>
        </p:nvSpPr>
        <p:spPr>
          <a:xfrm>
            <a:off x="777240" y="2852928"/>
            <a:ext cx="5212080" cy="347472"/>
          </a:xfrm>
          <a:prstGeom prst="rect">
            <a:avLst/>
          </a:prstGeom>
          <a:noFill/>
          <a:ln/>
        </p:spPr>
        <p:txBody>
          <a:bodyPr wrap="square" lIns="0" tIns="0" rIns="0" bIns="0" rtlCol="0" anchor="t"/>
          <a:lstStyle/>
          <a:p>
            <a:pPr indent="0" marL="0">
              <a:buNone/>
            </a:pPr>
            <a:r>
              <a:rPr lang="en-US" sz="1700" b="1" dirty="0">
                <a:solidFill>
                  <a:srgbClr val="7B4FB0"/>
                </a:solidFill>
              </a:rPr>
              <a:t>Objective</a:t>
            </a:r>
            <a:endParaRPr lang="en-US" sz="1700" dirty="0"/>
          </a:p>
        </p:txBody>
      </p:sp>
      <p:sp>
        <p:nvSpPr>
          <p:cNvPr id="8" name="text-130"/>
          <p:cNvSpPr txBox="1"/>
          <p:nvPr/>
        </p:nvSpPr>
        <p:spPr>
          <a:xfrm>
            <a:off x="777240" y="3200400"/>
            <a:ext cx="5212080" cy="777240"/>
          </a:xfrm>
          <a:prstGeom prst="rect">
            <a:avLst/>
          </a:prstGeom>
          <a:noFill/>
          <a:ln/>
        </p:spPr>
        <p:txBody>
          <a:bodyPr wrap="square" lIns="0" tIns="0" rIns="0" bIns="0" rtlCol="0" anchor="t"/>
          <a:lstStyle/>
          <a:p>
            <a:pPr indent="0" marL="0">
              <a:buNone/>
            </a:pPr>
            <a:r>
              <a:rPr lang="en-US" sz="1400" dirty="0">
                <a:solidFill>
                  <a:srgbClr val="33475B"/>
                </a:solidFill>
              </a:rPr>
              <a:t>Validation alert F1 + 0.25 × five-level macro F1, on the last 20 % of the training period, per horizon. The test period is never used.</a:t>
            </a:r>
            <a:endParaRPr lang="en-US" sz="1400" dirty="0"/>
          </a:p>
        </p:txBody>
      </p:sp>
      <p:sp>
        <p:nvSpPr>
          <p:cNvPr id="9" name="card-131"/>
          <p:cNvSpPr/>
          <p:nvPr/>
        </p:nvSpPr>
        <p:spPr>
          <a:xfrm>
            <a:off x="548640" y="4160520"/>
            <a:ext cx="5669280" cy="1280160"/>
          </a:xfrm>
          <a:prstGeom prst="roundRect">
            <a:avLst>
              <a:gd name="adj" fmla="val 8571"/>
            </a:avLst>
          </a:prstGeom>
          <a:solidFill>
            <a:srgbClr val="EEF3F6"/>
          </a:solidFill>
          <a:ln w="12700">
            <a:solidFill>
              <a:srgbClr val="EEF3F6"/>
            </a:solidFill>
            <a:prstDash val="solid"/>
          </a:ln>
        </p:spPr>
      </p:sp>
      <p:sp>
        <p:nvSpPr>
          <p:cNvPr id="10" name="text-132"/>
          <p:cNvSpPr txBox="1"/>
          <p:nvPr/>
        </p:nvSpPr>
        <p:spPr>
          <a:xfrm>
            <a:off x="777240" y="4270248"/>
            <a:ext cx="5212080" cy="347472"/>
          </a:xfrm>
          <a:prstGeom prst="rect">
            <a:avLst/>
          </a:prstGeom>
          <a:noFill/>
          <a:ln/>
        </p:spPr>
        <p:txBody>
          <a:bodyPr wrap="square" lIns="0" tIns="0" rIns="0" bIns="0" rtlCol="0" anchor="t"/>
          <a:lstStyle/>
          <a:p>
            <a:pPr indent="0" marL="0">
              <a:buNone/>
            </a:pPr>
            <a:r>
              <a:rPr lang="en-US" sz="1700" b="1" dirty="0">
                <a:solidFill>
                  <a:srgbClr val="7B4FB0"/>
                </a:solidFill>
              </a:rPr>
              <a:t>Swarm</a:t>
            </a:r>
            <a:endParaRPr lang="en-US" sz="1700" dirty="0"/>
          </a:p>
        </p:txBody>
      </p:sp>
      <p:sp>
        <p:nvSpPr>
          <p:cNvPr id="11" name="text-133"/>
          <p:cNvSpPr txBox="1"/>
          <p:nvPr/>
        </p:nvSpPr>
        <p:spPr>
          <a:xfrm>
            <a:off x="777240" y="4617720"/>
            <a:ext cx="5212080" cy="777240"/>
          </a:xfrm>
          <a:prstGeom prst="rect">
            <a:avLst/>
          </a:prstGeom>
          <a:noFill/>
          <a:ln/>
        </p:spPr>
        <p:txBody>
          <a:bodyPr wrap="square" lIns="0" tIns="0" rIns="0" bIns="0" rtlCol="0" anchor="t"/>
          <a:lstStyle/>
          <a:p>
            <a:pPr indent="0" marL="0">
              <a:buNone/>
            </a:pPr>
            <a:r>
              <a:rPr lang="en-US" sz="1400" dirty="0">
                <a:solidFill>
                  <a:srgbClr val="33475B"/>
                </a:solidFill>
              </a:rPr>
              <a:t>20 particles × 20 iterations; inertia 0.7, c1 = c2 = 1.5; velocity clamped at 20 % of each range. Particle 0 = the untuned IT2FIS.</a:t>
            </a:r>
            <a:endParaRPr lang="en-US" sz="1400" dirty="0"/>
          </a:p>
        </p:txBody>
      </p:sp>
      <p:graphicFrame>
        <p:nvGraphicFramePr>
          <p:cNvPr id="12" name="pso-convergence-chart" descr=""/>
          <p:cNvGraphicFramePr/>
          <p:nvPr/>
        </p:nvGraphicFramePr>
        <p:xfrm>
          <a:off x="6537960" y="1325880"/>
          <a:ext cx="5102352" cy="3291840"/>
        </p:xfrm>
        <a:graphic xmlns:a="http://schemas.openxmlformats.org/drawingml/2006/main">
          <a:graphicData uri="http://schemas.openxmlformats.org/drawingml/2006/chart">
            <c:chart xmlns:c="http://schemas.openxmlformats.org/drawingml/2006/chart" r:id="rId1"/>
          </a:graphicData>
        </a:graphic>
      </p:graphicFrame>
      <p:sp>
        <p:nvSpPr>
          <p:cNvPr id="13" name="text-134"/>
          <p:cNvSpPr txBox="1"/>
          <p:nvPr/>
        </p:nvSpPr>
        <p:spPr>
          <a:xfrm>
            <a:off x="6537960" y="4754880"/>
            <a:ext cx="5102352" cy="685800"/>
          </a:xfrm>
          <a:prstGeom prst="rect">
            <a:avLst/>
          </a:prstGeom>
          <a:noFill/>
          <a:ln/>
        </p:spPr>
        <p:txBody>
          <a:bodyPr wrap="square" lIns="0" tIns="0" rIns="0" bIns="0" rtlCol="0" anchor="t"/>
          <a:lstStyle/>
          <a:p>
            <a:pPr indent="0" marL="0">
              <a:buNone/>
            </a:pPr>
            <a:r>
              <a:rPr lang="en-US" sz="1400" dirty="0">
                <a:solidFill>
                  <a:srgbClr val="33475B"/>
                </a:solidFill>
              </a:rPr>
              <a:t>Validation objective 1.145 → 1.157; uncertainty-band scale 1.24.</a:t>
            </a:r>
            <a:endParaRPr lang="en-US" sz="1400" dirty="0"/>
          </a:p>
        </p:txBody>
      </p:sp>
      <p:sp>
        <p:nvSpPr>
          <p:cNvPr id="14" name="card-135"/>
          <p:cNvSpPr/>
          <p:nvPr/>
        </p:nvSpPr>
        <p:spPr>
          <a:xfrm>
            <a:off x="548640" y="5715000"/>
            <a:ext cx="11094415" cy="548640"/>
          </a:xfrm>
          <a:prstGeom prst="roundRect">
            <a:avLst>
              <a:gd name="adj" fmla="val 20000"/>
            </a:avLst>
          </a:prstGeom>
          <a:solidFill>
            <a:srgbClr val="E3F1F1"/>
          </a:solidFill>
          <a:ln w="12700">
            <a:solidFill>
              <a:srgbClr val="E3F1F1"/>
            </a:solidFill>
            <a:prstDash val="solid"/>
          </a:ln>
        </p:spPr>
      </p:sp>
      <p:sp>
        <p:nvSpPr>
          <p:cNvPr id="15" name="text-136"/>
          <p:cNvSpPr txBox="1"/>
          <p:nvPr/>
        </p:nvSpPr>
        <p:spPr>
          <a:xfrm>
            <a:off x="777240" y="5715000"/>
            <a:ext cx="10637215" cy="548640"/>
          </a:xfrm>
          <a:prstGeom prst="rect">
            <a:avLst/>
          </a:prstGeom>
          <a:noFill/>
          <a:ln/>
        </p:spPr>
        <p:txBody>
          <a:bodyPr wrap="square" lIns="0" tIns="0" rIns="0" bIns="0" rtlCol="0" anchor="ctr"/>
          <a:lstStyle/>
          <a:p>
            <a:pPr indent="0" marL="0">
              <a:buNone/>
            </a:pPr>
            <a:r>
              <a:rPr lang="en-US" sz="1500" b="1" dirty="0">
                <a:solidFill>
                  <a:schemeClr val="accent1"/>
                </a:solidFill>
              </a:rPr>
              <a:t>Starting from the untuned system means PSO can only be chosen if validation data says it is better.</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SOM: matching the river to learned prototype states</a:t>
            </a:r>
            <a:endParaRPr lang="en-US" sz="3400" dirty="0"/>
          </a:p>
        </p:txBody>
      </p:sp>
      <p:sp>
        <p:nvSpPr>
          <p:cNvPr id="3" name="dot-137"/>
          <p:cNvSpPr txBox="1"/>
          <p:nvPr/>
        </p:nvSpPr>
        <p:spPr>
          <a:xfrm>
            <a:off x="548640" y="1371600"/>
            <a:ext cx="411480" cy="411480"/>
          </a:xfrm>
          <a:prstGeom prst="ellipse">
            <a:avLst/>
          </a:prstGeom>
          <a:solidFill>
            <a:srgbClr val="2F8F8A"/>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4" name="text-138"/>
          <p:cNvSpPr txBox="1"/>
          <p:nvPr/>
        </p:nvSpPr>
        <p:spPr>
          <a:xfrm>
            <a:off x="1143000" y="1353312"/>
            <a:ext cx="4754880" cy="347472"/>
          </a:xfrm>
          <a:prstGeom prst="rect">
            <a:avLst/>
          </a:prstGeom>
          <a:noFill/>
          <a:ln/>
        </p:spPr>
        <p:txBody>
          <a:bodyPr wrap="square" lIns="0" tIns="0" rIns="0" bIns="0" rtlCol="0" anchor="t"/>
          <a:lstStyle/>
          <a:p>
            <a:pPr indent="0" marL="0">
              <a:buNone/>
            </a:pPr>
            <a:r>
              <a:rPr lang="en-US" sz="1700" b="1" dirty="0">
                <a:solidFill>
                  <a:schemeClr val="tx1"/>
                </a:solidFill>
              </a:rPr>
              <a:t>Learn prototypes (no labels)</a:t>
            </a:r>
            <a:endParaRPr lang="en-US" sz="1700" dirty="0"/>
          </a:p>
        </p:txBody>
      </p:sp>
      <p:sp>
        <p:nvSpPr>
          <p:cNvPr id="5" name="text-139"/>
          <p:cNvSpPr txBox="1"/>
          <p:nvPr/>
        </p:nvSpPr>
        <p:spPr>
          <a:xfrm>
            <a:off x="1143000" y="1719072"/>
            <a:ext cx="4754880" cy="868680"/>
          </a:xfrm>
          <a:prstGeom prst="rect">
            <a:avLst/>
          </a:prstGeom>
          <a:noFill/>
          <a:ln/>
        </p:spPr>
        <p:txBody>
          <a:bodyPr wrap="square" lIns="0" tIns="0" rIns="0" bIns="0" rtlCol="0" anchor="t"/>
          <a:lstStyle/>
          <a:p>
            <a:pPr indent="0" marL="0">
              <a:buNone/>
            </a:pPr>
            <a:r>
              <a:rPr lang="en-US" sz="1400" dirty="0">
                <a:solidFill>
                  <a:srgbClr val="33475B"/>
                </a:solidFill>
              </a:rPr>
              <a:t>Batch Kohonen SOM on standardised (level, rise, rain); grid size chosen on validation (8x8 for Bengalas, 1 h).</a:t>
            </a:r>
            <a:endParaRPr lang="en-US" sz="1400" dirty="0"/>
          </a:p>
        </p:txBody>
      </p:sp>
      <p:sp>
        <p:nvSpPr>
          <p:cNvPr id="6" name="dot-140"/>
          <p:cNvSpPr txBox="1"/>
          <p:nvPr/>
        </p:nvSpPr>
        <p:spPr>
          <a:xfrm>
            <a:off x="548640" y="2697480"/>
            <a:ext cx="411480" cy="411480"/>
          </a:xfrm>
          <a:prstGeom prst="ellipse">
            <a:avLst/>
          </a:prstGeom>
          <a:solidFill>
            <a:srgbClr val="2F8F8A"/>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7" name="text-141"/>
          <p:cNvSpPr txBox="1"/>
          <p:nvPr/>
        </p:nvSpPr>
        <p:spPr>
          <a:xfrm>
            <a:off x="1143000" y="2679192"/>
            <a:ext cx="4754880" cy="347472"/>
          </a:xfrm>
          <a:prstGeom prst="rect">
            <a:avLst/>
          </a:prstGeom>
          <a:noFill/>
          <a:ln/>
        </p:spPr>
        <p:txBody>
          <a:bodyPr wrap="square" lIns="0" tIns="0" rIns="0" bIns="0" rtlCol="0" anchor="t"/>
          <a:lstStyle/>
          <a:p>
            <a:pPr indent="0" marL="0">
              <a:buNone/>
            </a:pPr>
            <a:r>
              <a:rPr lang="en-US" sz="1700" b="1" dirty="0">
                <a:solidFill>
                  <a:schemeClr val="tx1"/>
                </a:solidFill>
              </a:rPr>
              <a:t>Give each node a level</a:t>
            </a:r>
            <a:endParaRPr lang="en-US" sz="1700" dirty="0"/>
          </a:p>
        </p:txBody>
      </p:sp>
      <p:sp>
        <p:nvSpPr>
          <p:cNvPr id="8" name="text-142"/>
          <p:cNvSpPr txBox="1"/>
          <p:nvPr/>
        </p:nvSpPr>
        <p:spPr>
          <a:xfrm>
            <a:off x="1143000" y="3044952"/>
            <a:ext cx="4754880" cy="868680"/>
          </a:xfrm>
          <a:prstGeom prst="rect">
            <a:avLst/>
          </a:prstGeom>
          <a:noFill/>
          <a:ln/>
        </p:spPr>
        <p:txBody>
          <a:bodyPr wrap="square" lIns="0" tIns="0" rIns="0" bIns="0" rtlCol="0" anchor="t"/>
          <a:lstStyle/>
          <a:p>
            <a:pPr indent="0" marL="0">
              <a:buNone/>
            </a:pPr>
            <a:r>
              <a:rPr lang="en-US" sz="1400" dirty="0">
                <a:solidFill>
                  <a:srgbClr val="33475B"/>
                </a:solidFill>
              </a:rPr>
              <a:t>The level with the lowest expected cost over the training states it won: missing a level costs 2, a false step up costs 1.</a:t>
            </a:r>
            <a:endParaRPr lang="en-US" sz="1400" dirty="0"/>
          </a:p>
        </p:txBody>
      </p:sp>
      <p:sp>
        <p:nvSpPr>
          <p:cNvPr id="9" name="dot-143"/>
          <p:cNvSpPr txBox="1"/>
          <p:nvPr/>
        </p:nvSpPr>
        <p:spPr>
          <a:xfrm>
            <a:off x="548640" y="4023360"/>
            <a:ext cx="411480" cy="411480"/>
          </a:xfrm>
          <a:prstGeom prst="ellipse">
            <a:avLst/>
          </a:prstGeom>
          <a:solidFill>
            <a:srgbClr val="2F8F8A"/>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0" name="text-144"/>
          <p:cNvSpPr txBox="1"/>
          <p:nvPr/>
        </p:nvSpPr>
        <p:spPr>
          <a:xfrm>
            <a:off x="1143000" y="4005072"/>
            <a:ext cx="4754880" cy="347472"/>
          </a:xfrm>
          <a:prstGeom prst="rect">
            <a:avLst/>
          </a:prstGeom>
          <a:noFill/>
          <a:ln/>
        </p:spPr>
        <p:txBody>
          <a:bodyPr wrap="square" lIns="0" tIns="0" rIns="0" bIns="0" rtlCol="0" anchor="t"/>
          <a:lstStyle/>
          <a:p>
            <a:pPr indent="0" marL="0">
              <a:buNone/>
            </a:pPr>
            <a:r>
              <a:rPr lang="en-US" sz="1700" b="1" dirty="0">
                <a:solidFill>
                  <a:schemeClr val="tx1"/>
                </a:solidFill>
              </a:rPr>
              <a:t>Decide</a:t>
            </a:r>
            <a:endParaRPr lang="en-US" sz="1700" dirty="0"/>
          </a:p>
        </p:txBody>
      </p:sp>
      <p:sp>
        <p:nvSpPr>
          <p:cNvPr id="11" name="text-145"/>
          <p:cNvSpPr txBox="1"/>
          <p:nvPr/>
        </p:nvSpPr>
        <p:spPr>
          <a:xfrm>
            <a:off x="1143000" y="4370832"/>
            <a:ext cx="4754880" cy="868680"/>
          </a:xfrm>
          <a:prstGeom prst="rect">
            <a:avLst/>
          </a:prstGeom>
          <a:noFill/>
          <a:ln/>
        </p:spPr>
        <p:txBody>
          <a:bodyPr wrap="square" lIns="0" tIns="0" rIns="0" bIns="0" rtlCol="0" anchor="t"/>
          <a:lstStyle/>
          <a:p>
            <a:pPr indent="0" marL="0">
              <a:buNone/>
            </a:pPr>
            <a:r>
              <a:rPr lang="en-US" sz="1400" dirty="0">
                <a:solidFill>
                  <a:srgbClr val="33475B"/>
                </a:solidFill>
              </a:rPr>
              <a:t>Find the closest prototype and report its level. The explanation names the prototype and its history.</a:t>
            </a:r>
            <a:endParaRPr lang="en-US" sz="1400" dirty="0"/>
          </a:p>
        </p:txBody>
      </p:sp>
      <p:graphicFrame>
        <p:nvGraphicFramePr>
          <p:cNvPr id="12" name="som-node-chart" descr=""/>
          <p:cNvGraphicFramePr/>
          <p:nvPr/>
        </p:nvGraphicFramePr>
        <p:xfrm>
          <a:off x="6035040" y="1325880"/>
          <a:ext cx="5605272" cy="4160520"/>
        </p:xfrm>
        <a:graphic xmlns:a="http://schemas.openxmlformats.org/drawingml/2006/main">
          <a:graphicData uri="http://schemas.openxmlformats.org/drawingml/2006/chart">
            <c:chart xmlns:c="http://schemas.openxmlformats.org/drawingml/2006/chart" r:id="rId1"/>
          </a:graphicData>
        </a:graphic>
      </p:graphicFrame>
      <p:sp>
        <p:nvSpPr>
          <p:cNvPr id="13" name="card-146"/>
          <p:cNvSpPr/>
          <p:nvPr/>
        </p:nvSpPr>
        <p:spPr>
          <a:xfrm>
            <a:off x="548640" y="5715000"/>
            <a:ext cx="11094415" cy="548640"/>
          </a:xfrm>
          <a:prstGeom prst="roundRect">
            <a:avLst>
              <a:gd name="adj" fmla="val 20000"/>
            </a:avLst>
          </a:prstGeom>
          <a:solidFill>
            <a:srgbClr val="E3F1F1"/>
          </a:solidFill>
          <a:ln w="12700">
            <a:solidFill>
              <a:srgbClr val="E3F1F1"/>
            </a:solidFill>
            <a:prstDash val="solid"/>
          </a:ln>
        </p:spPr>
      </p:sp>
      <p:sp>
        <p:nvSpPr>
          <p:cNvPr id="14" name="text-147"/>
          <p:cNvSpPr txBox="1"/>
          <p:nvPr/>
        </p:nvSpPr>
        <p:spPr>
          <a:xfrm>
            <a:off x="777240" y="5715000"/>
            <a:ext cx="10637215" cy="548640"/>
          </a:xfrm>
          <a:prstGeom prst="rect">
            <a:avLst/>
          </a:prstGeom>
          <a:noFill/>
          <a:ln/>
        </p:spPr>
        <p:txBody>
          <a:bodyPr wrap="square" lIns="0" tIns="0" rIns="0" bIns="0" rtlCol="0" anchor="ctr"/>
          <a:lstStyle/>
          <a:p>
            <a:pPr indent="0" marL="0">
              <a:buNone/>
            </a:pPr>
            <a:r>
              <a:rPr lang="en-US" sz="1500" b="1" dirty="0">
                <a:solidFill>
                  <a:schemeClr val="accent1"/>
                </a:solidFill>
              </a:rPr>
              <a:t>Node 56 is mapped to Critical: with 73 of 98 states Critical, that choice has the lowest expected cost.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ANFIS: a fuzzy system trained like a network</a:t>
            </a:r>
            <a:endParaRPr lang="en-US" sz="3400" dirty="0"/>
          </a:p>
        </p:txBody>
      </p:sp>
      <p:sp>
        <p:nvSpPr>
          <p:cNvPr id="3" name="card-148"/>
          <p:cNvSpPr/>
          <p:nvPr/>
        </p:nvSpPr>
        <p:spPr>
          <a:xfrm>
            <a:off x="548640" y="1371600"/>
            <a:ext cx="2057400" cy="1783080"/>
          </a:xfrm>
          <a:prstGeom prst="roundRect">
            <a:avLst>
              <a:gd name="adj" fmla="val 6154"/>
            </a:avLst>
          </a:prstGeom>
          <a:solidFill>
            <a:srgbClr val="F6EEE7"/>
          </a:solidFill>
          <a:ln w="12700">
            <a:solidFill>
              <a:srgbClr val="F6EEE7"/>
            </a:solidFill>
            <a:prstDash val="solid"/>
          </a:ln>
        </p:spPr>
      </p:sp>
      <p:sp>
        <p:nvSpPr>
          <p:cNvPr id="4" name="dot-149"/>
          <p:cNvSpPr txBox="1"/>
          <p:nvPr/>
        </p:nvSpPr>
        <p:spPr>
          <a:xfrm>
            <a:off x="731520" y="1536192"/>
            <a:ext cx="384048" cy="384048"/>
          </a:xfrm>
          <a:prstGeom prst="ellipse">
            <a:avLst/>
          </a:prstGeom>
          <a:solidFill>
            <a:srgbClr val="C2571A"/>
          </a:solid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150"/>
          <p:cNvSpPr txBox="1"/>
          <p:nvPr/>
        </p:nvSpPr>
        <p:spPr>
          <a:xfrm>
            <a:off x="1234440" y="1554480"/>
            <a:ext cx="1280160" cy="365760"/>
          </a:xfrm>
          <a:prstGeom prst="rect">
            <a:avLst/>
          </a:prstGeom>
          <a:noFill/>
          <a:ln/>
        </p:spPr>
        <p:txBody>
          <a:bodyPr wrap="square" lIns="0" tIns="0" rIns="0" bIns="0" rtlCol="0" anchor="t"/>
          <a:lstStyle/>
          <a:p>
            <a:pPr indent="0" marL="0">
              <a:buNone/>
            </a:pPr>
            <a:r>
              <a:rPr lang="en-US" sz="1600" b="1" dirty="0">
                <a:solidFill>
                  <a:schemeClr val="tx1"/>
                </a:solidFill>
              </a:rPr>
              <a:t>Membership</a:t>
            </a:r>
            <a:endParaRPr lang="en-US" sz="1600" dirty="0"/>
          </a:p>
        </p:txBody>
      </p:sp>
      <p:sp>
        <p:nvSpPr>
          <p:cNvPr id="6" name="text-151"/>
          <p:cNvSpPr txBox="1"/>
          <p:nvPr/>
        </p:nvSpPr>
        <p:spPr>
          <a:xfrm>
            <a:off x="731520" y="2103120"/>
            <a:ext cx="1691640" cy="960120"/>
          </a:xfrm>
          <a:prstGeom prst="rect">
            <a:avLst/>
          </a:prstGeom>
          <a:noFill/>
          <a:ln/>
        </p:spPr>
        <p:txBody>
          <a:bodyPr wrap="square" lIns="0" tIns="0" rIns="0" bIns="0" rtlCol="0" anchor="t"/>
          <a:lstStyle/>
          <a:p>
            <a:pPr indent="0" marL="0">
              <a:buNone/>
            </a:pPr>
            <a:r>
              <a:rPr lang="en-US" sz="1300" dirty="0">
                <a:solidFill>
                  <a:srgbClr val="33475B"/>
                </a:solidFill>
              </a:rPr>
              <a:t>Gaussian MFs: 5 level, 4 rise, 4 rain</a:t>
            </a:r>
            <a:endParaRPr lang="en-US" sz="1300" dirty="0"/>
          </a:p>
        </p:txBody>
      </p:sp>
      <p:sp>
        <p:nvSpPr>
          <p:cNvPr id="7" name="arrow-152"/>
          <p:cNvSpPr/>
          <p:nvPr/>
        </p:nvSpPr>
        <p:spPr>
          <a:xfrm>
            <a:off x="2606040" y="2258568"/>
            <a:ext cx="182880" cy="0"/>
          </a:xfrm>
          <a:prstGeom prst="line">
            <a:avLst/>
          </a:prstGeom>
          <a:noFill/>
          <a:ln w="19050">
            <a:solidFill>
              <a:srgbClr val="8A9BAD"/>
            </a:solidFill>
            <a:prstDash val="solid"/>
            <a:tailEnd type="triangle"/>
          </a:ln>
        </p:spPr>
      </p:sp>
      <p:sp>
        <p:nvSpPr>
          <p:cNvPr id="8" name="card-153"/>
          <p:cNvSpPr/>
          <p:nvPr/>
        </p:nvSpPr>
        <p:spPr>
          <a:xfrm>
            <a:off x="2788920" y="1371600"/>
            <a:ext cx="2057400" cy="1783080"/>
          </a:xfrm>
          <a:prstGeom prst="roundRect">
            <a:avLst>
              <a:gd name="adj" fmla="val 6154"/>
            </a:avLst>
          </a:prstGeom>
          <a:solidFill>
            <a:srgbClr val="F6EEE7"/>
          </a:solidFill>
          <a:ln w="12700">
            <a:solidFill>
              <a:srgbClr val="F6EEE7"/>
            </a:solidFill>
            <a:prstDash val="solid"/>
          </a:ln>
        </p:spPr>
      </p:sp>
      <p:sp>
        <p:nvSpPr>
          <p:cNvPr id="9" name="dot-154"/>
          <p:cNvSpPr txBox="1"/>
          <p:nvPr/>
        </p:nvSpPr>
        <p:spPr>
          <a:xfrm>
            <a:off x="2971800" y="1536192"/>
            <a:ext cx="384048" cy="384048"/>
          </a:xfrm>
          <a:prstGeom prst="ellipse">
            <a:avLst/>
          </a:prstGeom>
          <a:solidFill>
            <a:srgbClr val="C2571A"/>
          </a:solid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155"/>
          <p:cNvSpPr txBox="1"/>
          <p:nvPr/>
        </p:nvSpPr>
        <p:spPr>
          <a:xfrm>
            <a:off x="3474720" y="1554480"/>
            <a:ext cx="1280160" cy="365760"/>
          </a:xfrm>
          <a:prstGeom prst="rect">
            <a:avLst/>
          </a:prstGeom>
          <a:noFill/>
          <a:ln/>
        </p:spPr>
        <p:txBody>
          <a:bodyPr wrap="square" lIns="0" tIns="0" rIns="0" bIns="0" rtlCol="0" anchor="t"/>
          <a:lstStyle/>
          <a:p>
            <a:pPr indent="0" marL="0">
              <a:buNone/>
            </a:pPr>
            <a:r>
              <a:rPr lang="en-US" sz="1600" b="1" dirty="0">
                <a:solidFill>
                  <a:schemeClr val="tx1"/>
                </a:solidFill>
              </a:rPr>
              <a:t>Rule firing</a:t>
            </a:r>
            <a:endParaRPr lang="en-US" sz="1600" dirty="0"/>
          </a:p>
        </p:txBody>
      </p:sp>
      <p:sp>
        <p:nvSpPr>
          <p:cNvPr id="11" name="text-156"/>
          <p:cNvSpPr txBox="1"/>
          <p:nvPr/>
        </p:nvSpPr>
        <p:spPr>
          <a:xfrm>
            <a:off x="2971800" y="2103120"/>
            <a:ext cx="1691640" cy="960120"/>
          </a:xfrm>
          <a:prstGeom prst="rect">
            <a:avLst/>
          </a:prstGeom>
          <a:noFill/>
          <a:ln/>
        </p:spPr>
        <p:txBody>
          <a:bodyPr wrap="square" lIns="0" tIns="0" rIns="0" bIns="0" rtlCol="0" anchor="t"/>
          <a:lstStyle/>
          <a:p>
            <a:pPr indent="0" marL="0">
              <a:buNone/>
            </a:pPr>
            <a:r>
              <a:rPr lang="en-US" sz="1300" dirty="0">
                <a:solidFill>
                  <a:srgbClr val="33475B"/>
                </a:solidFill>
              </a:rPr>
              <a:t>product of memberships, 80 rules</a:t>
            </a:r>
            <a:endParaRPr lang="en-US" sz="1300" dirty="0"/>
          </a:p>
        </p:txBody>
      </p:sp>
      <p:sp>
        <p:nvSpPr>
          <p:cNvPr id="12" name="arrow-157"/>
          <p:cNvSpPr/>
          <p:nvPr/>
        </p:nvSpPr>
        <p:spPr>
          <a:xfrm>
            <a:off x="4846320" y="2258568"/>
            <a:ext cx="182880" cy="0"/>
          </a:xfrm>
          <a:prstGeom prst="line">
            <a:avLst/>
          </a:prstGeom>
          <a:noFill/>
          <a:ln w="19050">
            <a:solidFill>
              <a:srgbClr val="8A9BAD"/>
            </a:solidFill>
            <a:prstDash val="solid"/>
            <a:tailEnd type="triangle"/>
          </a:ln>
        </p:spPr>
      </p:sp>
      <p:sp>
        <p:nvSpPr>
          <p:cNvPr id="13" name="card-158"/>
          <p:cNvSpPr/>
          <p:nvPr/>
        </p:nvSpPr>
        <p:spPr>
          <a:xfrm>
            <a:off x="5029200" y="1371600"/>
            <a:ext cx="2057400" cy="1783080"/>
          </a:xfrm>
          <a:prstGeom prst="roundRect">
            <a:avLst>
              <a:gd name="adj" fmla="val 6154"/>
            </a:avLst>
          </a:prstGeom>
          <a:solidFill>
            <a:srgbClr val="F6EEE7"/>
          </a:solidFill>
          <a:ln w="12700">
            <a:solidFill>
              <a:srgbClr val="F6EEE7"/>
            </a:solidFill>
            <a:prstDash val="solid"/>
          </a:ln>
        </p:spPr>
      </p:sp>
      <p:sp>
        <p:nvSpPr>
          <p:cNvPr id="14" name="dot-159"/>
          <p:cNvSpPr txBox="1"/>
          <p:nvPr/>
        </p:nvSpPr>
        <p:spPr>
          <a:xfrm>
            <a:off x="5212080" y="1536192"/>
            <a:ext cx="384048" cy="384048"/>
          </a:xfrm>
          <a:prstGeom prst="ellipse">
            <a:avLst/>
          </a:prstGeom>
          <a:solidFill>
            <a:srgbClr val="C2571A"/>
          </a:solid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text-160"/>
          <p:cNvSpPr txBox="1"/>
          <p:nvPr/>
        </p:nvSpPr>
        <p:spPr>
          <a:xfrm>
            <a:off x="5715000" y="1554480"/>
            <a:ext cx="1280160" cy="365760"/>
          </a:xfrm>
          <a:prstGeom prst="rect">
            <a:avLst/>
          </a:prstGeom>
          <a:noFill/>
          <a:ln/>
        </p:spPr>
        <p:txBody>
          <a:bodyPr wrap="square" lIns="0" tIns="0" rIns="0" bIns="0" rtlCol="0" anchor="t"/>
          <a:lstStyle/>
          <a:p>
            <a:pPr indent="0" marL="0">
              <a:buNone/>
            </a:pPr>
            <a:r>
              <a:rPr lang="en-US" sz="1600" b="1" dirty="0">
                <a:solidFill>
                  <a:schemeClr val="tx1"/>
                </a:solidFill>
              </a:rPr>
              <a:t>Normalise</a:t>
            </a:r>
            <a:endParaRPr lang="en-US" sz="1600" dirty="0"/>
          </a:p>
        </p:txBody>
      </p:sp>
      <p:sp>
        <p:nvSpPr>
          <p:cNvPr id="16" name="text-161"/>
          <p:cNvSpPr txBox="1"/>
          <p:nvPr/>
        </p:nvSpPr>
        <p:spPr>
          <a:xfrm>
            <a:off x="5212080" y="2103120"/>
            <a:ext cx="1691640" cy="960120"/>
          </a:xfrm>
          <a:prstGeom prst="rect">
            <a:avLst/>
          </a:prstGeom>
          <a:noFill/>
          <a:ln/>
        </p:spPr>
        <p:txBody>
          <a:bodyPr wrap="square" lIns="0" tIns="0" rIns="0" bIns="0" rtlCol="0" anchor="t"/>
          <a:lstStyle/>
          <a:p>
            <a:pPr indent="0" marL="0">
              <a:buNone/>
            </a:pPr>
            <a:r>
              <a:rPr lang="en-US" sz="1300" dirty="0">
                <a:solidFill>
                  <a:srgbClr val="33475B"/>
                </a:solidFill>
              </a:rPr>
              <a:t>w̄ = w / Σw</a:t>
            </a:r>
            <a:endParaRPr lang="en-US" sz="1300" dirty="0"/>
          </a:p>
        </p:txBody>
      </p:sp>
      <p:sp>
        <p:nvSpPr>
          <p:cNvPr id="17" name="arrow-162"/>
          <p:cNvSpPr/>
          <p:nvPr/>
        </p:nvSpPr>
        <p:spPr>
          <a:xfrm>
            <a:off x="7086600" y="2258568"/>
            <a:ext cx="182880" cy="0"/>
          </a:xfrm>
          <a:prstGeom prst="line">
            <a:avLst/>
          </a:prstGeom>
          <a:noFill/>
          <a:ln w="19050">
            <a:solidFill>
              <a:srgbClr val="8A9BAD"/>
            </a:solidFill>
            <a:prstDash val="solid"/>
            <a:tailEnd type="triangle"/>
          </a:ln>
        </p:spPr>
      </p:sp>
      <p:sp>
        <p:nvSpPr>
          <p:cNvPr id="18" name="card-163"/>
          <p:cNvSpPr/>
          <p:nvPr/>
        </p:nvSpPr>
        <p:spPr>
          <a:xfrm>
            <a:off x="7269480" y="1371600"/>
            <a:ext cx="2057400" cy="1783080"/>
          </a:xfrm>
          <a:prstGeom prst="roundRect">
            <a:avLst>
              <a:gd name="adj" fmla="val 6154"/>
            </a:avLst>
          </a:prstGeom>
          <a:solidFill>
            <a:srgbClr val="F6EEE7"/>
          </a:solidFill>
          <a:ln w="12700">
            <a:solidFill>
              <a:srgbClr val="F6EEE7"/>
            </a:solidFill>
            <a:prstDash val="solid"/>
          </a:ln>
        </p:spPr>
      </p:sp>
      <p:sp>
        <p:nvSpPr>
          <p:cNvPr id="19" name="dot-164"/>
          <p:cNvSpPr txBox="1"/>
          <p:nvPr/>
        </p:nvSpPr>
        <p:spPr>
          <a:xfrm>
            <a:off x="7452360" y="1536192"/>
            <a:ext cx="384048" cy="384048"/>
          </a:xfrm>
          <a:prstGeom prst="ellipse">
            <a:avLst/>
          </a:prstGeom>
          <a:solidFill>
            <a:srgbClr val="C2571A"/>
          </a:solid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0" name="text-165"/>
          <p:cNvSpPr txBox="1"/>
          <p:nvPr/>
        </p:nvSpPr>
        <p:spPr>
          <a:xfrm>
            <a:off x="7955280" y="1554480"/>
            <a:ext cx="1280160" cy="365760"/>
          </a:xfrm>
          <a:prstGeom prst="rect">
            <a:avLst/>
          </a:prstGeom>
          <a:noFill/>
          <a:ln/>
        </p:spPr>
        <p:txBody>
          <a:bodyPr wrap="square" lIns="0" tIns="0" rIns="0" bIns="0" rtlCol="0" anchor="t"/>
          <a:lstStyle/>
          <a:p>
            <a:pPr indent="0" marL="0">
              <a:buNone/>
            </a:pPr>
            <a:r>
              <a:rPr lang="en-US" sz="1600" b="1" dirty="0">
                <a:solidFill>
                  <a:schemeClr val="tx1"/>
                </a:solidFill>
              </a:rPr>
              <a:t>Rule output</a:t>
            </a:r>
            <a:endParaRPr lang="en-US" sz="1600" dirty="0"/>
          </a:p>
        </p:txBody>
      </p:sp>
      <p:sp>
        <p:nvSpPr>
          <p:cNvPr id="21" name="text-166"/>
          <p:cNvSpPr txBox="1"/>
          <p:nvPr/>
        </p:nvSpPr>
        <p:spPr>
          <a:xfrm>
            <a:off x="7452360" y="2103120"/>
            <a:ext cx="1691640" cy="960120"/>
          </a:xfrm>
          <a:prstGeom prst="rect">
            <a:avLst/>
          </a:prstGeom>
          <a:noFill/>
          <a:ln/>
        </p:spPr>
        <p:txBody>
          <a:bodyPr wrap="square" lIns="0" tIns="0" rIns="0" bIns="0" rtlCol="0" anchor="t"/>
          <a:lstStyle/>
          <a:p>
            <a:pPr indent="0" marL="0">
              <a:buNone/>
            </a:pPr>
            <a:r>
              <a:rPr lang="en-US" sz="1300" dirty="0">
                <a:solidFill>
                  <a:srgbClr val="33475B"/>
                </a:solidFill>
              </a:rPr>
              <a:t>p0 + p1·level + p2·rise + p3·rain</a:t>
            </a:r>
            <a:endParaRPr lang="en-US" sz="1300" dirty="0"/>
          </a:p>
        </p:txBody>
      </p:sp>
      <p:sp>
        <p:nvSpPr>
          <p:cNvPr id="22" name="arrow-167"/>
          <p:cNvSpPr/>
          <p:nvPr/>
        </p:nvSpPr>
        <p:spPr>
          <a:xfrm>
            <a:off x="9326880" y="2258568"/>
            <a:ext cx="182880" cy="0"/>
          </a:xfrm>
          <a:prstGeom prst="line">
            <a:avLst/>
          </a:prstGeom>
          <a:noFill/>
          <a:ln w="19050">
            <a:solidFill>
              <a:srgbClr val="8A9BAD"/>
            </a:solidFill>
            <a:prstDash val="solid"/>
            <a:tailEnd type="triangle"/>
          </a:ln>
        </p:spPr>
      </p:sp>
      <p:sp>
        <p:nvSpPr>
          <p:cNvPr id="23" name="card-168"/>
          <p:cNvSpPr/>
          <p:nvPr/>
        </p:nvSpPr>
        <p:spPr>
          <a:xfrm>
            <a:off x="9509760" y="1371600"/>
            <a:ext cx="2057400" cy="1783080"/>
          </a:xfrm>
          <a:prstGeom prst="roundRect">
            <a:avLst>
              <a:gd name="adj" fmla="val 6154"/>
            </a:avLst>
          </a:prstGeom>
          <a:solidFill>
            <a:srgbClr val="F6EEE7"/>
          </a:solidFill>
          <a:ln w="12700">
            <a:solidFill>
              <a:srgbClr val="F6EEE7"/>
            </a:solidFill>
            <a:prstDash val="solid"/>
          </a:ln>
        </p:spPr>
      </p:sp>
      <p:sp>
        <p:nvSpPr>
          <p:cNvPr id="24" name="dot-169"/>
          <p:cNvSpPr txBox="1"/>
          <p:nvPr/>
        </p:nvSpPr>
        <p:spPr>
          <a:xfrm>
            <a:off x="9692640" y="1536192"/>
            <a:ext cx="384048" cy="384048"/>
          </a:xfrm>
          <a:prstGeom prst="ellipse">
            <a:avLst/>
          </a:prstGeom>
          <a:solidFill>
            <a:srgbClr val="C2571A"/>
          </a:solid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5" name="text-170"/>
          <p:cNvSpPr txBox="1"/>
          <p:nvPr/>
        </p:nvSpPr>
        <p:spPr>
          <a:xfrm>
            <a:off x="10195560" y="1554480"/>
            <a:ext cx="1280160" cy="365760"/>
          </a:xfrm>
          <a:prstGeom prst="rect">
            <a:avLst/>
          </a:prstGeom>
          <a:noFill/>
          <a:ln/>
        </p:spPr>
        <p:txBody>
          <a:bodyPr wrap="square" lIns="0" tIns="0" rIns="0" bIns="0" rtlCol="0" anchor="t"/>
          <a:lstStyle/>
          <a:p>
            <a:pPr indent="0" marL="0">
              <a:buNone/>
            </a:pPr>
            <a:r>
              <a:rPr lang="en-US" sz="1600" b="1" dirty="0">
                <a:solidFill>
                  <a:schemeClr val="tx1"/>
                </a:solidFill>
              </a:rPr>
              <a:t>Sum</a:t>
            </a:r>
            <a:endParaRPr lang="en-US" sz="1600" dirty="0"/>
          </a:p>
        </p:txBody>
      </p:sp>
      <p:sp>
        <p:nvSpPr>
          <p:cNvPr id="26" name="text-171"/>
          <p:cNvSpPr txBox="1"/>
          <p:nvPr/>
        </p:nvSpPr>
        <p:spPr>
          <a:xfrm>
            <a:off x="9692640" y="2103120"/>
            <a:ext cx="1691640" cy="960120"/>
          </a:xfrm>
          <a:prstGeom prst="rect">
            <a:avLst/>
          </a:prstGeom>
          <a:noFill/>
          <a:ln/>
        </p:spPr>
        <p:txBody>
          <a:bodyPr wrap="square" lIns="0" tIns="0" rIns="0" bIns="0" rtlCol="0" anchor="t"/>
          <a:lstStyle/>
          <a:p>
            <a:pPr indent="0" marL="0">
              <a:buNone/>
            </a:pPr>
            <a:r>
              <a:rPr lang="en-US" sz="1300" dirty="0">
                <a:solidFill>
                  <a:srgbClr val="33475B"/>
                </a:solidFill>
              </a:rPr>
              <a:t>Σ w̄ · f → score 0–100 → level</a:t>
            </a:r>
            <a:endParaRPr lang="en-US" sz="1300" dirty="0"/>
          </a:p>
        </p:txBody>
      </p:sp>
      <p:sp>
        <p:nvSpPr>
          <p:cNvPr id="27" name="card-172"/>
          <p:cNvSpPr/>
          <p:nvPr/>
        </p:nvSpPr>
        <p:spPr>
          <a:xfrm>
            <a:off x="548640" y="3474720"/>
            <a:ext cx="5440680" cy="2011680"/>
          </a:xfrm>
          <a:prstGeom prst="roundRect">
            <a:avLst>
              <a:gd name="adj" fmla="val 5455"/>
            </a:avLst>
          </a:prstGeom>
          <a:solidFill>
            <a:srgbClr val="EEF3F6"/>
          </a:solidFill>
          <a:ln w="12700">
            <a:solidFill>
              <a:srgbClr val="EEF3F6"/>
            </a:solidFill>
            <a:prstDash val="solid"/>
          </a:ln>
        </p:spPr>
      </p:sp>
      <p:sp>
        <p:nvSpPr>
          <p:cNvPr id="28" name="text-173"/>
          <p:cNvSpPr txBox="1"/>
          <p:nvPr/>
        </p:nvSpPr>
        <p:spPr>
          <a:xfrm>
            <a:off x="777240" y="3611880"/>
            <a:ext cx="5029200" cy="365760"/>
          </a:xfrm>
          <a:prstGeom prst="rect">
            <a:avLst/>
          </a:prstGeom>
          <a:noFill/>
          <a:ln/>
        </p:spPr>
        <p:txBody>
          <a:bodyPr wrap="square" lIns="0" tIns="0" rIns="0" bIns="0" rtlCol="0" anchor="t"/>
          <a:lstStyle/>
          <a:p>
            <a:pPr indent="0" marL="0">
              <a:buNone/>
            </a:pPr>
            <a:r>
              <a:rPr lang="en-US" sz="1700" b="1" dirty="0">
                <a:solidFill>
                  <a:srgbClr val="C2571A"/>
                </a:solidFill>
              </a:rPr>
              <a:t>Hybrid learning (Jang, 1993)</a:t>
            </a:r>
            <a:endParaRPr lang="en-US" sz="1700" dirty="0"/>
          </a:p>
        </p:txBody>
      </p:sp>
      <p:sp>
        <p:nvSpPr>
          <p:cNvPr id="29" name="text-174"/>
          <p:cNvSpPr txBox="1"/>
          <p:nvPr/>
        </p:nvSpPr>
        <p:spPr>
          <a:xfrm>
            <a:off x="777240" y="4023360"/>
            <a:ext cx="502920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3475B"/>
                </a:solidFill>
              </a:rPr>
              <a:t>Each of 40 epochs: least squares for the 320 rule-output parameters, then one gradient step on the MF centres and widths.</a:t>
            </a:r>
            <a:endParaRPr lang="en-US" sz="1400" dirty="0"/>
          </a:p>
          <a:p>
            <a:pPr marL="342900" indent="-342900">
              <a:spcAft>
                <a:spcPts val="600"/>
              </a:spcAft>
              <a:buSzPct val="100000"/>
              <a:buChar char="•"/>
            </a:pPr>
            <a:r>
              <a:rPr lang="en-US" sz="1400" dirty="0">
                <a:solidFill>
                  <a:srgbClr val="33475B"/>
                </a:solidFill>
              </a:rPr>
              <a:t>Rare levels are up-weighted; ridge strength chosen on validation.</a:t>
            </a:r>
            <a:endParaRPr lang="en-US" sz="1400" dirty="0"/>
          </a:p>
        </p:txBody>
      </p:sp>
      <p:sp>
        <p:nvSpPr>
          <p:cNvPr id="30" name="card-175"/>
          <p:cNvSpPr/>
          <p:nvPr/>
        </p:nvSpPr>
        <p:spPr>
          <a:xfrm>
            <a:off x="6199632" y="3474720"/>
            <a:ext cx="5440680" cy="2011680"/>
          </a:xfrm>
          <a:prstGeom prst="roundRect">
            <a:avLst>
              <a:gd name="adj" fmla="val 5455"/>
            </a:avLst>
          </a:prstGeom>
          <a:solidFill>
            <a:srgbClr val="FBE9E7"/>
          </a:solidFill>
          <a:ln w="12700">
            <a:solidFill>
              <a:srgbClr val="FBE9E7"/>
            </a:solidFill>
            <a:prstDash val="solid"/>
          </a:ln>
        </p:spPr>
      </p:sp>
      <p:sp>
        <p:nvSpPr>
          <p:cNvPr id="31" name="text-176"/>
          <p:cNvSpPr txBox="1"/>
          <p:nvPr/>
        </p:nvSpPr>
        <p:spPr>
          <a:xfrm>
            <a:off x="6428232" y="3611880"/>
            <a:ext cx="5029200" cy="365760"/>
          </a:xfrm>
          <a:prstGeom prst="rect">
            <a:avLst/>
          </a:prstGeom>
          <a:noFill/>
          <a:ln/>
        </p:spPr>
        <p:txBody>
          <a:bodyPr wrap="square" lIns="0" tIns="0" rIns="0" bIns="0" rtlCol="0" anchor="t"/>
          <a:lstStyle/>
          <a:p>
            <a:pPr indent="0" marL="0">
              <a:buNone/>
            </a:pPr>
            <a:r>
              <a:rPr lang="en-US" sz="1700" b="1" dirty="0">
                <a:solidFill>
                  <a:srgbClr val="C62828"/>
                </a:solidFill>
              </a:rPr>
              <a:t>Finding: unconstrained training broke the meaning</a:t>
            </a:r>
            <a:endParaRPr lang="en-US" sz="1700" dirty="0"/>
          </a:p>
        </p:txBody>
      </p:sp>
      <p:sp>
        <p:nvSpPr>
          <p:cNvPr id="32" name="text-177"/>
          <p:cNvSpPr txBox="1"/>
          <p:nvPr/>
        </p:nvSpPr>
        <p:spPr>
          <a:xfrm>
            <a:off x="6428232" y="4023360"/>
            <a:ext cx="5029200" cy="1371600"/>
          </a:xfrm>
          <a:prstGeom prst="rect">
            <a:avLst/>
          </a:prstGeom>
          <a:noFill/>
          <a:ln/>
        </p:spPr>
        <p:txBody>
          <a:bodyPr wrap="square" lIns="0" tIns="0" rIns="0" bIns="0" rtlCol="0" anchor="t"/>
          <a:lstStyle/>
          <a:p>
            <a:pPr indent="0" marL="0">
              <a:buNone/>
            </a:pPr>
            <a:r>
              <a:rPr lang="en-US" sz="1400" dirty="0">
                <a:solidFill>
                  <a:srgbClr val="33475B"/>
                </a:solidFill>
              </a:rPr>
              <a:t>On Malwathu, 'Elevated' moved below 'Normal' and widths collapsed, so explanations named the wrong terms. Centres now stay between neighbours and widths within 0.5–2×. Cost: Malwathu F1 0.83 → 0.66, reported, not re-tuned.</a:t>
            </a:r>
            <a:endParaRPr lang="en-US" sz="1400" dirty="0"/>
          </a:p>
        </p:txBody>
      </p:sp>
      <p:sp>
        <p:nvSpPr>
          <p:cNvPr id="33" name="card-178"/>
          <p:cNvSpPr/>
          <p:nvPr/>
        </p:nvSpPr>
        <p:spPr>
          <a:xfrm>
            <a:off x="548640" y="5715000"/>
            <a:ext cx="11094415" cy="548640"/>
          </a:xfrm>
          <a:prstGeom prst="roundRect">
            <a:avLst>
              <a:gd name="adj" fmla="val 20000"/>
            </a:avLst>
          </a:prstGeom>
          <a:solidFill>
            <a:srgbClr val="E3F1F1"/>
          </a:solidFill>
          <a:ln w="12700">
            <a:solidFill>
              <a:srgbClr val="E3F1F1"/>
            </a:solidFill>
            <a:prstDash val="solid"/>
          </a:ln>
        </p:spPr>
      </p:sp>
      <p:sp>
        <p:nvSpPr>
          <p:cNvPr id="34" name="text-179"/>
          <p:cNvSpPr txBox="1"/>
          <p:nvPr/>
        </p:nvSpPr>
        <p:spPr>
          <a:xfrm>
            <a:off x="777240" y="5715000"/>
            <a:ext cx="10637215" cy="548640"/>
          </a:xfrm>
          <a:prstGeom prst="rect">
            <a:avLst/>
          </a:prstGeom>
          <a:noFill/>
          <a:ln/>
        </p:spPr>
        <p:txBody>
          <a:bodyPr wrap="square" lIns="0" tIns="0" rIns="0" bIns="0" rtlCol="0" anchor="ctr"/>
          <a:lstStyle/>
          <a:p>
            <a:pPr indent="0" marL="0">
              <a:buNone/>
            </a:pPr>
            <a:r>
              <a:rPr lang="en-US" sz="1500" b="1" dirty="0">
                <a:solidFill>
                  <a:schemeClr val="accent1"/>
                </a:solidFill>
              </a:rPr>
              <a:t>ANFIS learns from data but stays readable: every alert names its most active rules.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Evaluation designed to prevent leakage</a:t>
            </a:r>
            <a:endParaRPr lang="en-US" sz="3400" dirty="0"/>
          </a:p>
        </p:txBody>
      </p:sp>
      <p:sp>
        <p:nvSpPr>
          <p:cNvPr id="3" name="card-180"/>
          <p:cNvSpPr/>
          <p:nvPr/>
        </p:nvSpPr>
        <p:spPr>
          <a:xfrm>
            <a:off x="548640" y="1325880"/>
            <a:ext cx="3566160" cy="2743200"/>
          </a:xfrm>
          <a:prstGeom prst="roundRect">
            <a:avLst>
              <a:gd name="adj" fmla="val 4000"/>
            </a:avLst>
          </a:prstGeom>
          <a:solidFill>
            <a:srgbClr val="EEF3F6"/>
          </a:solidFill>
          <a:ln w="12700">
            <a:solidFill>
              <a:srgbClr val="EEF3F6"/>
            </a:solidFill>
            <a:prstDash val="solid"/>
          </a:ln>
        </p:spPr>
      </p:sp>
      <p:sp>
        <p:nvSpPr>
          <p:cNvPr id="4" name="dot-181"/>
          <p:cNvSpPr txBox="1"/>
          <p:nvPr/>
        </p:nvSpPr>
        <p:spPr>
          <a:xfrm>
            <a:off x="777240" y="1508760"/>
            <a:ext cx="411480" cy="411480"/>
          </a:xfrm>
          <a:prstGeom prst="ellipse">
            <a:avLst/>
          </a:prstGeom>
          <a:solidFill>
            <a:srgbClr val="1C7C7D"/>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5" name="text-182"/>
          <p:cNvSpPr txBox="1"/>
          <p:nvPr/>
        </p:nvSpPr>
        <p:spPr>
          <a:xfrm>
            <a:off x="1325880" y="1536192"/>
            <a:ext cx="2651760" cy="365760"/>
          </a:xfrm>
          <a:prstGeom prst="rect">
            <a:avLst/>
          </a:prstGeom>
          <a:noFill/>
          <a:ln/>
        </p:spPr>
        <p:txBody>
          <a:bodyPr wrap="square" lIns="0" tIns="0" rIns="0" bIns="0" rtlCol="0" anchor="t"/>
          <a:lstStyle/>
          <a:p>
            <a:pPr indent="0" marL="0">
              <a:buNone/>
            </a:pPr>
            <a:r>
              <a:rPr lang="en-US" sz="1700" b="1" dirty="0">
                <a:solidFill>
                  <a:schemeClr val="tx1"/>
                </a:solidFill>
              </a:rPr>
              <a:t>No leakage</a:t>
            </a:r>
            <a:endParaRPr lang="en-US" sz="1700" dirty="0"/>
          </a:p>
        </p:txBody>
      </p:sp>
      <p:sp>
        <p:nvSpPr>
          <p:cNvPr id="6" name="text-183"/>
          <p:cNvSpPr txBox="1"/>
          <p:nvPr/>
        </p:nvSpPr>
        <p:spPr>
          <a:xfrm>
            <a:off x="777240" y="2057400"/>
            <a:ext cx="3108960" cy="1920240"/>
          </a:xfrm>
          <a:prstGeom prst="rect">
            <a:avLst/>
          </a:prstGeom>
          <a:noFill/>
          <a:ln/>
        </p:spPr>
        <p:txBody>
          <a:bodyPr wrap="square" lIns="0" tIns="0" rIns="0" bIns="0" rtlCol="0" anchor="t"/>
          <a:lstStyle/>
          <a:p>
            <a:pPr indent="0" marL="0">
              <a:buNone/>
            </a:pPr>
            <a:r>
              <a:rPr lang="en-US" sz="1400" dirty="0">
                <a:solidFill>
                  <a:srgbClr val="33475B"/>
                </a:solidFill>
              </a:rPr>
              <a:t>Chronological split; all fitting on the training period; tuning on validation only; fit rows whose target falls in validation are purged; unit test: changing test data leaves every learned parameter unchanged.</a:t>
            </a:r>
            <a:endParaRPr lang="en-US" sz="1400" dirty="0"/>
          </a:p>
        </p:txBody>
      </p:sp>
      <p:sp>
        <p:nvSpPr>
          <p:cNvPr id="7" name="card-184"/>
          <p:cNvSpPr/>
          <p:nvPr/>
        </p:nvSpPr>
        <p:spPr>
          <a:xfrm>
            <a:off x="4297680" y="1325880"/>
            <a:ext cx="3566160" cy="2743200"/>
          </a:xfrm>
          <a:prstGeom prst="roundRect">
            <a:avLst>
              <a:gd name="adj" fmla="val 4000"/>
            </a:avLst>
          </a:prstGeom>
          <a:solidFill>
            <a:srgbClr val="EEF3F6"/>
          </a:solidFill>
          <a:ln w="12700">
            <a:solidFill>
              <a:srgbClr val="EEF3F6"/>
            </a:solidFill>
            <a:prstDash val="solid"/>
          </a:ln>
        </p:spPr>
      </p:sp>
      <p:sp>
        <p:nvSpPr>
          <p:cNvPr id="8" name="dot-185"/>
          <p:cNvSpPr txBox="1"/>
          <p:nvPr/>
        </p:nvSpPr>
        <p:spPr>
          <a:xfrm>
            <a:off x="4526280" y="1508760"/>
            <a:ext cx="411480" cy="411480"/>
          </a:xfrm>
          <a:prstGeom prst="ellipse">
            <a:avLst/>
          </a:prstGeom>
          <a:solidFill>
            <a:srgbClr val="1C7C7D"/>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186"/>
          <p:cNvSpPr txBox="1"/>
          <p:nvPr/>
        </p:nvSpPr>
        <p:spPr>
          <a:xfrm>
            <a:off x="5074920" y="1536192"/>
            <a:ext cx="2651760" cy="365760"/>
          </a:xfrm>
          <a:prstGeom prst="rect">
            <a:avLst/>
          </a:prstGeom>
          <a:noFill/>
          <a:ln/>
        </p:spPr>
        <p:txBody>
          <a:bodyPr wrap="square" lIns="0" tIns="0" rIns="0" bIns="0" rtlCol="0" anchor="t"/>
          <a:lstStyle/>
          <a:p>
            <a:pPr indent="0" marL="0">
              <a:buNone/>
            </a:pPr>
            <a:r>
              <a:rPr lang="en-US" sz="1700" b="1" dirty="0">
                <a:solidFill>
                  <a:schemeClr val="tx1"/>
                </a:solidFill>
              </a:rPr>
              <a:t>Genuine metrics</a:t>
            </a:r>
            <a:endParaRPr lang="en-US" sz="1700" dirty="0"/>
          </a:p>
        </p:txBody>
      </p:sp>
      <p:sp>
        <p:nvSpPr>
          <p:cNvPr id="10" name="text-187"/>
          <p:cNvSpPr txBox="1"/>
          <p:nvPr/>
        </p:nvSpPr>
        <p:spPr>
          <a:xfrm>
            <a:off x="4526280" y="2057400"/>
            <a:ext cx="3108960" cy="1920240"/>
          </a:xfrm>
          <a:prstGeom prst="rect">
            <a:avLst/>
          </a:prstGeom>
          <a:noFill/>
          <a:ln/>
        </p:spPr>
        <p:txBody>
          <a:bodyPr wrap="square" lIns="0" tIns="0" rIns="0" bIns="0" rtlCol="0" anchor="t"/>
          <a:lstStyle/>
          <a:p>
            <a:pPr indent="0" marL="0">
              <a:buNone/>
            </a:pPr>
            <a:r>
              <a:rPr lang="en-US" sz="1400" dirty="0">
                <a:solidFill>
                  <a:srgbClr val="33475B"/>
                </a:solidFill>
              </a:rPr>
              <a:t>Alert precision, recall, F1 with 95 % moving-block bootstrap intervals; five-level macro F1, κ, severity-weighted error; missed alerts and false alarms; fit and run time.</a:t>
            </a:r>
            <a:endParaRPr lang="en-US" sz="1400" dirty="0"/>
          </a:p>
        </p:txBody>
      </p:sp>
      <p:sp>
        <p:nvSpPr>
          <p:cNvPr id="11" name="card-188"/>
          <p:cNvSpPr/>
          <p:nvPr/>
        </p:nvSpPr>
        <p:spPr>
          <a:xfrm>
            <a:off x="8046720" y="1325880"/>
            <a:ext cx="3566160" cy="2743200"/>
          </a:xfrm>
          <a:prstGeom prst="roundRect">
            <a:avLst>
              <a:gd name="adj" fmla="val 4000"/>
            </a:avLst>
          </a:prstGeom>
          <a:solidFill>
            <a:srgbClr val="EEF3F6"/>
          </a:solidFill>
          <a:ln w="12700">
            <a:solidFill>
              <a:srgbClr val="EEF3F6"/>
            </a:solidFill>
            <a:prstDash val="solid"/>
          </a:ln>
        </p:spPr>
      </p:sp>
      <p:sp>
        <p:nvSpPr>
          <p:cNvPr id="12" name="dot-189"/>
          <p:cNvSpPr txBox="1"/>
          <p:nvPr/>
        </p:nvSpPr>
        <p:spPr>
          <a:xfrm>
            <a:off x="8275320" y="1508760"/>
            <a:ext cx="411480" cy="411480"/>
          </a:xfrm>
          <a:prstGeom prst="ellipse">
            <a:avLst/>
          </a:prstGeom>
          <a:solidFill>
            <a:srgbClr val="1C7C7D"/>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3" name="text-190"/>
          <p:cNvSpPr txBox="1"/>
          <p:nvPr/>
        </p:nvSpPr>
        <p:spPr>
          <a:xfrm>
            <a:off x="8823960" y="1536192"/>
            <a:ext cx="2651760" cy="365760"/>
          </a:xfrm>
          <a:prstGeom prst="rect">
            <a:avLst/>
          </a:prstGeom>
          <a:noFill/>
          <a:ln/>
        </p:spPr>
        <p:txBody>
          <a:bodyPr wrap="square" lIns="0" tIns="0" rIns="0" bIns="0" rtlCol="0" anchor="t"/>
          <a:lstStyle/>
          <a:p>
            <a:pPr indent="0" marL="0">
              <a:buNone/>
            </a:pPr>
            <a:r>
              <a:rPr lang="en-US" sz="1700" b="1" dirty="0">
                <a:solidFill>
                  <a:schemeClr val="tx1"/>
                </a:solidFill>
              </a:rPr>
              <a:t>Simulated faults</a:t>
            </a:r>
            <a:endParaRPr lang="en-US" sz="1700" dirty="0"/>
          </a:p>
        </p:txBody>
      </p:sp>
      <p:sp>
        <p:nvSpPr>
          <p:cNvPr id="14" name="text-191"/>
          <p:cNvSpPr txBox="1"/>
          <p:nvPr/>
        </p:nvSpPr>
        <p:spPr>
          <a:xfrm>
            <a:off x="8275320" y="2057400"/>
            <a:ext cx="3108960" cy="1920240"/>
          </a:xfrm>
          <a:prstGeom prst="rect">
            <a:avLst/>
          </a:prstGeom>
          <a:noFill/>
          <a:ln/>
        </p:spPr>
        <p:txBody>
          <a:bodyPr wrap="square" lIns="0" tIns="0" rIns="0" bIns="0" rtlCol="0" anchor="t"/>
          <a:lstStyle/>
          <a:p>
            <a:pPr indent="0" marL="0">
              <a:buNone/>
            </a:pPr>
            <a:r>
              <a:rPr lang="en-US" sz="1400" dirty="0">
                <a:solidFill>
                  <a:srgbClr val="33475B"/>
                </a:solidFill>
              </a:rPr>
              <a:t>9 scenarios (missing 10/30 %, noise ×3, stuck, conflicting rain, spikes, combined) × 3 seeds, injected into a copy of the test data; labels always from the original data.</a:t>
            </a:r>
            <a:endParaRPr lang="en-US" sz="1400" dirty="0"/>
          </a:p>
        </p:txBody>
      </p:sp>
      <p:sp>
        <p:nvSpPr>
          <p:cNvPr id="15" name="text-192"/>
          <p:cNvSpPr txBox="1"/>
          <p:nvPr/>
        </p:nvSpPr>
        <p:spPr>
          <a:xfrm>
            <a:off x="548640" y="4251960"/>
            <a:ext cx="8229600" cy="320040"/>
          </a:xfrm>
          <a:prstGeom prst="rect">
            <a:avLst/>
          </a:prstGeom>
          <a:noFill/>
          <a:ln/>
        </p:spPr>
        <p:txBody>
          <a:bodyPr wrap="square" lIns="0" tIns="0" rIns="0" bIns="0" rtlCol="0" anchor="t"/>
          <a:lstStyle/>
          <a:p>
            <a:pPr indent="0" marL="0">
              <a:buNone/>
            </a:pPr>
            <a:r>
              <a:rPr lang="en-US" sz="1500" b="1" dirty="0">
                <a:solidFill>
                  <a:schemeClr val="tx1"/>
                </a:solidFill>
              </a:rPr>
              <a:t>Does the data support each forecast horizon? (Bengalas, test period)</a:t>
            </a:r>
            <a:endParaRPr lang="en-US" sz="1500" dirty="0"/>
          </a:p>
        </p:txBody>
      </p:sp>
      <p:graphicFrame>
        <p:nvGraphicFramePr>
          <p:cNvPr id="11" name="horizon-table"/>
          <p:cNvGraphicFramePr>
            <a:graphicFrameLocks noGrp="1"/>
          </p:cNvGraphicFramePr>
          <p:nvPr>
            <p:extLst>
              <p:ext uri="{D42A27DB-BD31-4B8C-83A1-F6EECF244321}">
                <p14:modId xmlns:p14="http://schemas.microsoft.com/office/powerpoint/2010/main" val="1579011935"/>
              </p:ext>
            </p:extLst>
          </p:nvPr>
        </p:nvGraphicFramePr>
        <p:xfrm>
          <a:off x="548640" y="4617720"/>
          <a:ext cx="11094415" cy="914400"/>
        </p:xfrm>
        <a:graphic>
          <a:graphicData uri="http://schemas.openxmlformats.org/drawingml/2006/table">
            <a:tbl>
              <a:tblPr/>
              <a:tblGrid>
                <a:gridCol w="2651760"/>
                <a:gridCol w="1645920"/>
                <a:gridCol w="1371600"/>
                <a:gridCol w="2011680"/>
                <a:gridCol w="1737360"/>
                <a:gridCol w="1676095"/>
              </a:tblGrid>
              <a:tr h="246888">
                <a:tc>
                  <a:txBody>
                    <a:bodyPr/>
                    <a:lstStyle/>
                    <a:p>
                      <a:pPr indent="0" marL="0">
                        <a:buNone/>
                      </a:pPr>
                      <a:r>
                        <a:rPr lang="en-US" sz="1200" b="1" dirty="0">
                          <a:solidFill>
                            <a:srgbClr val="FFFFFF"/>
                          </a:solidFill>
                        </a:rPr>
                        <a:t>Horizon</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1B4965"/>
                    </a:solidFill>
                  </a:tcPr>
                </a:tc>
                <a:tc>
                  <a:txBody>
                    <a:bodyPr/>
                    <a:lstStyle/>
                    <a:p>
                      <a:pPr indent="0" marL="0">
                        <a:buNone/>
                      </a:pPr>
                      <a:r>
                        <a:rPr lang="en-US" sz="1200" b="1" dirty="0">
                          <a:solidFill>
                            <a:srgbClr val="FFFFFF"/>
                          </a:solidFill>
                        </a:rPr>
                        <a:t>Labelled rows</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1B4965"/>
                    </a:solidFill>
                  </a:tcPr>
                </a:tc>
                <a:tc>
                  <a:txBody>
                    <a:bodyPr/>
                    <a:lstStyle/>
                    <a:p>
                      <a:pPr indent="0" marL="0">
                        <a:buNone/>
                      </a:pPr>
                      <a:r>
                        <a:rPr lang="en-US" sz="1200" b="1" dirty="0">
                          <a:solidFill>
                            <a:srgbClr val="FFFFFF"/>
                          </a:solidFill>
                        </a:rPr>
                        <a:t>Alert steps</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1B4965"/>
                    </a:solidFill>
                  </a:tcPr>
                </a:tc>
                <a:tc>
                  <a:txBody>
                    <a:bodyPr/>
                    <a:lstStyle/>
                    <a:p>
                      <a:pPr indent="0" marL="0">
                        <a:buNone/>
                      </a:pPr>
                      <a:r>
                        <a:rPr lang="en-US" sz="1200" b="1" dirty="0">
                          <a:solidFill>
                            <a:srgbClr val="FFFFFF"/>
                          </a:solidFill>
                        </a:rPr>
                        <a:t>Class changes vs now</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1B4965"/>
                    </a:solidFill>
                  </a:tcPr>
                </a:tc>
                <a:tc>
                  <a:txBody>
                    <a:bodyPr/>
                    <a:lstStyle/>
                    <a:p>
                      <a:pPr indent="0" marL="0">
                        <a:buNone/>
                      </a:pPr>
                      <a:r>
                        <a:rPr lang="en-US" sz="1200" b="1" dirty="0">
                          <a:solidFill>
                            <a:srgbClr val="FFFFFF"/>
                          </a:solidFill>
                        </a:rPr>
                        <a:t>New alert onsets</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1B4965"/>
                    </a:solidFill>
                  </a:tcPr>
                </a:tc>
                <a:tc>
                  <a:txBody>
                    <a:bodyPr/>
                    <a:lstStyle/>
                    <a:p>
                      <a:pPr indent="0" marL="0">
                        <a:buNone/>
                      </a:pPr>
                      <a:r>
                        <a:rPr lang="en-US" sz="1200" b="1" dirty="0">
                          <a:solidFill>
                            <a:srgbClr val="FFFFFF"/>
                          </a:solidFill>
                        </a:rPr>
                        <a:t>Verdict</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1B4965"/>
                    </a:solidFill>
                  </a:tcPr>
                </a:tc>
              </a:tr>
              <a:tr h="246888">
                <a:tc>
                  <a:txBody>
                    <a:bodyPr/>
                    <a:lstStyle/>
                    <a:p>
                      <a:pPr indent="0" marL="0">
                        <a:buNone/>
                      </a:pPr>
                      <a:r>
                        <a:rPr lang="en-US" sz="1200" dirty="0">
                          <a:solidFill>
                            <a:srgbClr val="33475B"/>
                          </a:solidFill>
                        </a:rPr>
                        <a:t>30 min</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21,230</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674</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2.7 %</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46</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b="1" dirty="0">
                          <a:solidFill>
                            <a:srgbClr val="2E8B57"/>
                          </a:solidFill>
                        </a:rPr>
                        <a:t>Supported</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r>
              <a:tr h="246888">
                <a:tc>
                  <a:txBody>
                    <a:bodyPr/>
                    <a:lstStyle/>
                    <a:p>
                      <a:pPr indent="0" marL="0">
                        <a:buNone/>
                      </a:pPr>
                      <a:r>
                        <a:rPr lang="en-US" sz="1200" dirty="0">
                          <a:solidFill>
                            <a:srgbClr val="33475B"/>
                          </a:solidFill>
                        </a:rPr>
                        <a:t>1 h</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20,904</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653</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4.7 %</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87</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b="1" dirty="0">
                          <a:solidFill>
                            <a:srgbClr val="2E8B57"/>
                          </a:solidFill>
                        </a:rPr>
                        <a:t>Supported</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r>
              <a:tr h="246888">
                <a:tc>
                  <a:txBody>
                    <a:bodyPr/>
                    <a:lstStyle/>
                    <a:p>
                      <a:pPr indent="0" marL="0">
                        <a:buNone/>
                      </a:pPr>
                      <a:r>
                        <a:rPr lang="en-US" sz="1200" dirty="0">
                          <a:solidFill>
                            <a:srgbClr val="33475B"/>
                          </a:solidFill>
                        </a:rPr>
                        <a:t>3 h</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20,359</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633</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10.2 %</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223</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b="1" dirty="0">
                          <a:solidFill>
                            <a:srgbClr val="2E8B57"/>
                          </a:solidFill>
                        </a:rPr>
                        <a:t>Supported</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r>
              <a:tr h="246888">
                <a:tc>
                  <a:txBody>
                    <a:bodyPr/>
                    <a:lstStyle/>
                    <a:p>
                      <a:pPr indent="0" marL="0">
                        <a:buNone/>
                      </a:pPr>
                      <a:r>
                        <a:rPr lang="en-US" sz="1200" dirty="0">
                          <a:solidFill>
                            <a:srgbClr val="33475B"/>
                          </a:solidFill>
                        </a:rPr>
                        <a:t>Malwathu: 30 min / 1 h / 3 h</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b="1" dirty="0">
                          <a:solidFill>
                            <a:srgbClr val="C62828"/>
                          </a:solidFill>
                        </a:rPr>
                        <a:t>Not supported (daily)</a:t>
                      </a:r>
                      <a:endParaRPr lang="en-US" sz="1200" dirty="0"/>
                    </a:p>
                  </a:txBody>
                  <a:tcPr marL="36576" marR="36576" marT="36576" marB="36576">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Clean data: three techniques tie, SOM lags</a:t>
            </a:r>
            <a:endParaRPr lang="en-US" sz="3400" dirty="0"/>
          </a:p>
        </p:txBody>
      </p:sp>
      <p:graphicFrame>
        <p:nvGraphicFramePr>
          <p:cNvPr id="3" name="clean-f1-chart" descr=""/>
          <p:cNvGraphicFramePr/>
          <p:nvPr/>
        </p:nvGraphicFramePr>
        <p:xfrm>
          <a:off x="548640" y="1325880"/>
          <a:ext cx="512064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clean-table"/>
          <p:cNvGraphicFramePr>
            <a:graphicFrameLocks noGrp="1"/>
          </p:cNvGraphicFramePr>
          <p:nvPr>
            <p:extLst>
              <p:ext uri="{D42A27DB-BD31-4B8C-83A1-F6EECF244321}">
                <p14:modId xmlns:p14="http://schemas.microsoft.com/office/powerpoint/2010/main" val="1579011935"/>
              </p:ext>
            </p:extLst>
          </p:nvPr>
        </p:nvGraphicFramePr>
        <p:xfrm>
          <a:off x="5943600" y="1417320"/>
          <a:ext cx="5696712" cy="914400"/>
        </p:xfrm>
        <a:graphic>
          <a:graphicData uri="http://schemas.openxmlformats.org/drawingml/2006/table">
            <a:tbl>
              <a:tblPr/>
              <a:tblGrid>
                <a:gridCol w="1325880"/>
                <a:gridCol w="1600200"/>
                <a:gridCol w="758952"/>
                <a:gridCol w="685800"/>
                <a:gridCol w="594360"/>
                <a:gridCol w="731520"/>
              </a:tblGrid>
              <a:tr h="384048">
                <a:tc>
                  <a:txBody>
                    <a:bodyPr/>
                    <a:lstStyle/>
                    <a:p>
                      <a:pPr indent="0" marL="0">
                        <a:buNone/>
                      </a:pPr>
                      <a:r>
                        <a:rPr lang="en-US" sz="1200" b="1" dirty="0">
                          <a:solidFill>
                            <a:srgbClr val="FFFFFF"/>
                          </a:solidFill>
                        </a:rPr>
                        <a:t>Model</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1B4965"/>
                    </a:solidFill>
                  </a:tcPr>
                </a:tc>
                <a:tc>
                  <a:txBody>
                    <a:bodyPr/>
                    <a:lstStyle/>
                    <a:p>
                      <a:pPr indent="0" marL="0">
                        <a:buNone/>
                      </a:pPr>
                      <a:r>
                        <a:rPr lang="en-US" sz="1200" b="1" dirty="0">
                          <a:solidFill>
                            <a:srgbClr val="FFFFFF"/>
                          </a:solidFill>
                        </a:rPr>
                        <a:t>F1 [95 % CI]</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1B4965"/>
                    </a:solidFill>
                  </a:tcPr>
                </a:tc>
                <a:tc>
                  <a:txBody>
                    <a:bodyPr/>
                    <a:lstStyle/>
                    <a:p>
                      <a:pPr indent="0" marL="0">
                        <a:buNone/>
                      </a:pPr>
                      <a:r>
                        <a:rPr lang="en-US" sz="1200" b="1" dirty="0">
                          <a:solidFill>
                            <a:srgbClr val="FFFFFF"/>
                          </a:solidFill>
                        </a:rPr>
                        <a:t>Precision</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1B4965"/>
                    </a:solidFill>
                  </a:tcPr>
                </a:tc>
                <a:tc>
                  <a:txBody>
                    <a:bodyPr/>
                    <a:lstStyle/>
                    <a:p>
                      <a:pPr indent="0" marL="0">
                        <a:buNone/>
                      </a:pPr>
                      <a:r>
                        <a:rPr lang="en-US" sz="1200" b="1" dirty="0">
                          <a:solidFill>
                            <a:srgbClr val="FFFFFF"/>
                          </a:solidFill>
                        </a:rPr>
                        <a:t>Recall</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1B4965"/>
                    </a:solidFill>
                  </a:tcPr>
                </a:tc>
                <a:tc>
                  <a:txBody>
                    <a:bodyPr/>
                    <a:lstStyle/>
                    <a:p>
                      <a:pPr indent="0" marL="0">
                        <a:buNone/>
                      </a:pPr>
                      <a:r>
                        <a:rPr lang="en-US" sz="1200" b="1" dirty="0">
                          <a:solidFill>
                            <a:srgbClr val="FFFFFF"/>
                          </a:solidFill>
                        </a:rPr>
                        <a:t>Missed</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1B4965"/>
                    </a:solidFill>
                  </a:tcPr>
                </a:tc>
                <a:tc>
                  <a:txBody>
                    <a:bodyPr/>
                    <a:lstStyle/>
                    <a:p>
                      <a:pPr indent="0" marL="0">
                        <a:buNone/>
                      </a:pPr>
                      <a:r>
                        <a:rPr lang="en-US" sz="1200" b="1" dirty="0">
                          <a:solidFill>
                            <a:srgbClr val="FFFFFF"/>
                          </a:solidFill>
                        </a:rPr>
                        <a:t>False alarms</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1B4965"/>
                    </a:solidFill>
                  </a:tcPr>
                </a:tc>
              </a:tr>
              <a:tr h="384048">
                <a:tc>
                  <a:txBody>
                    <a:bodyPr/>
                    <a:lstStyle/>
                    <a:p>
                      <a:pPr indent="0" marL="0">
                        <a:buNone/>
                      </a:pPr>
                      <a:r>
                        <a:rPr lang="en-US" sz="1200" b="1" dirty="0">
                          <a:solidFill>
                            <a:srgbClr val="33475B"/>
                          </a:solidFill>
                        </a:rPr>
                        <a:t>IT2FIS</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0.887 [0.850, 0.915]</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0.866</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0.910</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59</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92</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r>
              <a:tr h="384048">
                <a:tc>
                  <a:txBody>
                    <a:bodyPr/>
                    <a:lstStyle/>
                    <a:p>
                      <a:pPr indent="0" marL="0">
                        <a:buNone/>
                      </a:pPr>
                      <a:r>
                        <a:rPr lang="en-US" sz="1200" b="1" dirty="0">
                          <a:solidFill>
                            <a:srgbClr val="33475B"/>
                          </a:solidFill>
                        </a:rPr>
                        <a:t>PSO-IT2FIS</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0.894 [0.859, 0.922]</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0.901</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0.888</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73</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64</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r>
              <a:tr h="384048">
                <a:tc>
                  <a:txBody>
                    <a:bodyPr/>
                    <a:lstStyle/>
                    <a:p>
                      <a:pPr indent="0" marL="0">
                        <a:buNone/>
                      </a:pPr>
                      <a:r>
                        <a:rPr lang="en-US" sz="1200" b="1" dirty="0">
                          <a:solidFill>
                            <a:srgbClr val="33475B"/>
                          </a:solidFill>
                        </a:rPr>
                        <a:t>SOM</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0.737 [0.665, 0.796]</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0.617</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0.914</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56</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371</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r>
              <a:tr h="384048">
                <a:tc>
                  <a:txBody>
                    <a:bodyPr/>
                    <a:lstStyle/>
                    <a:p>
                      <a:pPr indent="0" marL="0">
                        <a:buNone/>
                      </a:pPr>
                      <a:r>
                        <a:rPr lang="en-US" sz="1200" b="1" dirty="0">
                          <a:solidFill>
                            <a:srgbClr val="33475B"/>
                          </a:solidFill>
                        </a:rPr>
                        <a:t>ANFIS</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0.867 [0.820, 0.902]</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0.830</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0.907</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61</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121</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r>
              <a:tr h="384048">
                <a:tc>
                  <a:txBody>
                    <a:bodyPr/>
                    <a:lstStyle/>
                    <a:p>
                      <a:pPr indent="0" marL="0">
                        <a:buNone/>
                      </a:pPr>
                      <a:r>
                        <a:rPr lang="en-US" sz="1200" i="1" dirty="0">
                          <a:solidFill>
                            <a:srgbClr val="33475B"/>
                          </a:solidFill>
                        </a:rPr>
                        <a:t>Threshold (ref.)</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0.862 [0.820, 0.895]</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0.858</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0.867</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87</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200" dirty="0">
                          <a:solidFill>
                            <a:srgbClr val="33475B"/>
                          </a:solidFill>
                        </a:rPr>
                        <a:t>94</a:t>
                      </a:r>
                      <a:endParaRPr lang="en-US" sz="1200" dirty="0"/>
                    </a:p>
                  </a:txBody>
                  <a:tcPr marL="45720" marR="45720" marT="45720" marB="45720"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r>
            </a:tbl>
          </a:graphicData>
        </a:graphic>
      </p:graphicFrame>
      <p:sp>
        <p:nvSpPr>
          <p:cNvPr id="5" name="text-193"/>
          <p:cNvSpPr txBox="1"/>
          <p:nvPr/>
        </p:nvSpPr>
        <p:spPr>
          <a:xfrm>
            <a:off x="5943600" y="3931920"/>
            <a:ext cx="5696712" cy="1188720"/>
          </a:xfrm>
          <a:prstGeom prst="rect">
            <a:avLst/>
          </a:prstGeom>
          <a:noFill/>
          <a:ln/>
        </p:spPr>
        <p:txBody>
          <a:bodyPr wrap="square" lIns="0" tIns="0" rIns="0" bIns="0" rtlCol="0" anchor="t"/>
          <a:lstStyle/>
          <a:p>
            <a:pPr indent="0" marL="0">
              <a:buNone/>
            </a:pPr>
            <a:r>
              <a:rPr lang="en-US" sz="1500" dirty="0">
                <a:solidFill>
                  <a:srgbClr val="33475B"/>
                </a:solidFill>
              </a:rPr>
              <a:t>Intervals of IT2FIS, PSO-IT2FIS and ANFIS overlap, so none is significantly better. SOM's interval lies entirely below IT2FIS's. SOM raises 4× more false alarms.</a:t>
            </a:r>
            <a:endParaRPr lang="en-US" sz="1500" dirty="0"/>
          </a:p>
        </p:txBody>
      </p:sp>
      <p:sp>
        <p:nvSpPr>
          <p:cNvPr id="6" name="card-194"/>
          <p:cNvSpPr/>
          <p:nvPr/>
        </p:nvSpPr>
        <p:spPr>
          <a:xfrm>
            <a:off x="548640" y="5715000"/>
            <a:ext cx="11094415" cy="548640"/>
          </a:xfrm>
          <a:prstGeom prst="roundRect">
            <a:avLst>
              <a:gd name="adj" fmla="val 20000"/>
            </a:avLst>
          </a:prstGeom>
          <a:solidFill>
            <a:srgbClr val="E3F1F1"/>
          </a:solidFill>
          <a:ln w="12700">
            <a:solidFill>
              <a:srgbClr val="E3F1F1"/>
            </a:solidFill>
            <a:prstDash val="solid"/>
          </a:ln>
        </p:spPr>
      </p:sp>
      <p:sp>
        <p:nvSpPr>
          <p:cNvPr id="7" name="text-195"/>
          <p:cNvSpPr txBox="1"/>
          <p:nvPr/>
        </p:nvSpPr>
        <p:spPr>
          <a:xfrm>
            <a:off x="777240" y="5715000"/>
            <a:ext cx="10637215" cy="548640"/>
          </a:xfrm>
          <a:prstGeom prst="rect">
            <a:avLst/>
          </a:prstGeom>
          <a:noFill/>
          <a:ln/>
        </p:spPr>
        <p:txBody>
          <a:bodyPr wrap="square" lIns="0" tIns="0" rIns="0" bIns="0" rtlCol="0" anchor="ctr"/>
          <a:lstStyle/>
          <a:p>
            <a:pPr indent="0" marL="0">
              <a:buNone/>
            </a:pPr>
            <a:r>
              <a:rPr lang="en-US" sz="1500" b="1" dirty="0">
                <a:solidFill>
                  <a:schemeClr val="accent1"/>
                </a:solidFill>
              </a:rPr>
              <a:t>Answer to Q1: IT2FIS 0.887, PSO-IT2FIS 0.894 and ANFIS 0.867 are statistically tied; SOM 0.737 is clearly weaker.</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Skill falls with lead time for every model</a:t>
            </a:r>
            <a:endParaRPr lang="en-US" sz="3400" dirty="0"/>
          </a:p>
        </p:txBody>
      </p:sp>
      <p:graphicFrame>
        <p:nvGraphicFramePr>
          <p:cNvPr id="3" name="horizon-chart" descr=""/>
          <p:cNvGraphicFramePr/>
          <p:nvPr/>
        </p:nvGraphicFramePr>
        <p:xfrm>
          <a:off x="548640" y="132588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4" name="text-196"/>
          <p:cNvSpPr txBox="1"/>
          <p:nvPr/>
        </p:nvSpPr>
        <p:spPr>
          <a:xfrm>
            <a:off x="7863840" y="1371600"/>
            <a:ext cx="3749040" cy="59436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0.935 → 0.664</a:t>
            </a:r>
            <a:endParaRPr lang="en-US" sz="3000" dirty="0"/>
          </a:p>
        </p:txBody>
      </p:sp>
      <p:sp>
        <p:nvSpPr>
          <p:cNvPr id="5" name="text-197"/>
          <p:cNvSpPr txBox="1"/>
          <p:nvPr/>
        </p:nvSpPr>
        <p:spPr>
          <a:xfrm>
            <a:off x="7863840" y="1965960"/>
            <a:ext cx="3749040" cy="640080"/>
          </a:xfrm>
          <a:prstGeom prst="rect">
            <a:avLst/>
          </a:prstGeom>
          <a:noFill/>
          <a:ln/>
        </p:spPr>
        <p:txBody>
          <a:bodyPr wrap="square" lIns="0" tIns="0" rIns="0" bIns="0" rtlCol="0" anchor="t"/>
          <a:lstStyle/>
          <a:p>
            <a:pPr indent="0" marL="0">
              <a:buNone/>
            </a:pPr>
            <a:r>
              <a:rPr lang="en-US" sz="1400" dirty="0">
                <a:solidFill>
                  <a:srgbClr val="33475B"/>
                </a:solidFill>
              </a:rPr>
              <a:t>IT2FIS F1 from 30 min to 3 h</a:t>
            </a:r>
            <a:endParaRPr lang="en-US" sz="1400" dirty="0"/>
          </a:p>
        </p:txBody>
      </p:sp>
      <p:sp>
        <p:nvSpPr>
          <p:cNvPr id="6" name="text-198"/>
          <p:cNvSpPr txBox="1"/>
          <p:nvPr/>
        </p:nvSpPr>
        <p:spPr>
          <a:xfrm>
            <a:off x="7863840" y="2743200"/>
            <a:ext cx="3749040" cy="59436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10.2 %</a:t>
            </a:r>
            <a:endParaRPr lang="en-US" sz="3000" dirty="0"/>
          </a:p>
        </p:txBody>
      </p:sp>
      <p:sp>
        <p:nvSpPr>
          <p:cNvPr id="7" name="text-199"/>
          <p:cNvSpPr txBox="1"/>
          <p:nvPr/>
        </p:nvSpPr>
        <p:spPr>
          <a:xfrm>
            <a:off x="7863840" y="3337560"/>
            <a:ext cx="3749040" cy="640080"/>
          </a:xfrm>
          <a:prstGeom prst="rect">
            <a:avLst/>
          </a:prstGeom>
          <a:noFill/>
          <a:ln/>
        </p:spPr>
        <p:txBody>
          <a:bodyPr wrap="square" lIns="0" tIns="0" rIns="0" bIns="0" rtlCol="0" anchor="t"/>
          <a:lstStyle/>
          <a:p>
            <a:pPr indent="0" marL="0">
              <a:buNone/>
            </a:pPr>
            <a:r>
              <a:rPr lang="en-US" sz="1400" dirty="0">
                <a:solidFill>
                  <a:srgbClr val="33475B"/>
                </a:solidFill>
              </a:rPr>
              <a:t>of steps change level class within 3 h (2.7 % within 30 min)</a:t>
            </a:r>
            <a:endParaRPr lang="en-US" sz="1400" dirty="0"/>
          </a:p>
        </p:txBody>
      </p:sp>
      <p:sp>
        <p:nvSpPr>
          <p:cNvPr id="8" name="text-200"/>
          <p:cNvSpPr txBox="1"/>
          <p:nvPr/>
        </p:nvSpPr>
        <p:spPr>
          <a:xfrm>
            <a:off x="7863840" y="4114800"/>
            <a:ext cx="3749040" cy="59436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+0.031</a:t>
            </a:r>
            <a:endParaRPr lang="en-US" sz="3000" dirty="0"/>
          </a:p>
        </p:txBody>
      </p:sp>
      <p:sp>
        <p:nvSpPr>
          <p:cNvPr id="9" name="text-201"/>
          <p:cNvSpPr txBox="1"/>
          <p:nvPr/>
        </p:nvSpPr>
        <p:spPr>
          <a:xfrm>
            <a:off x="7863840" y="4709160"/>
            <a:ext cx="3749040" cy="640080"/>
          </a:xfrm>
          <a:prstGeom prst="rect">
            <a:avLst/>
          </a:prstGeom>
          <a:noFill/>
          <a:ln/>
        </p:spPr>
        <p:txBody>
          <a:bodyPr wrap="square" lIns="0" tIns="0" rIns="0" bIns="0" rtlCol="0" anchor="t"/>
          <a:lstStyle/>
          <a:p>
            <a:pPr indent="0" marL="0">
              <a:buNone/>
            </a:pPr>
            <a:r>
              <a:rPr lang="en-US" sz="1400" dirty="0">
                <a:solidFill>
                  <a:srgbClr val="33475B"/>
                </a:solidFill>
              </a:rPr>
              <a:t>PSO's largest gain, at 3 h, still inside the interval</a:t>
            </a:r>
            <a:endParaRPr lang="en-US" sz="1400" dirty="0"/>
          </a:p>
        </p:txBody>
      </p:sp>
      <p:sp>
        <p:nvSpPr>
          <p:cNvPr id="10" name="card-202"/>
          <p:cNvSpPr/>
          <p:nvPr/>
        </p:nvSpPr>
        <p:spPr>
          <a:xfrm>
            <a:off x="548640" y="5715000"/>
            <a:ext cx="11094415" cy="548640"/>
          </a:xfrm>
          <a:prstGeom prst="roundRect">
            <a:avLst>
              <a:gd name="adj" fmla="val 20000"/>
            </a:avLst>
          </a:prstGeom>
          <a:solidFill>
            <a:srgbClr val="E3F1F1"/>
          </a:solidFill>
          <a:ln w="12700">
            <a:solidFill>
              <a:srgbClr val="E3F1F1"/>
            </a:solidFill>
            <a:prstDash val="solid"/>
          </a:ln>
        </p:spPr>
      </p:sp>
      <p:sp>
        <p:nvSpPr>
          <p:cNvPr id="11" name="text-203"/>
          <p:cNvSpPr txBox="1"/>
          <p:nvPr/>
        </p:nvSpPr>
        <p:spPr>
          <a:xfrm>
            <a:off x="777240" y="5715000"/>
            <a:ext cx="10637215" cy="548640"/>
          </a:xfrm>
          <a:prstGeom prst="rect">
            <a:avLst/>
          </a:prstGeom>
          <a:noFill/>
          <a:ln/>
        </p:spPr>
        <p:txBody>
          <a:bodyPr wrap="square" lIns="0" tIns="0" rIns="0" bIns="0" rtlCol="0" anchor="ctr"/>
          <a:lstStyle/>
          <a:p>
            <a:pPr indent="0" marL="0">
              <a:buNone/>
            </a:pPr>
            <a:r>
              <a:rPr lang="en-US" sz="1500" b="1" dirty="0">
                <a:solidFill>
                  <a:schemeClr val="accent1"/>
                </a:solidFill>
              </a:rPr>
              <a:t>The further ahead, the less the current readings say; a linear level forecaster does not beat persistence either.</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PSO: small gains, not statistically significant</a:t>
            </a:r>
            <a:endParaRPr lang="en-US" sz="3400" dirty="0"/>
          </a:p>
        </p:txBody>
      </p:sp>
      <p:graphicFrame>
        <p:nvGraphicFramePr>
          <p:cNvPr id="3" name="pso-chart" descr=""/>
          <p:cNvGraphicFramePr/>
          <p:nvPr/>
        </p:nvGraphicFramePr>
        <p:xfrm>
          <a:off x="548640" y="1325880"/>
          <a:ext cx="5669280" cy="4206240"/>
        </p:xfrm>
        <a:graphic xmlns:a="http://schemas.openxmlformats.org/drawingml/2006/main">
          <a:graphicData uri="http://schemas.openxmlformats.org/drawingml/2006/chart">
            <c:chart xmlns:c="http://schemas.openxmlformats.org/drawingml/2006/chart" r:id="rId1"/>
          </a:graphicData>
        </a:graphic>
      </p:graphicFrame>
      <p:sp>
        <p:nvSpPr>
          <p:cNvPr id="4" name="card-204"/>
          <p:cNvSpPr/>
          <p:nvPr/>
        </p:nvSpPr>
        <p:spPr>
          <a:xfrm>
            <a:off x="6583680" y="1371600"/>
            <a:ext cx="5056632" cy="1188720"/>
          </a:xfrm>
          <a:prstGeom prst="roundRect">
            <a:avLst>
              <a:gd name="adj" fmla="val 9231"/>
            </a:avLst>
          </a:prstGeom>
          <a:solidFill>
            <a:srgbClr val="EEF3F6"/>
          </a:solidFill>
          <a:ln w="12700">
            <a:solidFill>
              <a:srgbClr val="EEF3F6"/>
            </a:solidFill>
            <a:prstDash val="solid"/>
          </a:ln>
        </p:spPr>
      </p:sp>
      <p:sp>
        <p:nvSpPr>
          <p:cNvPr id="5" name="text-205"/>
          <p:cNvSpPr txBox="1"/>
          <p:nvPr/>
        </p:nvSpPr>
        <p:spPr>
          <a:xfrm>
            <a:off x="6812280" y="1481328"/>
            <a:ext cx="4572000" cy="548640"/>
          </a:xfrm>
          <a:prstGeom prst="rect">
            <a:avLst/>
          </a:prstGeom>
          <a:noFill/>
          <a:ln/>
        </p:spPr>
        <p:txBody>
          <a:bodyPr wrap="square" lIns="0" tIns="0" rIns="0" bIns="0" rtlCol="0" anchor="t"/>
          <a:lstStyle/>
          <a:p>
            <a:pPr indent="0" marL="0">
              <a:buNone/>
            </a:pPr>
            <a:r>
              <a:rPr lang="en-US" sz="2800" b="1" dirty="0">
                <a:solidFill>
                  <a:srgbClr val="7B4FB0"/>
                </a:solidFill>
                <a:latin typeface="Cambria" pitchFamily="34" charset="0"/>
                <a:ea typeface="Cambria" pitchFamily="34" charset="-122"/>
                <a:cs typeface="Cambria" pitchFamily="34" charset="-120"/>
              </a:rPr>
              <a:t>92 → 64</a:t>
            </a:r>
            <a:endParaRPr lang="en-US" sz="2800" dirty="0"/>
          </a:p>
        </p:txBody>
      </p:sp>
      <p:sp>
        <p:nvSpPr>
          <p:cNvPr id="6" name="text-206"/>
          <p:cNvSpPr txBox="1"/>
          <p:nvPr/>
        </p:nvSpPr>
        <p:spPr>
          <a:xfrm>
            <a:off x="6812280" y="2057400"/>
            <a:ext cx="4572000" cy="411480"/>
          </a:xfrm>
          <a:prstGeom prst="rect">
            <a:avLst/>
          </a:prstGeom>
          <a:noFill/>
          <a:ln/>
        </p:spPr>
        <p:txBody>
          <a:bodyPr wrap="square" lIns="0" tIns="0" rIns="0" bIns="0" rtlCol="0" anchor="t"/>
          <a:lstStyle/>
          <a:p>
            <a:pPr indent="0" marL="0">
              <a:buNone/>
            </a:pPr>
            <a:r>
              <a:rPr lang="en-US" sz="1400" dirty="0">
                <a:solidFill>
                  <a:srgbClr val="33475B"/>
                </a:solidFill>
              </a:rPr>
              <a:t>false alarms at 1 h</a:t>
            </a:r>
            <a:endParaRPr lang="en-US" sz="1400" dirty="0"/>
          </a:p>
        </p:txBody>
      </p:sp>
      <p:sp>
        <p:nvSpPr>
          <p:cNvPr id="7" name="card-207"/>
          <p:cNvSpPr/>
          <p:nvPr/>
        </p:nvSpPr>
        <p:spPr>
          <a:xfrm>
            <a:off x="6583680" y="2743200"/>
            <a:ext cx="5056632" cy="1188720"/>
          </a:xfrm>
          <a:prstGeom prst="roundRect">
            <a:avLst>
              <a:gd name="adj" fmla="val 9231"/>
            </a:avLst>
          </a:prstGeom>
          <a:solidFill>
            <a:srgbClr val="EEF3F6"/>
          </a:solidFill>
          <a:ln w="12700">
            <a:solidFill>
              <a:srgbClr val="EEF3F6"/>
            </a:solidFill>
            <a:prstDash val="solid"/>
          </a:ln>
        </p:spPr>
      </p:sp>
      <p:sp>
        <p:nvSpPr>
          <p:cNvPr id="8" name="text-208"/>
          <p:cNvSpPr txBox="1"/>
          <p:nvPr/>
        </p:nvSpPr>
        <p:spPr>
          <a:xfrm>
            <a:off x="6812280" y="2852928"/>
            <a:ext cx="4572000" cy="548640"/>
          </a:xfrm>
          <a:prstGeom prst="rect">
            <a:avLst/>
          </a:prstGeom>
          <a:noFill/>
          <a:ln/>
        </p:spPr>
        <p:txBody>
          <a:bodyPr wrap="square" lIns="0" tIns="0" rIns="0" bIns="0" rtlCol="0" anchor="t"/>
          <a:lstStyle/>
          <a:p>
            <a:pPr indent="0" marL="0">
              <a:buNone/>
            </a:pPr>
            <a:r>
              <a:rPr lang="en-US" sz="2800" b="1" dirty="0">
                <a:solidFill>
                  <a:srgbClr val="7B4FB0"/>
                </a:solidFill>
                <a:latin typeface="Cambria" pitchFamily="34" charset="0"/>
                <a:ea typeface="Cambria" pitchFamily="34" charset="-122"/>
                <a:cs typeface="Cambria" pitchFamily="34" charset="-120"/>
              </a:rPr>
              <a:t>59 → 73</a:t>
            </a:r>
            <a:endParaRPr lang="en-US" sz="2800" dirty="0"/>
          </a:p>
        </p:txBody>
      </p:sp>
      <p:sp>
        <p:nvSpPr>
          <p:cNvPr id="9" name="text-209"/>
          <p:cNvSpPr txBox="1"/>
          <p:nvPr/>
        </p:nvSpPr>
        <p:spPr>
          <a:xfrm>
            <a:off x="6812280" y="3429000"/>
            <a:ext cx="4572000" cy="411480"/>
          </a:xfrm>
          <a:prstGeom prst="rect">
            <a:avLst/>
          </a:prstGeom>
          <a:noFill/>
          <a:ln/>
        </p:spPr>
        <p:txBody>
          <a:bodyPr wrap="square" lIns="0" tIns="0" rIns="0" bIns="0" rtlCol="0" anchor="t"/>
          <a:lstStyle/>
          <a:p>
            <a:pPr indent="0" marL="0">
              <a:buNone/>
            </a:pPr>
            <a:r>
              <a:rPr lang="en-US" sz="1400" dirty="0">
                <a:solidFill>
                  <a:srgbClr val="33475B"/>
                </a:solidFill>
              </a:rPr>
              <a:t>missed alerts at 1 h</a:t>
            </a:r>
            <a:endParaRPr lang="en-US" sz="1400" dirty="0"/>
          </a:p>
        </p:txBody>
      </p:sp>
      <p:sp>
        <p:nvSpPr>
          <p:cNvPr id="10" name="card-210"/>
          <p:cNvSpPr/>
          <p:nvPr/>
        </p:nvSpPr>
        <p:spPr>
          <a:xfrm>
            <a:off x="6583680" y="4114800"/>
            <a:ext cx="5056632" cy="1188720"/>
          </a:xfrm>
          <a:prstGeom prst="roundRect">
            <a:avLst>
              <a:gd name="adj" fmla="val 9231"/>
            </a:avLst>
          </a:prstGeom>
          <a:solidFill>
            <a:srgbClr val="EEF3F6"/>
          </a:solidFill>
          <a:ln w="12700">
            <a:solidFill>
              <a:srgbClr val="EEF3F6"/>
            </a:solidFill>
            <a:prstDash val="solid"/>
          </a:ln>
        </p:spPr>
      </p:sp>
      <p:sp>
        <p:nvSpPr>
          <p:cNvPr id="11" name="text-211"/>
          <p:cNvSpPr txBox="1"/>
          <p:nvPr/>
        </p:nvSpPr>
        <p:spPr>
          <a:xfrm>
            <a:off x="6812280" y="4224528"/>
            <a:ext cx="4572000" cy="548640"/>
          </a:xfrm>
          <a:prstGeom prst="rect">
            <a:avLst/>
          </a:prstGeom>
          <a:noFill/>
          <a:ln/>
        </p:spPr>
        <p:txBody>
          <a:bodyPr wrap="square" lIns="0" tIns="0" rIns="0" bIns="0" rtlCol="0" anchor="t"/>
          <a:lstStyle/>
          <a:p>
            <a:pPr indent="0" marL="0">
              <a:buNone/>
            </a:pPr>
            <a:r>
              <a:rPr lang="en-US" sz="2800" b="1" dirty="0">
                <a:solidFill>
                  <a:srgbClr val="7B4FB0"/>
                </a:solidFill>
                <a:latin typeface="Cambria" pitchFamily="34" charset="0"/>
                <a:ea typeface="Cambria" pitchFamily="34" charset="-122"/>
                <a:cs typeface="Cambria" pitchFamily="34" charset="-120"/>
              </a:rPr>
              <a:t>0.931 → 0.969</a:t>
            </a:r>
            <a:endParaRPr lang="en-US" sz="2800" dirty="0"/>
          </a:p>
        </p:txBody>
      </p:sp>
      <p:sp>
        <p:nvSpPr>
          <p:cNvPr id="12" name="text-212"/>
          <p:cNvSpPr txBox="1"/>
          <p:nvPr/>
        </p:nvSpPr>
        <p:spPr>
          <a:xfrm>
            <a:off x="6812280" y="4800600"/>
            <a:ext cx="4572000" cy="411480"/>
          </a:xfrm>
          <a:prstGeom prst="rect">
            <a:avLst/>
          </a:prstGeom>
          <a:noFill/>
          <a:ln/>
        </p:spPr>
        <p:txBody>
          <a:bodyPr wrap="square" lIns="0" tIns="0" rIns="0" bIns="0" rtlCol="0" anchor="t"/>
          <a:lstStyle/>
          <a:p>
            <a:pPr indent="0" marL="0">
              <a:buNone/>
            </a:pPr>
            <a:r>
              <a:rPr lang="en-US" sz="1400" dirty="0">
                <a:solidFill>
                  <a:srgbClr val="33475B"/>
                </a:solidFill>
              </a:rPr>
              <a:t>Malwathu validation objective, while test F1 stayed 0.864</a:t>
            </a:r>
            <a:endParaRPr lang="en-US" sz="1400" dirty="0"/>
          </a:p>
        </p:txBody>
      </p:sp>
      <p:sp>
        <p:nvSpPr>
          <p:cNvPr id="13" name="card-213"/>
          <p:cNvSpPr/>
          <p:nvPr/>
        </p:nvSpPr>
        <p:spPr>
          <a:xfrm>
            <a:off x="548640" y="5715000"/>
            <a:ext cx="11094415" cy="548640"/>
          </a:xfrm>
          <a:prstGeom prst="roundRect">
            <a:avLst>
              <a:gd name="adj" fmla="val 20000"/>
            </a:avLst>
          </a:prstGeom>
          <a:solidFill>
            <a:srgbClr val="E3F1F1"/>
          </a:solidFill>
          <a:ln w="12700">
            <a:solidFill>
              <a:srgbClr val="E3F1F1"/>
            </a:solidFill>
            <a:prstDash val="solid"/>
          </a:ln>
        </p:spPr>
      </p:sp>
      <p:sp>
        <p:nvSpPr>
          <p:cNvPr id="14" name="text-214"/>
          <p:cNvSpPr txBox="1"/>
          <p:nvPr/>
        </p:nvSpPr>
        <p:spPr>
          <a:xfrm>
            <a:off x="777240" y="5715000"/>
            <a:ext cx="10637215" cy="548640"/>
          </a:xfrm>
          <a:prstGeom prst="rect">
            <a:avLst/>
          </a:prstGeom>
          <a:noFill/>
          <a:ln/>
        </p:spPr>
        <p:txBody>
          <a:bodyPr wrap="square" lIns="0" tIns="0" rIns="0" bIns="0" rtlCol="0" anchor="ctr"/>
          <a:lstStyle/>
          <a:p>
            <a:pPr indent="0" marL="0">
              <a:buNone/>
            </a:pPr>
            <a:r>
              <a:rPr lang="en-US" sz="1500" b="1" dirty="0">
                <a:solidFill>
                  <a:schemeClr val="accent1"/>
                </a:solidFill>
              </a:rPr>
              <a:t>Answer to Q2: PSO trades missed alerts for fewer false alarms; its gains stay within the confidence intervals.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Faulty sensors: IT2 models hold up best</a:t>
            </a:r>
            <a:endParaRPr lang="en-US" sz="3400" dirty="0"/>
          </a:p>
        </p:txBody>
      </p:sp>
      <p:graphicFrame>
        <p:nvGraphicFramePr>
          <p:cNvPr id="3" name="fault-chart" descr=""/>
          <p:cNvGraphicFramePr/>
          <p:nvPr/>
        </p:nvGraphicFramePr>
        <p:xfrm>
          <a:off x="548640" y="1325880"/>
          <a:ext cx="5852160" cy="4206240"/>
        </p:xfrm>
        <a:graphic xmlns:a="http://schemas.openxmlformats.org/drawingml/2006/main">
          <a:graphicData uri="http://schemas.openxmlformats.org/drawingml/2006/chart">
            <c:chart xmlns:c="http://schemas.openxmlformats.org/drawingml/2006/chart" r:id="rId1"/>
          </a:graphicData>
        </a:graphic>
      </p:graphicFrame>
      <p:sp>
        <p:nvSpPr>
          <p:cNvPr id="4" name="text-215"/>
          <p:cNvSpPr txBox="1"/>
          <p:nvPr/>
        </p:nvSpPr>
        <p:spPr>
          <a:xfrm>
            <a:off x="6675120" y="1371600"/>
            <a:ext cx="4937760" cy="365760"/>
          </a:xfrm>
          <a:prstGeom prst="rect">
            <a:avLst/>
          </a:prstGeom>
          <a:noFill/>
          <a:ln/>
        </p:spPr>
        <p:txBody>
          <a:bodyPr wrap="square" lIns="0" tIns="0" rIns="0" bIns="0" rtlCol="0" anchor="t"/>
          <a:lstStyle/>
          <a:p>
            <a:pPr indent="0" marL="0">
              <a:buNone/>
            </a:pPr>
            <a:r>
              <a:rPr lang="en-US" sz="1700" b="1" dirty="0">
                <a:solidFill>
                  <a:schemeClr val="tx1"/>
                </a:solidFill>
              </a:rPr>
              <a:t>Where the reliability layer matters</a:t>
            </a:r>
            <a:endParaRPr lang="en-US" sz="1700" dirty="0"/>
          </a:p>
        </p:txBody>
      </p:sp>
      <p:graphicFrame>
        <p:nvGraphicFramePr>
          <p:cNvPr id="15" name="fault-table"/>
          <p:cNvGraphicFramePr>
            <a:graphicFrameLocks noGrp="1"/>
          </p:cNvGraphicFramePr>
          <p:nvPr>
            <p:extLst>
              <p:ext uri="{D42A27DB-BD31-4B8C-83A1-F6EECF244321}">
                <p14:modId xmlns:p14="http://schemas.microsoft.com/office/powerpoint/2010/main" val="1579011935"/>
              </p:ext>
            </p:extLst>
          </p:nvPr>
        </p:nvGraphicFramePr>
        <p:xfrm>
          <a:off x="6675120" y="1783080"/>
          <a:ext cx="4965192" cy="914400"/>
        </p:xfrm>
        <a:graphic>
          <a:graphicData uri="http://schemas.openxmlformats.org/drawingml/2006/table">
            <a:tbl>
              <a:tblPr/>
              <a:tblGrid>
                <a:gridCol w="2770632"/>
                <a:gridCol w="1097280"/>
                <a:gridCol w="1097280"/>
              </a:tblGrid>
              <a:tr h="329184">
                <a:tc>
                  <a:txBody>
                    <a:bodyPr/>
                    <a:lstStyle/>
                    <a:p>
                      <a:pPr indent="0" marL="0">
                        <a:buNone/>
                      </a:pPr>
                      <a:r>
                        <a:rPr lang="en-US" sz="1300" b="1" dirty="0">
                          <a:solidFill>
                            <a:srgbClr val="FFFFFF"/>
                          </a:solidFill>
                        </a:rPr>
                        <a:t>Case (1 h)</a:t>
                      </a:r>
                      <a:endParaRPr lang="en-US" sz="1300" dirty="0"/>
                    </a:p>
                  </a:txBody>
                  <a:tcPr marL="45720" marR="45720" marT="45720" marB="45720">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1B4965"/>
                    </a:solidFill>
                  </a:tcPr>
                </a:tc>
                <a:tc>
                  <a:txBody>
                    <a:bodyPr/>
                    <a:lstStyle/>
                    <a:p>
                      <a:pPr indent="0" marL="0">
                        <a:buNone/>
                      </a:pPr>
                      <a:r>
                        <a:rPr lang="en-US" sz="1300" b="1" dirty="0">
                          <a:solidFill>
                            <a:srgbClr val="FFFFFF"/>
                          </a:solidFill>
                        </a:rPr>
                        <a:t>Off</a:t>
                      </a:r>
                      <a:endParaRPr lang="en-US" sz="1300" dirty="0"/>
                    </a:p>
                  </a:txBody>
                  <a:tcPr marL="45720" marR="45720" marT="45720" marB="45720">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1B4965"/>
                    </a:solidFill>
                  </a:tcPr>
                </a:tc>
                <a:tc>
                  <a:txBody>
                    <a:bodyPr/>
                    <a:lstStyle/>
                    <a:p>
                      <a:pPr indent="0" marL="0">
                        <a:buNone/>
                      </a:pPr>
                      <a:r>
                        <a:rPr lang="en-US" sz="1300" b="1" dirty="0">
                          <a:solidFill>
                            <a:srgbClr val="FFFFFF"/>
                          </a:solidFill>
                        </a:rPr>
                        <a:t>On</a:t>
                      </a:r>
                      <a:endParaRPr lang="en-US" sz="1300" dirty="0"/>
                    </a:p>
                  </a:txBody>
                  <a:tcPr marL="45720" marR="45720" marT="45720" marB="45720">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1B4965"/>
                    </a:solidFill>
                  </a:tcPr>
                </a:tc>
              </a:tr>
              <a:tr h="329184">
                <a:tc>
                  <a:txBody>
                    <a:bodyPr/>
                    <a:lstStyle/>
                    <a:p>
                      <a:pPr indent="0" marL="0">
                        <a:buNone/>
                      </a:pPr>
                      <a:r>
                        <a:rPr lang="en-US" sz="1300" dirty="0">
                          <a:solidFill>
                            <a:srgbClr val="33475B"/>
                          </a:solidFill>
                        </a:rPr>
                        <a:t>Spikes · IT2FIS</a:t>
                      </a:r>
                      <a:endParaRPr lang="en-US" sz="1300" dirty="0"/>
                    </a:p>
                  </a:txBody>
                  <a:tcPr marL="45720" marR="45720" marT="45720" marB="45720">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300" dirty="0">
                          <a:solidFill>
                            <a:srgbClr val="33475B"/>
                          </a:solidFill>
                        </a:rPr>
                        <a:t>0.755</a:t>
                      </a:r>
                      <a:endParaRPr lang="en-US" sz="1300" dirty="0"/>
                    </a:p>
                  </a:txBody>
                  <a:tcPr marL="45720" marR="45720" marT="45720" marB="45720">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300" dirty="0">
                          <a:solidFill>
                            <a:srgbClr val="33475B"/>
                          </a:solidFill>
                        </a:rPr>
                        <a:t>0.821</a:t>
                      </a:r>
                      <a:endParaRPr lang="en-US" sz="1300" dirty="0"/>
                    </a:p>
                  </a:txBody>
                  <a:tcPr marL="45720" marR="45720" marT="45720" marB="45720">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r>
              <a:tr h="329184">
                <a:tc>
                  <a:txBody>
                    <a:bodyPr/>
                    <a:lstStyle/>
                    <a:p>
                      <a:pPr indent="0" marL="0">
                        <a:buNone/>
                      </a:pPr>
                      <a:r>
                        <a:rPr lang="en-US" sz="1300" dirty="0">
                          <a:solidFill>
                            <a:srgbClr val="33475B"/>
                          </a:solidFill>
                        </a:rPr>
                        <a:t>Spikes · ANFIS</a:t>
                      </a:r>
                      <a:endParaRPr lang="en-US" sz="1300" dirty="0"/>
                    </a:p>
                  </a:txBody>
                  <a:tcPr marL="45720" marR="45720" marT="45720" marB="45720">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300" dirty="0">
                          <a:solidFill>
                            <a:srgbClr val="33475B"/>
                          </a:solidFill>
                        </a:rPr>
                        <a:t>0.651</a:t>
                      </a:r>
                      <a:endParaRPr lang="en-US" sz="1300" dirty="0"/>
                    </a:p>
                  </a:txBody>
                  <a:tcPr marL="45720" marR="45720" marT="45720" marB="45720">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300" dirty="0">
                          <a:solidFill>
                            <a:srgbClr val="33475B"/>
                          </a:solidFill>
                        </a:rPr>
                        <a:t>0.750</a:t>
                      </a:r>
                      <a:endParaRPr lang="en-US" sz="1300" dirty="0"/>
                    </a:p>
                  </a:txBody>
                  <a:tcPr marL="45720" marR="45720" marT="45720" marB="45720">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r>
              <a:tr h="329184">
                <a:tc>
                  <a:txBody>
                    <a:bodyPr/>
                    <a:lstStyle/>
                    <a:p>
                      <a:pPr indent="0" marL="0">
                        <a:buNone/>
                      </a:pPr>
                      <a:r>
                        <a:rPr lang="en-US" sz="1300" dirty="0">
                          <a:solidFill>
                            <a:srgbClr val="33475B"/>
                          </a:solidFill>
                        </a:rPr>
                        <a:t>Medium noise · ANFIS</a:t>
                      </a:r>
                      <a:endParaRPr lang="en-US" sz="1300" dirty="0"/>
                    </a:p>
                  </a:txBody>
                  <a:tcPr marL="45720" marR="45720" marT="45720" marB="45720">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300" dirty="0">
                          <a:solidFill>
                            <a:srgbClr val="33475B"/>
                          </a:solidFill>
                        </a:rPr>
                        <a:t>0.413</a:t>
                      </a:r>
                      <a:endParaRPr lang="en-US" sz="1300" dirty="0"/>
                    </a:p>
                  </a:txBody>
                  <a:tcPr marL="45720" marR="45720" marT="45720" marB="45720">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300" dirty="0">
                          <a:solidFill>
                            <a:srgbClr val="33475B"/>
                          </a:solidFill>
                        </a:rPr>
                        <a:t>0.508</a:t>
                      </a:r>
                      <a:endParaRPr lang="en-US" sz="1300" dirty="0"/>
                    </a:p>
                  </a:txBody>
                  <a:tcPr marL="45720" marR="45720" marT="45720" marB="45720">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r>
              <a:tr h="329184">
                <a:tc>
                  <a:txBody>
                    <a:bodyPr/>
                    <a:lstStyle/>
                    <a:p>
                      <a:pPr indent="0" marL="0">
                        <a:buNone/>
                      </a:pPr>
                      <a:r>
                        <a:rPr lang="en-US" sz="1300" dirty="0">
                          <a:solidFill>
                            <a:srgbClr val="33475B"/>
                          </a:solidFill>
                        </a:rPr>
                        <a:t>Clean · IT2FIS</a:t>
                      </a:r>
                      <a:endParaRPr lang="en-US" sz="1300" dirty="0"/>
                    </a:p>
                  </a:txBody>
                  <a:tcPr marL="45720" marR="45720" marT="45720" marB="45720">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300" dirty="0">
                          <a:solidFill>
                            <a:srgbClr val="33475B"/>
                          </a:solidFill>
                        </a:rPr>
                        <a:t>0.887</a:t>
                      </a:r>
                      <a:endParaRPr lang="en-US" sz="1300" dirty="0"/>
                    </a:p>
                  </a:txBody>
                  <a:tcPr marL="45720" marR="45720" marT="45720" marB="45720">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300" dirty="0">
                          <a:solidFill>
                            <a:srgbClr val="33475B"/>
                          </a:solidFill>
                        </a:rPr>
                        <a:t>0.880</a:t>
                      </a:r>
                      <a:endParaRPr lang="en-US" sz="1300" dirty="0"/>
                    </a:p>
                  </a:txBody>
                  <a:tcPr marL="45720" marR="45720" marT="45720" marB="45720">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r>
              <a:tr h="329184">
                <a:tc>
                  <a:txBody>
                    <a:bodyPr/>
                    <a:lstStyle/>
                    <a:p>
                      <a:pPr indent="0" marL="0">
                        <a:buNone/>
                      </a:pPr>
                      <a:r>
                        <a:rPr lang="en-US" sz="1300" dirty="0">
                          <a:solidFill>
                            <a:srgbClr val="33475B"/>
                          </a:solidFill>
                        </a:rPr>
                        <a:t>Missing 30 % · IT2FIS</a:t>
                      </a:r>
                      <a:endParaRPr lang="en-US" sz="1300" dirty="0"/>
                    </a:p>
                  </a:txBody>
                  <a:tcPr marL="45720" marR="45720" marT="45720" marB="45720">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300" dirty="0">
                          <a:solidFill>
                            <a:srgbClr val="33475B"/>
                          </a:solidFill>
                        </a:rPr>
                        <a:t>0.845</a:t>
                      </a:r>
                      <a:endParaRPr lang="en-US" sz="1300" dirty="0"/>
                    </a:p>
                  </a:txBody>
                  <a:tcPr marL="45720" marR="45720" marT="45720" marB="45720">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c>
                  <a:txBody>
                    <a:bodyPr/>
                    <a:lstStyle/>
                    <a:p>
                      <a:pPr indent="0" marL="0">
                        <a:buNone/>
                      </a:pPr>
                      <a:r>
                        <a:rPr lang="en-US" sz="1300" dirty="0">
                          <a:solidFill>
                            <a:srgbClr val="33475B"/>
                          </a:solidFill>
                        </a:rPr>
                        <a:t>0.827</a:t>
                      </a:r>
                      <a:endParaRPr lang="en-US" sz="1300" dirty="0"/>
                    </a:p>
                  </a:txBody>
                  <a:tcPr marL="45720" marR="45720" marT="45720" marB="45720">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tcPr>
                </a:tc>
              </a:tr>
            </a:tbl>
          </a:graphicData>
        </a:graphic>
      </p:graphicFrame>
      <p:sp>
        <p:nvSpPr>
          <p:cNvPr id="6" name="text-216"/>
          <p:cNvSpPr txBox="1"/>
          <p:nvPr/>
        </p:nvSpPr>
        <p:spPr>
          <a:xfrm>
            <a:off x="6675120" y="3931920"/>
            <a:ext cx="4965192" cy="1554480"/>
          </a:xfrm>
          <a:prstGeom prst="rect">
            <a:avLst/>
          </a:prstGeom>
          <a:noFill/>
          <a:ln/>
        </p:spPr>
        <p:txBody>
          <a:bodyPr wrap="square" lIns="0" tIns="0" rIns="0" bIns="0" rtlCol="0" anchor="t"/>
          <a:lstStyle/>
          <a:p>
            <a:pPr indent="0" marL="0">
              <a:buNone/>
            </a:pPr>
            <a:r>
              <a:rPr lang="en-US" sz="1400" dirty="0">
                <a:solidFill>
                  <a:srgbClr val="33475B"/>
                </a:solidFill>
              </a:rPr>
              <a:t>Fault detection recall of the reliability checks: missing 100 %, spikes 55 %, high noise 62 %, stuck 3 %, conflicting rain 1 %.</a:t>
            </a:r>
            <a:endParaRPr lang="en-US" sz="1400" dirty="0"/>
          </a:p>
        </p:txBody>
      </p:sp>
      <p:sp>
        <p:nvSpPr>
          <p:cNvPr id="7" name="card-217"/>
          <p:cNvSpPr/>
          <p:nvPr/>
        </p:nvSpPr>
        <p:spPr>
          <a:xfrm>
            <a:off x="548640" y="5715000"/>
            <a:ext cx="11094415" cy="548640"/>
          </a:xfrm>
          <a:prstGeom prst="roundRect">
            <a:avLst>
              <a:gd name="adj" fmla="val 20000"/>
            </a:avLst>
          </a:prstGeom>
          <a:solidFill>
            <a:srgbClr val="E3F1F1"/>
          </a:solidFill>
          <a:ln w="12700">
            <a:solidFill>
              <a:srgbClr val="E3F1F1"/>
            </a:solidFill>
            <a:prstDash val="solid"/>
          </a:ln>
        </p:spPr>
      </p:sp>
      <p:sp>
        <p:nvSpPr>
          <p:cNvPr id="8" name="text-218"/>
          <p:cNvSpPr txBox="1"/>
          <p:nvPr/>
        </p:nvSpPr>
        <p:spPr>
          <a:xfrm>
            <a:off x="777240" y="5715000"/>
            <a:ext cx="10637215" cy="548640"/>
          </a:xfrm>
          <a:prstGeom prst="rect">
            <a:avLst/>
          </a:prstGeom>
          <a:noFill/>
          <a:ln/>
        </p:spPr>
        <p:txBody>
          <a:bodyPr wrap="square" lIns="0" tIns="0" rIns="0" bIns="0" rtlCol="0" anchor="ctr"/>
          <a:lstStyle/>
          <a:p>
            <a:pPr indent="0" marL="0">
              <a:buNone/>
            </a:pPr>
            <a:r>
              <a:rPr lang="en-US" sz="1500" b="1" dirty="0">
                <a:solidFill>
                  <a:schemeClr val="accent1"/>
                </a:solidFill>
              </a:rPr>
              <a:t>Answer to Q3: the layer clearly helps against spikes, costs a little on clean data, and misses stuck and conflicting sensors.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A real alert, explained: 7 December 2022</a:t>
            </a:r>
            <a:endParaRPr lang="en-US" sz="3400" dirty="0"/>
          </a:p>
        </p:txBody>
      </p:sp>
      <p:graphicFrame>
        <p:nvGraphicFramePr>
          <p:cNvPr id="3" name="example-chart" descr=""/>
          <p:cNvGraphicFramePr/>
          <p:nvPr/>
        </p:nvGraphicFramePr>
        <p:xfrm>
          <a:off x="548640" y="1325880"/>
          <a:ext cx="5394960" cy="3291840"/>
        </p:xfrm>
        <a:graphic xmlns:a="http://schemas.openxmlformats.org/drawingml/2006/main">
          <a:graphicData uri="http://schemas.openxmlformats.org/drawingml/2006/chart">
            <c:chart xmlns:c="http://schemas.openxmlformats.org/drawingml/2006/chart" r:id="rId1"/>
          </a:graphicData>
        </a:graphic>
      </p:graphicFrame>
      <p:sp>
        <p:nvSpPr>
          <p:cNvPr id="4" name="result-219"/>
          <p:cNvSpPr/>
          <p:nvPr/>
        </p:nvSpPr>
        <p:spPr>
          <a:xfrm>
            <a:off x="548640" y="4754880"/>
            <a:ext cx="1005840" cy="777240"/>
          </a:xfrm>
          <a:prstGeom prst="roundRect">
            <a:avLst>
              <a:gd name="adj" fmla="val 9412"/>
            </a:avLst>
          </a:prstGeom>
          <a:solidFill>
            <a:srgbClr val="C62828"/>
          </a:solidFill>
          <a:ln w="12700">
            <a:solidFill>
              <a:srgbClr val="C62828"/>
            </a:solidFill>
            <a:prstDash val="solid"/>
          </a:ln>
        </p:spPr>
      </p:sp>
      <p:sp>
        <p:nvSpPr>
          <p:cNvPr id="5" name="text-220"/>
          <p:cNvSpPr txBox="1"/>
          <p:nvPr/>
        </p:nvSpPr>
        <p:spPr>
          <a:xfrm>
            <a:off x="603504" y="4800600"/>
            <a:ext cx="896112" cy="292608"/>
          </a:xfrm>
          <a:prstGeom prst="rect">
            <a:avLst/>
          </a:prstGeom>
          <a:noFill/>
          <a:ln/>
        </p:spPr>
        <p:txBody>
          <a:bodyPr wrap="square" lIns="0" tIns="0" rIns="0" bIns="0" rtlCol="0" anchor="t"/>
          <a:lstStyle/>
          <a:p>
            <a:pPr algn="ctr" indent="0" marL="0">
              <a:buNone/>
            </a:pPr>
            <a:r>
              <a:rPr lang="en-US" sz="1000" dirty="0">
                <a:solidFill>
                  <a:srgbClr val="FFFFFF"/>
                </a:solidFill>
              </a:rPr>
              <a:t>IT2FIS</a:t>
            </a:r>
            <a:endParaRPr lang="en-US" sz="1000" dirty="0"/>
          </a:p>
        </p:txBody>
      </p:sp>
      <p:sp>
        <p:nvSpPr>
          <p:cNvPr id="6" name="text-221"/>
          <p:cNvSpPr txBox="1"/>
          <p:nvPr/>
        </p:nvSpPr>
        <p:spPr>
          <a:xfrm>
            <a:off x="603504" y="5102352"/>
            <a:ext cx="896112" cy="347472"/>
          </a:xfrm>
          <a:prstGeom prst="rect">
            <a:avLst/>
          </a:prstGeom>
          <a:noFill/>
          <a:ln/>
        </p:spPr>
        <p:txBody>
          <a:bodyPr wrap="square" lIns="0" tIns="0" rIns="0" bIns="0" rtlCol="0" anchor="t"/>
          <a:lstStyle/>
          <a:p>
            <a:pPr algn="ctr" indent="0" marL="0">
              <a:buNone/>
            </a:pPr>
            <a:r>
              <a:rPr lang="en-US" sz="1300" b="1" dirty="0">
                <a:solidFill>
                  <a:srgbClr val="FFFFFF"/>
                </a:solidFill>
              </a:rPr>
              <a:t>Critical</a:t>
            </a:r>
            <a:endParaRPr lang="en-US" sz="1300" dirty="0"/>
          </a:p>
        </p:txBody>
      </p:sp>
      <p:sp>
        <p:nvSpPr>
          <p:cNvPr id="7" name="result-222"/>
          <p:cNvSpPr/>
          <p:nvPr/>
        </p:nvSpPr>
        <p:spPr>
          <a:xfrm>
            <a:off x="1645920" y="4754880"/>
            <a:ext cx="1005840" cy="777240"/>
          </a:xfrm>
          <a:prstGeom prst="roundRect">
            <a:avLst>
              <a:gd name="adj" fmla="val 9412"/>
            </a:avLst>
          </a:prstGeom>
          <a:solidFill>
            <a:srgbClr val="C62828"/>
          </a:solidFill>
          <a:ln w="12700">
            <a:solidFill>
              <a:srgbClr val="C62828"/>
            </a:solidFill>
            <a:prstDash val="solid"/>
          </a:ln>
        </p:spPr>
      </p:sp>
      <p:sp>
        <p:nvSpPr>
          <p:cNvPr id="8" name="text-223"/>
          <p:cNvSpPr txBox="1"/>
          <p:nvPr/>
        </p:nvSpPr>
        <p:spPr>
          <a:xfrm>
            <a:off x="1700784" y="4800600"/>
            <a:ext cx="896112" cy="292608"/>
          </a:xfrm>
          <a:prstGeom prst="rect">
            <a:avLst/>
          </a:prstGeom>
          <a:noFill/>
          <a:ln/>
        </p:spPr>
        <p:txBody>
          <a:bodyPr wrap="square" lIns="0" tIns="0" rIns="0" bIns="0" rtlCol="0" anchor="t"/>
          <a:lstStyle/>
          <a:p>
            <a:pPr algn="ctr" indent="0" marL="0">
              <a:buNone/>
            </a:pPr>
            <a:r>
              <a:rPr lang="en-US" sz="1000" dirty="0">
                <a:solidFill>
                  <a:srgbClr val="FFFFFF"/>
                </a:solidFill>
              </a:rPr>
              <a:t>PSO-IT2FIS</a:t>
            </a:r>
            <a:endParaRPr lang="en-US" sz="1000" dirty="0"/>
          </a:p>
        </p:txBody>
      </p:sp>
      <p:sp>
        <p:nvSpPr>
          <p:cNvPr id="9" name="text-224"/>
          <p:cNvSpPr txBox="1"/>
          <p:nvPr/>
        </p:nvSpPr>
        <p:spPr>
          <a:xfrm>
            <a:off x="1700784" y="5102352"/>
            <a:ext cx="896112" cy="347472"/>
          </a:xfrm>
          <a:prstGeom prst="rect">
            <a:avLst/>
          </a:prstGeom>
          <a:noFill/>
          <a:ln/>
        </p:spPr>
        <p:txBody>
          <a:bodyPr wrap="square" lIns="0" tIns="0" rIns="0" bIns="0" rtlCol="0" anchor="t"/>
          <a:lstStyle/>
          <a:p>
            <a:pPr algn="ctr" indent="0" marL="0">
              <a:buNone/>
            </a:pPr>
            <a:r>
              <a:rPr lang="en-US" sz="1300" b="1" dirty="0">
                <a:solidFill>
                  <a:srgbClr val="FFFFFF"/>
                </a:solidFill>
              </a:rPr>
              <a:t>Critical</a:t>
            </a:r>
            <a:endParaRPr lang="en-US" sz="1300" dirty="0"/>
          </a:p>
        </p:txBody>
      </p:sp>
      <p:sp>
        <p:nvSpPr>
          <p:cNvPr id="10" name="result-225"/>
          <p:cNvSpPr/>
          <p:nvPr/>
        </p:nvSpPr>
        <p:spPr>
          <a:xfrm>
            <a:off x="2743200" y="4754880"/>
            <a:ext cx="1005840" cy="777240"/>
          </a:xfrm>
          <a:prstGeom prst="roundRect">
            <a:avLst>
              <a:gd name="adj" fmla="val 9412"/>
            </a:avLst>
          </a:prstGeom>
          <a:solidFill>
            <a:srgbClr val="C62828"/>
          </a:solidFill>
          <a:ln w="12700">
            <a:solidFill>
              <a:srgbClr val="C62828"/>
            </a:solidFill>
            <a:prstDash val="solid"/>
          </a:ln>
        </p:spPr>
      </p:sp>
      <p:sp>
        <p:nvSpPr>
          <p:cNvPr id="11" name="text-226"/>
          <p:cNvSpPr txBox="1"/>
          <p:nvPr/>
        </p:nvSpPr>
        <p:spPr>
          <a:xfrm>
            <a:off x="2798064" y="4800600"/>
            <a:ext cx="896112" cy="292608"/>
          </a:xfrm>
          <a:prstGeom prst="rect">
            <a:avLst/>
          </a:prstGeom>
          <a:noFill/>
          <a:ln/>
        </p:spPr>
        <p:txBody>
          <a:bodyPr wrap="square" lIns="0" tIns="0" rIns="0" bIns="0" rtlCol="0" anchor="t"/>
          <a:lstStyle/>
          <a:p>
            <a:pPr algn="ctr" indent="0" marL="0">
              <a:buNone/>
            </a:pPr>
            <a:r>
              <a:rPr lang="en-US" sz="1000" dirty="0">
                <a:solidFill>
                  <a:srgbClr val="FFFFFF"/>
                </a:solidFill>
              </a:rPr>
              <a:t>SOM</a:t>
            </a:r>
            <a:endParaRPr lang="en-US" sz="1000" dirty="0"/>
          </a:p>
        </p:txBody>
      </p:sp>
      <p:sp>
        <p:nvSpPr>
          <p:cNvPr id="12" name="text-227"/>
          <p:cNvSpPr txBox="1"/>
          <p:nvPr/>
        </p:nvSpPr>
        <p:spPr>
          <a:xfrm>
            <a:off x="2798064" y="5102352"/>
            <a:ext cx="896112" cy="347472"/>
          </a:xfrm>
          <a:prstGeom prst="rect">
            <a:avLst/>
          </a:prstGeom>
          <a:noFill/>
          <a:ln/>
        </p:spPr>
        <p:txBody>
          <a:bodyPr wrap="square" lIns="0" tIns="0" rIns="0" bIns="0" rtlCol="0" anchor="t"/>
          <a:lstStyle/>
          <a:p>
            <a:pPr algn="ctr" indent="0" marL="0">
              <a:buNone/>
            </a:pPr>
            <a:r>
              <a:rPr lang="en-US" sz="1300" b="1" dirty="0">
                <a:solidFill>
                  <a:srgbClr val="FFFFFF"/>
                </a:solidFill>
              </a:rPr>
              <a:t>Critical</a:t>
            </a:r>
            <a:endParaRPr lang="en-US" sz="1300" dirty="0"/>
          </a:p>
        </p:txBody>
      </p:sp>
      <p:sp>
        <p:nvSpPr>
          <p:cNvPr id="13" name="result-228"/>
          <p:cNvSpPr/>
          <p:nvPr/>
        </p:nvSpPr>
        <p:spPr>
          <a:xfrm>
            <a:off x="3840480" y="4754880"/>
            <a:ext cx="1005840" cy="777240"/>
          </a:xfrm>
          <a:prstGeom prst="roundRect">
            <a:avLst>
              <a:gd name="adj" fmla="val 9412"/>
            </a:avLst>
          </a:prstGeom>
          <a:solidFill>
            <a:srgbClr val="DD6418"/>
          </a:solidFill>
          <a:ln w="12700">
            <a:solidFill>
              <a:srgbClr val="DD6418"/>
            </a:solidFill>
            <a:prstDash val="solid"/>
          </a:ln>
        </p:spPr>
      </p:sp>
      <p:sp>
        <p:nvSpPr>
          <p:cNvPr id="14" name="text-229"/>
          <p:cNvSpPr txBox="1"/>
          <p:nvPr/>
        </p:nvSpPr>
        <p:spPr>
          <a:xfrm>
            <a:off x="3895344" y="4800600"/>
            <a:ext cx="896112" cy="292608"/>
          </a:xfrm>
          <a:prstGeom prst="rect">
            <a:avLst/>
          </a:prstGeom>
          <a:noFill/>
          <a:ln/>
        </p:spPr>
        <p:txBody>
          <a:bodyPr wrap="square" lIns="0" tIns="0" rIns="0" bIns="0" rtlCol="0" anchor="t"/>
          <a:lstStyle/>
          <a:p>
            <a:pPr algn="ctr" indent="0" marL="0">
              <a:buNone/>
            </a:pPr>
            <a:r>
              <a:rPr lang="en-US" sz="1000" dirty="0">
                <a:solidFill>
                  <a:srgbClr val="FFFFFF"/>
                </a:solidFill>
              </a:rPr>
              <a:t>ANFIS</a:t>
            </a:r>
            <a:endParaRPr lang="en-US" sz="1000" dirty="0"/>
          </a:p>
        </p:txBody>
      </p:sp>
      <p:sp>
        <p:nvSpPr>
          <p:cNvPr id="15" name="text-230"/>
          <p:cNvSpPr txBox="1"/>
          <p:nvPr/>
        </p:nvSpPr>
        <p:spPr>
          <a:xfrm>
            <a:off x="3895344" y="5102352"/>
            <a:ext cx="896112" cy="347472"/>
          </a:xfrm>
          <a:prstGeom prst="rect">
            <a:avLst/>
          </a:prstGeom>
          <a:noFill/>
          <a:ln/>
        </p:spPr>
        <p:txBody>
          <a:bodyPr wrap="square" lIns="0" tIns="0" rIns="0" bIns="0" rtlCol="0" anchor="t"/>
          <a:lstStyle/>
          <a:p>
            <a:pPr algn="ctr" indent="0" marL="0">
              <a:buNone/>
            </a:pPr>
            <a:r>
              <a:rPr lang="en-US" sz="1300" b="1" dirty="0">
                <a:solidFill>
                  <a:srgbClr val="FFFFFF"/>
                </a:solidFill>
              </a:rPr>
              <a:t>High</a:t>
            </a:r>
            <a:endParaRPr lang="en-US" sz="1300" dirty="0"/>
          </a:p>
        </p:txBody>
      </p:sp>
      <p:sp>
        <p:nvSpPr>
          <p:cNvPr id="16" name="result-231"/>
          <p:cNvSpPr/>
          <p:nvPr/>
        </p:nvSpPr>
        <p:spPr>
          <a:xfrm>
            <a:off x="4937760" y="4754880"/>
            <a:ext cx="1005840" cy="777240"/>
          </a:xfrm>
          <a:prstGeom prst="roundRect">
            <a:avLst>
              <a:gd name="adj" fmla="val 9412"/>
            </a:avLst>
          </a:prstGeom>
          <a:solidFill>
            <a:srgbClr val="C99206"/>
          </a:solidFill>
          <a:ln w="12700">
            <a:solidFill>
              <a:srgbClr val="C99206"/>
            </a:solidFill>
            <a:prstDash val="solid"/>
          </a:ln>
        </p:spPr>
      </p:sp>
      <p:sp>
        <p:nvSpPr>
          <p:cNvPr id="17" name="text-232"/>
          <p:cNvSpPr txBox="1"/>
          <p:nvPr/>
        </p:nvSpPr>
        <p:spPr>
          <a:xfrm>
            <a:off x="4992624" y="4800600"/>
            <a:ext cx="896112" cy="292608"/>
          </a:xfrm>
          <a:prstGeom prst="rect">
            <a:avLst/>
          </a:prstGeom>
          <a:noFill/>
          <a:ln/>
        </p:spPr>
        <p:txBody>
          <a:bodyPr wrap="square" lIns="0" tIns="0" rIns="0" bIns="0" rtlCol="0" anchor="t"/>
          <a:lstStyle/>
          <a:p>
            <a:pPr algn="ctr" indent="0" marL="0">
              <a:buNone/>
            </a:pPr>
            <a:r>
              <a:rPr lang="en-US" sz="1000" dirty="0">
                <a:solidFill>
                  <a:srgbClr val="FFFFFF"/>
                </a:solidFill>
              </a:rPr>
              <a:t>Threshold (ref.)</a:t>
            </a:r>
            <a:endParaRPr lang="en-US" sz="1000" dirty="0"/>
          </a:p>
        </p:txBody>
      </p:sp>
      <p:sp>
        <p:nvSpPr>
          <p:cNvPr id="18" name="text-233"/>
          <p:cNvSpPr txBox="1"/>
          <p:nvPr/>
        </p:nvSpPr>
        <p:spPr>
          <a:xfrm>
            <a:off x="4992624" y="5102352"/>
            <a:ext cx="896112" cy="347472"/>
          </a:xfrm>
          <a:prstGeom prst="rect">
            <a:avLst/>
          </a:prstGeom>
          <a:noFill/>
          <a:ln/>
        </p:spPr>
        <p:txBody>
          <a:bodyPr wrap="square" lIns="0" tIns="0" rIns="0" bIns="0" rtlCol="0" anchor="t"/>
          <a:lstStyle/>
          <a:p>
            <a:pPr algn="ctr" indent="0" marL="0">
              <a:buNone/>
            </a:pPr>
            <a:r>
              <a:rPr lang="en-US" sz="1300" b="1" dirty="0">
                <a:solidFill>
                  <a:srgbClr val="FFFFFF"/>
                </a:solidFill>
              </a:rPr>
              <a:t>Moderate</a:t>
            </a:r>
            <a:endParaRPr lang="en-US" sz="1300" dirty="0"/>
          </a:p>
        </p:txBody>
      </p:sp>
      <p:sp>
        <p:nvSpPr>
          <p:cNvPr id="19" name="card-234"/>
          <p:cNvSpPr/>
          <p:nvPr/>
        </p:nvSpPr>
        <p:spPr>
          <a:xfrm>
            <a:off x="6263640" y="1325880"/>
            <a:ext cx="5376672" cy="4206240"/>
          </a:xfrm>
          <a:prstGeom prst="roundRect">
            <a:avLst>
              <a:gd name="adj" fmla="val 2609"/>
            </a:avLst>
          </a:prstGeom>
          <a:solidFill>
            <a:srgbClr val="EEF3F6"/>
          </a:solidFill>
          <a:ln w="12700">
            <a:solidFill>
              <a:srgbClr val="EEF3F6"/>
            </a:solidFill>
            <a:prstDash val="solid"/>
          </a:ln>
        </p:spPr>
      </p:sp>
      <p:sp>
        <p:nvSpPr>
          <p:cNvPr id="20" name="text-235"/>
          <p:cNvSpPr txBox="1"/>
          <p:nvPr/>
        </p:nvSpPr>
        <p:spPr>
          <a:xfrm>
            <a:off x="6492240" y="1463040"/>
            <a:ext cx="4937760" cy="365760"/>
          </a:xfrm>
          <a:prstGeom prst="rect">
            <a:avLst/>
          </a:prstGeom>
          <a:noFill/>
          <a:ln/>
        </p:spPr>
        <p:txBody>
          <a:bodyPr wrap="square" lIns="0" tIns="0" rIns="0" bIns="0" rtlCol="0" anchor="t"/>
          <a:lstStyle/>
          <a:p>
            <a:pPr indent="0" marL="0">
              <a:buNone/>
            </a:pPr>
            <a:r>
              <a:rPr lang="en-US" sz="1700" b="1" dirty="0">
                <a:solidFill>
                  <a:srgbClr val="1D5FA8"/>
                </a:solidFill>
              </a:rPr>
              <a:t>IT2FIS: why Critical, 30 min ahead</a:t>
            </a:r>
            <a:endParaRPr lang="en-US" sz="1700" dirty="0"/>
          </a:p>
        </p:txBody>
      </p:sp>
      <p:sp>
        <p:nvSpPr>
          <p:cNvPr id="21" name="text-236"/>
          <p:cNvSpPr txBox="1"/>
          <p:nvPr/>
        </p:nvSpPr>
        <p:spPr>
          <a:xfrm>
            <a:off x="6492240" y="1920240"/>
            <a:ext cx="493776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3475B"/>
                </a:solidFill>
              </a:rPr>
              <a:t>Level 1.40 m (Elevated), between Moderate and High.</a:t>
            </a:r>
            <a:endParaRPr lang="en-US" sz="1400" dirty="0"/>
          </a:p>
          <a:p>
            <a:pPr marL="342900" indent="-342900">
              <a:spcAft>
                <a:spcPts val="600"/>
              </a:spcAft>
              <a:buSzPct val="100000"/>
              <a:buChar char="•"/>
            </a:pPr>
            <a:r>
              <a:rPr lang="en-US" sz="1400" dirty="0">
                <a:solidFill>
                  <a:srgbClr val="33475B"/>
                </a:solidFill>
              </a:rPr>
              <a:t>Rising +0.46 m/h; 22.6 rain in the last 2 h (Heavy).</a:t>
            </a:r>
            <a:endParaRPr lang="en-US" sz="1400" dirty="0"/>
          </a:p>
          <a:p>
            <a:pPr marL="342900" indent="-342900">
              <a:spcAft>
                <a:spcPts val="600"/>
              </a:spcAft>
              <a:buSzPct val="100000"/>
              <a:buChar char="•"/>
            </a:pPr>
            <a:r>
              <a:rPr lang="en-US" sz="1400" dirty="0">
                <a:solidFill>
                  <a:srgbClr val="33475B"/>
                </a:solidFill>
              </a:rPr>
              <a:t>Strongest rule: IF level Elevated AND rise Rising AND rain Heavy THEN Critical (firing 0.43–0.94).</a:t>
            </a:r>
            <a:endParaRPr lang="en-US" sz="1400" dirty="0"/>
          </a:p>
          <a:p>
            <a:pPr marL="342900" indent="-342900">
              <a:spcAft>
                <a:spcPts val="600"/>
              </a:spcAft>
              <a:buSzPct val="100000"/>
              <a:buChar char="•"/>
            </a:pPr>
            <a:r>
              <a:rPr lang="en-US" sz="1400" dirty="0">
                <a:solidFill>
                  <a:srgbClr val="33475B"/>
                </a:solidFill>
              </a:rPr>
              <a:t>Risk interval [85, 95] → 90/100 → Critical band.</a:t>
            </a:r>
            <a:endParaRPr lang="en-US" sz="1400" dirty="0"/>
          </a:p>
        </p:txBody>
      </p:sp>
      <p:sp>
        <p:nvSpPr>
          <p:cNvPr id="22" name="text-237"/>
          <p:cNvSpPr txBox="1"/>
          <p:nvPr/>
        </p:nvSpPr>
        <p:spPr>
          <a:xfrm>
            <a:off x="6492240" y="4389120"/>
            <a:ext cx="4937760" cy="1005840"/>
          </a:xfrm>
          <a:prstGeom prst="rect">
            <a:avLst/>
          </a:prstGeom>
          <a:noFill/>
          <a:ln/>
        </p:spPr>
        <p:txBody>
          <a:bodyPr wrap="square" lIns="0" tIns="0" rIns="0" bIns="0" rtlCol="0" anchor="t"/>
          <a:lstStyle/>
          <a:p>
            <a:pPr indent="0" marL="0">
              <a:buNone/>
            </a:pPr>
            <a:r>
              <a:rPr lang="en-US" sz="1400" b="1" dirty="0">
                <a:solidFill>
                  <a:srgbClr val="C62828"/>
                </a:solidFill>
              </a:rPr>
              <a:t>Outcome: 30 min later (21:00) the level was 1.88 m → Critical. The level-only reference still said Moderate.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What the results do not show</a:t>
            </a:r>
            <a:endParaRPr lang="en-US" sz="3400" dirty="0"/>
          </a:p>
        </p:txBody>
      </p:sp>
      <p:sp>
        <p:nvSpPr>
          <p:cNvPr id="3" name="card-238"/>
          <p:cNvSpPr/>
          <p:nvPr/>
        </p:nvSpPr>
        <p:spPr>
          <a:xfrm>
            <a:off x="548640" y="1371600"/>
            <a:ext cx="3566160" cy="2011680"/>
          </a:xfrm>
          <a:prstGeom prst="roundRect">
            <a:avLst>
              <a:gd name="adj" fmla="val 5455"/>
            </a:avLst>
          </a:prstGeom>
          <a:solidFill>
            <a:srgbClr val="EEF3F6"/>
          </a:solidFill>
          <a:ln w="12700">
            <a:solidFill>
              <a:srgbClr val="EEF3F6"/>
            </a:solidFill>
            <a:prstDash val="solid"/>
          </a:ln>
        </p:spPr>
      </p:sp>
      <p:sp>
        <p:nvSpPr>
          <p:cNvPr id="4" name="dot-239"/>
          <p:cNvSpPr txBox="1"/>
          <p:nvPr/>
        </p:nvSpPr>
        <p:spPr>
          <a:xfrm>
            <a:off x="777240" y="1572768"/>
            <a:ext cx="384048" cy="384048"/>
          </a:xfrm>
          <a:prstGeom prst="ellipse">
            <a:avLst/>
          </a:prstGeom>
          <a:solidFill>
            <a:srgbClr val="E07A1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5" name="text-240"/>
          <p:cNvSpPr txBox="1"/>
          <p:nvPr/>
        </p:nvSpPr>
        <p:spPr>
          <a:xfrm>
            <a:off x="1298448" y="1591056"/>
            <a:ext cx="2651760" cy="365760"/>
          </a:xfrm>
          <a:prstGeom prst="rect">
            <a:avLst/>
          </a:prstGeom>
          <a:noFill/>
          <a:ln/>
        </p:spPr>
        <p:txBody>
          <a:bodyPr wrap="square" lIns="0" tIns="0" rIns="0" bIns="0" rtlCol="0" anchor="t"/>
          <a:lstStyle/>
          <a:p>
            <a:pPr indent="0" marL="0">
              <a:buNone/>
            </a:pPr>
            <a:r>
              <a:rPr lang="en-US" sz="1700" b="1" dirty="0">
                <a:solidFill>
                  <a:schemeClr val="tx1"/>
                </a:solidFill>
              </a:rPr>
              <a:t>Proxy labels</a:t>
            </a:r>
            <a:endParaRPr lang="en-US" sz="1700" dirty="0"/>
          </a:p>
        </p:txBody>
      </p:sp>
      <p:sp>
        <p:nvSpPr>
          <p:cNvPr id="6" name="text-241"/>
          <p:cNvSpPr txBox="1"/>
          <p:nvPr/>
        </p:nvSpPr>
        <p:spPr>
          <a:xfrm>
            <a:off x="777240" y="2103120"/>
            <a:ext cx="3108960" cy="1188720"/>
          </a:xfrm>
          <a:prstGeom prst="rect">
            <a:avLst/>
          </a:prstGeom>
          <a:noFill/>
          <a:ln/>
        </p:spPr>
        <p:txBody>
          <a:bodyPr wrap="square" lIns="0" tIns="0" rIns="0" bIns="0" rtlCol="0" anchor="t"/>
          <a:lstStyle/>
          <a:p>
            <a:pPr indent="0" marL="0">
              <a:buNone/>
            </a:pPr>
            <a:r>
              <a:rPr lang="en-US" sz="1400" dirty="0">
                <a:solidFill>
                  <a:srgbClr val="33475B"/>
                </a:solidFill>
              </a:rPr>
              <a:t>No recorded floods exist: scores measure agreement with a level-threshold rule, not real warning accuracy.</a:t>
            </a:r>
            <a:endParaRPr lang="en-US" sz="1400" dirty="0"/>
          </a:p>
        </p:txBody>
      </p:sp>
      <p:sp>
        <p:nvSpPr>
          <p:cNvPr id="7" name="card-242"/>
          <p:cNvSpPr/>
          <p:nvPr/>
        </p:nvSpPr>
        <p:spPr>
          <a:xfrm>
            <a:off x="4297680" y="1371600"/>
            <a:ext cx="3566160" cy="2011680"/>
          </a:xfrm>
          <a:prstGeom prst="roundRect">
            <a:avLst>
              <a:gd name="adj" fmla="val 5455"/>
            </a:avLst>
          </a:prstGeom>
          <a:solidFill>
            <a:srgbClr val="EEF3F6"/>
          </a:solidFill>
          <a:ln w="12700">
            <a:solidFill>
              <a:srgbClr val="EEF3F6"/>
            </a:solidFill>
            <a:prstDash val="solid"/>
          </a:ln>
        </p:spPr>
      </p:sp>
      <p:sp>
        <p:nvSpPr>
          <p:cNvPr id="8" name="dot-243"/>
          <p:cNvSpPr txBox="1"/>
          <p:nvPr/>
        </p:nvSpPr>
        <p:spPr>
          <a:xfrm>
            <a:off x="4526280" y="1572768"/>
            <a:ext cx="384048" cy="384048"/>
          </a:xfrm>
          <a:prstGeom prst="ellipse">
            <a:avLst/>
          </a:prstGeom>
          <a:solidFill>
            <a:srgbClr val="E07A1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9" name="text-244"/>
          <p:cNvSpPr txBox="1"/>
          <p:nvPr/>
        </p:nvSpPr>
        <p:spPr>
          <a:xfrm>
            <a:off x="5047488" y="1591056"/>
            <a:ext cx="2651760" cy="365760"/>
          </a:xfrm>
          <a:prstGeom prst="rect">
            <a:avLst/>
          </a:prstGeom>
          <a:noFill/>
          <a:ln/>
        </p:spPr>
        <p:txBody>
          <a:bodyPr wrap="square" lIns="0" tIns="0" rIns="0" bIns="0" rtlCol="0" anchor="t"/>
          <a:lstStyle/>
          <a:p>
            <a:pPr indent="0" marL="0">
              <a:buNone/>
            </a:pPr>
            <a:r>
              <a:rPr lang="en-US" sz="1700" b="1" dirty="0">
                <a:solidFill>
                  <a:schemeClr val="tx1"/>
                </a:solidFill>
              </a:rPr>
              <a:t>Simulated faults</a:t>
            </a:r>
            <a:endParaRPr lang="en-US" sz="1700" dirty="0"/>
          </a:p>
        </p:txBody>
      </p:sp>
      <p:sp>
        <p:nvSpPr>
          <p:cNvPr id="10" name="text-245"/>
          <p:cNvSpPr txBox="1"/>
          <p:nvPr/>
        </p:nvSpPr>
        <p:spPr>
          <a:xfrm>
            <a:off x="4526280" y="2103120"/>
            <a:ext cx="3108960" cy="1188720"/>
          </a:xfrm>
          <a:prstGeom prst="rect">
            <a:avLst/>
          </a:prstGeom>
          <a:noFill/>
          <a:ln/>
        </p:spPr>
        <p:txBody>
          <a:bodyPr wrap="square" lIns="0" tIns="0" rIns="0" bIns="0" rtlCol="0" anchor="t"/>
          <a:lstStyle/>
          <a:p>
            <a:pPr indent="0" marL="0">
              <a:buNone/>
            </a:pPr>
            <a:r>
              <a:rPr lang="en-US" sz="1400" dirty="0">
                <a:solidFill>
                  <a:srgbClr val="33475B"/>
                </a:solidFill>
              </a:rPr>
              <a:t>Sensor failures are injected with fixed seeds; behaviour under real failures is untested.</a:t>
            </a:r>
            <a:endParaRPr lang="en-US" sz="1400" dirty="0"/>
          </a:p>
        </p:txBody>
      </p:sp>
      <p:sp>
        <p:nvSpPr>
          <p:cNvPr id="11" name="card-246"/>
          <p:cNvSpPr/>
          <p:nvPr/>
        </p:nvSpPr>
        <p:spPr>
          <a:xfrm>
            <a:off x="8046720" y="1371600"/>
            <a:ext cx="3566160" cy="2011680"/>
          </a:xfrm>
          <a:prstGeom prst="roundRect">
            <a:avLst>
              <a:gd name="adj" fmla="val 5455"/>
            </a:avLst>
          </a:prstGeom>
          <a:solidFill>
            <a:srgbClr val="EEF3F6"/>
          </a:solidFill>
          <a:ln w="12700">
            <a:solidFill>
              <a:srgbClr val="EEF3F6"/>
            </a:solidFill>
            <a:prstDash val="solid"/>
          </a:ln>
        </p:spPr>
      </p:sp>
      <p:sp>
        <p:nvSpPr>
          <p:cNvPr id="12" name="dot-247"/>
          <p:cNvSpPr txBox="1"/>
          <p:nvPr/>
        </p:nvSpPr>
        <p:spPr>
          <a:xfrm>
            <a:off x="8275320" y="1572768"/>
            <a:ext cx="384048" cy="384048"/>
          </a:xfrm>
          <a:prstGeom prst="ellipse">
            <a:avLst/>
          </a:prstGeom>
          <a:solidFill>
            <a:srgbClr val="E07A1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ext-248"/>
          <p:cNvSpPr txBox="1"/>
          <p:nvPr/>
        </p:nvSpPr>
        <p:spPr>
          <a:xfrm>
            <a:off x="8796528" y="1591056"/>
            <a:ext cx="2651760" cy="365760"/>
          </a:xfrm>
          <a:prstGeom prst="rect">
            <a:avLst/>
          </a:prstGeom>
          <a:noFill/>
          <a:ln/>
        </p:spPr>
        <p:txBody>
          <a:bodyPr wrap="square" lIns="0" tIns="0" rIns="0" bIns="0" rtlCol="0" anchor="t"/>
          <a:lstStyle/>
          <a:p>
            <a:pPr indent="0" marL="0">
              <a:buNone/>
            </a:pPr>
            <a:r>
              <a:rPr lang="en-US" sz="1700" b="1" dirty="0">
                <a:solidFill>
                  <a:schemeClr val="tx1"/>
                </a:solidFill>
              </a:rPr>
              <a:t>Two catchments</a:t>
            </a:r>
            <a:endParaRPr lang="en-US" sz="1700" dirty="0"/>
          </a:p>
        </p:txBody>
      </p:sp>
      <p:sp>
        <p:nvSpPr>
          <p:cNvPr id="14" name="text-249"/>
          <p:cNvSpPr txBox="1"/>
          <p:nvPr/>
        </p:nvSpPr>
        <p:spPr>
          <a:xfrm>
            <a:off x="8275320" y="2103120"/>
            <a:ext cx="3108960" cy="1188720"/>
          </a:xfrm>
          <a:prstGeom prst="rect">
            <a:avLst/>
          </a:prstGeom>
          <a:noFill/>
          <a:ln/>
        </p:spPr>
        <p:txBody>
          <a:bodyPr wrap="square" lIns="0" tIns="0" rIns="0" bIns="0" rtlCol="0" anchor="t"/>
          <a:lstStyle/>
          <a:p>
            <a:pPr indent="0" marL="0">
              <a:buNone/>
            </a:pPr>
            <a:r>
              <a:rPr lang="en-US" sz="1400" dirty="0">
                <a:solidFill>
                  <a:srgbClr val="33475B"/>
                </a:solidFill>
              </a:rPr>
              <a:t>Few large events; Malwathu has only 66 alert days in its test period, hence wide intervals.</a:t>
            </a:r>
            <a:endParaRPr lang="en-US" sz="1400" dirty="0"/>
          </a:p>
        </p:txBody>
      </p:sp>
      <p:sp>
        <p:nvSpPr>
          <p:cNvPr id="15" name="card-250"/>
          <p:cNvSpPr/>
          <p:nvPr/>
        </p:nvSpPr>
        <p:spPr>
          <a:xfrm>
            <a:off x="548640" y="3566160"/>
            <a:ext cx="3566160" cy="2011680"/>
          </a:xfrm>
          <a:prstGeom prst="roundRect">
            <a:avLst>
              <a:gd name="adj" fmla="val 5455"/>
            </a:avLst>
          </a:prstGeom>
          <a:solidFill>
            <a:srgbClr val="EEF3F6"/>
          </a:solidFill>
          <a:ln w="12700">
            <a:solidFill>
              <a:srgbClr val="EEF3F6"/>
            </a:solidFill>
            <a:prstDash val="solid"/>
          </a:ln>
        </p:spPr>
      </p:sp>
      <p:sp>
        <p:nvSpPr>
          <p:cNvPr id="16" name="dot-251"/>
          <p:cNvSpPr txBox="1"/>
          <p:nvPr/>
        </p:nvSpPr>
        <p:spPr>
          <a:xfrm>
            <a:off x="777240" y="3767328"/>
            <a:ext cx="384048" cy="384048"/>
          </a:xfrm>
          <a:prstGeom prst="ellipse">
            <a:avLst/>
          </a:prstGeom>
          <a:solidFill>
            <a:srgbClr val="E07A1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7" name="text-252"/>
          <p:cNvSpPr txBox="1"/>
          <p:nvPr/>
        </p:nvSpPr>
        <p:spPr>
          <a:xfrm>
            <a:off x="1298448" y="3785616"/>
            <a:ext cx="2651760" cy="365760"/>
          </a:xfrm>
          <a:prstGeom prst="rect">
            <a:avLst/>
          </a:prstGeom>
          <a:noFill/>
          <a:ln/>
        </p:spPr>
        <p:txBody>
          <a:bodyPr wrap="square" lIns="0" tIns="0" rIns="0" bIns="0" rtlCol="0" anchor="t"/>
          <a:lstStyle/>
          <a:p>
            <a:pPr indent="0" marL="0">
              <a:buNone/>
            </a:pPr>
            <a:r>
              <a:rPr lang="en-US" sz="1700" b="1" dirty="0">
                <a:solidFill>
                  <a:schemeClr val="tx1"/>
                </a:solidFill>
              </a:rPr>
              <a:t>PSO not proven</a:t>
            </a:r>
            <a:endParaRPr lang="en-US" sz="1700" dirty="0"/>
          </a:p>
        </p:txBody>
      </p:sp>
      <p:sp>
        <p:nvSpPr>
          <p:cNvPr id="18" name="text-253"/>
          <p:cNvSpPr txBox="1"/>
          <p:nvPr/>
        </p:nvSpPr>
        <p:spPr>
          <a:xfrm>
            <a:off x="777240" y="4297680"/>
            <a:ext cx="3108960" cy="1188720"/>
          </a:xfrm>
          <a:prstGeom prst="rect">
            <a:avLst/>
          </a:prstGeom>
          <a:noFill/>
          <a:ln/>
        </p:spPr>
        <p:txBody>
          <a:bodyPr wrap="square" lIns="0" tIns="0" rIns="0" bIns="0" rtlCol="0" anchor="t"/>
          <a:lstStyle/>
          <a:p>
            <a:pPr indent="0" marL="0">
              <a:buNone/>
            </a:pPr>
            <a:r>
              <a:rPr lang="en-US" sz="1400" dirty="0">
                <a:solidFill>
                  <a:srgbClr val="33475B"/>
                </a:solidFill>
              </a:rPr>
              <a:t>Gains are inside the confidence intervals; on Malwathu, validation rose while test did not.</a:t>
            </a:r>
            <a:endParaRPr lang="en-US" sz="1400" dirty="0"/>
          </a:p>
        </p:txBody>
      </p:sp>
      <p:sp>
        <p:nvSpPr>
          <p:cNvPr id="19" name="card-254"/>
          <p:cNvSpPr/>
          <p:nvPr/>
        </p:nvSpPr>
        <p:spPr>
          <a:xfrm>
            <a:off x="4297680" y="3566160"/>
            <a:ext cx="3566160" cy="2011680"/>
          </a:xfrm>
          <a:prstGeom prst="roundRect">
            <a:avLst>
              <a:gd name="adj" fmla="val 5455"/>
            </a:avLst>
          </a:prstGeom>
          <a:solidFill>
            <a:srgbClr val="EEF3F6"/>
          </a:solidFill>
          <a:ln w="12700">
            <a:solidFill>
              <a:srgbClr val="EEF3F6"/>
            </a:solidFill>
            <a:prstDash val="solid"/>
          </a:ln>
        </p:spPr>
      </p:sp>
      <p:sp>
        <p:nvSpPr>
          <p:cNvPr id="20" name="dot-255"/>
          <p:cNvSpPr txBox="1"/>
          <p:nvPr/>
        </p:nvSpPr>
        <p:spPr>
          <a:xfrm>
            <a:off x="4526280" y="3767328"/>
            <a:ext cx="384048" cy="384048"/>
          </a:xfrm>
          <a:prstGeom prst="ellipse">
            <a:avLst/>
          </a:prstGeom>
          <a:solidFill>
            <a:srgbClr val="E07A1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21" name="text-256"/>
          <p:cNvSpPr txBox="1"/>
          <p:nvPr/>
        </p:nvSpPr>
        <p:spPr>
          <a:xfrm>
            <a:off x="5047488" y="3785616"/>
            <a:ext cx="2651760" cy="365760"/>
          </a:xfrm>
          <a:prstGeom prst="rect">
            <a:avLst/>
          </a:prstGeom>
          <a:noFill/>
          <a:ln/>
        </p:spPr>
        <p:txBody>
          <a:bodyPr wrap="square" lIns="0" tIns="0" rIns="0" bIns="0" rtlCol="0" anchor="t"/>
          <a:lstStyle/>
          <a:p>
            <a:pPr indent="0" marL="0">
              <a:buNone/>
            </a:pPr>
            <a:r>
              <a:rPr lang="en-US" sz="1700" b="1" dirty="0">
                <a:solidFill>
                  <a:schemeClr val="tx1"/>
                </a:solidFill>
              </a:rPr>
              <a:t>ANFIS trade-off</a:t>
            </a:r>
            <a:endParaRPr lang="en-US" sz="1700" dirty="0"/>
          </a:p>
        </p:txBody>
      </p:sp>
      <p:sp>
        <p:nvSpPr>
          <p:cNvPr id="22" name="text-257"/>
          <p:cNvSpPr txBox="1"/>
          <p:nvPr/>
        </p:nvSpPr>
        <p:spPr>
          <a:xfrm>
            <a:off x="4526280" y="4297680"/>
            <a:ext cx="3108960" cy="1188720"/>
          </a:xfrm>
          <a:prstGeom prst="rect">
            <a:avLst/>
          </a:prstGeom>
          <a:noFill/>
          <a:ln/>
        </p:spPr>
        <p:txBody>
          <a:bodyPr wrap="square" lIns="0" tIns="0" rIns="0" bIns="0" rtlCol="0" anchor="t"/>
          <a:lstStyle/>
          <a:p>
            <a:pPr indent="0" marL="0">
              <a:buNone/>
            </a:pPr>
            <a:r>
              <a:rPr lang="en-US" sz="1400" dirty="0">
                <a:solidFill>
                  <a:srgbClr val="33475B"/>
                </a:solidFill>
              </a:rPr>
              <a:t>Interpretability constraints cost accuracy on Malwathu (0.83 → 0.66).</a:t>
            </a:r>
            <a:endParaRPr lang="en-US" sz="1400" dirty="0"/>
          </a:p>
        </p:txBody>
      </p:sp>
      <p:sp>
        <p:nvSpPr>
          <p:cNvPr id="23" name="card-258"/>
          <p:cNvSpPr/>
          <p:nvPr/>
        </p:nvSpPr>
        <p:spPr>
          <a:xfrm>
            <a:off x="8046720" y="3566160"/>
            <a:ext cx="3566160" cy="2011680"/>
          </a:xfrm>
          <a:prstGeom prst="roundRect">
            <a:avLst>
              <a:gd name="adj" fmla="val 5455"/>
            </a:avLst>
          </a:prstGeom>
          <a:solidFill>
            <a:srgbClr val="EEF3F6"/>
          </a:solidFill>
          <a:ln w="12700">
            <a:solidFill>
              <a:srgbClr val="EEF3F6"/>
            </a:solidFill>
            <a:prstDash val="solid"/>
          </a:ln>
        </p:spPr>
      </p:sp>
      <p:sp>
        <p:nvSpPr>
          <p:cNvPr id="24" name="dot-259"/>
          <p:cNvSpPr txBox="1"/>
          <p:nvPr/>
        </p:nvSpPr>
        <p:spPr>
          <a:xfrm>
            <a:off x="8275320" y="3767328"/>
            <a:ext cx="384048" cy="384048"/>
          </a:xfrm>
          <a:prstGeom prst="ellipse">
            <a:avLst/>
          </a:prstGeom>
          <a:solidFill>
            <a:srgbClr val="E07A1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25" name="text-260"/>
          <p:cNvSpPr txBox="1"/>
          <p:nvPr/>
        </p:nvSpPr>
        <p:spPr>
          <a:xfrm>
            <a:off x="8796528" y="3785616"/>
            <a:ext cx="2651760" cy="365760"/>
          </a:xfrm>
          <a:prstGeom prst="rect">
            <a:avLst/>
          </a:prstGeom>
          <a:noFill/>
          <a:ln/>
        </p:spPr>
        <p:txBody>
          <a:bodyPr wrap="square" lIns="0" tIns="0" rIns="0" bIns="0" rtlCol="0" anchor="t"/>
          <a:lstStyle/>
          <a:p>
            <a:pPr indent="0" marL="0">
              <a:buNone/>
            </a:pPr>
            <a:r>
              <a:rPr lang="en-US" sz="1700" b="1" dirty="0">
                <a:solidFill>
                  <a:schemeClr val="tx1"/>
                </a:solidFill>
              </a:rPr>
              <a:t>Detection gaps</a:t>
            </a:r>
            <a:endParaRPr lang="en-US" sz="1700" dirty="0"/>
          </a:p>
        </p:txBody>
      </p:sp>
      <p:sp>
        <p:nvSpPr>
          <p:cNvPr id="26" name="text-261"/>
          <p:cNvSpPr txBox="1"/>
          <p:nvPr/>
        </p:nvSpPr>
        <p:spPr>
          <a:xfrm>
            <a:off x="8275320" y="4297680"/>
            <a:ext cx="3108960" cy="1188720"/>
          </a:xfrm>
          <a:prstGeom prst="rect">
            <a:avLst/>
          </a:prstGeom>
          <a:noFill/>
          <a:ln/>
        </p:spPr>
        <p:txBody>
          <a:bodyPr wrap="square" lIns="0" tIns="0" rIns="0" bIns="0" rtlCol="0" anchor="t"/>
          <a:lstStyle/>
          <a:p>
            <a:pPr indent="0" marL="0">
              <a:buNone/>
            </a:pPr>
            <a:r>
              <a:rPr lang="en-US" sz="1400" dirty="0">
                <a:solidFill>
                  <a:srgbClr val="33475B"/>
                </a:solidFill>
              </a:rPr>
              <a:t>The reliability checks catch only 3 % of stuck and 1 % of conflicting-rain faults.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0241280" cy="1188720"/>
          </a:xfrm>
          <a:prstGeom prst="rect">
            <a:avLst/>
          </a:prstGeom>
          <a:noFill/>
          <a:ln/>
        </p:spPr>
        <p:txBody>
          <a:bodyPr wrap="square" lIns="0" tIns="0" rIns="0" bIns="0" rtlCol="0" anchor="b"/>
          <a:lstStyle/>
          <a:p>
            <a:pPr algn="l" indent="0" marL="0">
              <a:buNone/>
            </a:pPr>
            <a:r>
              <a:rPr lang="en-US" sz="4800" b="1" dirty="0">
                <a:solidFill>
                  <a:schemeClr val="bg1"/>
                </a:solidFill>
              </a:rPr>
              <a:t>Conclusions</a:t>
            </a:r>
            <a:endParaRPr lang="en-US" sz="4800" dirty="0"/>
          </a:p>
        </p:txBody>
      </p:sp>
      <p:sp>
        <p:nvSpPr>
          <p:cNvPr id="3" name="Text 0"/>
          <p:cNvSpPr/>
          <p:nvPr>
            <p:ph idx="101" type="body" hasCustomPrompt="1"/>
          </p:nvPr>
        </p:nvSpPr>
        <p:spPr>
          <a:xfrm>
            <a:off x="548640" y="3337560"/>
            <a:ext cx="9601200" cy="1097280"/>
          </a:xfrm>
          <a:prstGeom prst="rect">
            <a:avLst/>
          </a:prstGeom>
          <a:noFill/>
          <a:ln/>
        </p:spPr>
        <p:txBody>
          <a:bodyPr wrap="square" lIns="0" tIns="0" rIns="0" bIns="0" rtlCol="0" anchor="t"/>
          <a:lstStyle/>
          <a:p>
            <a:pPr indent="0" marL="0">
              <a:buNone/>
            </a:pPr>
            <a:r>
              <a:rPr lang="en-US" sz="2000" dirty="0">
                <a:solidFill>
                  <a:schemeClr val="accent3"/>
                </a:solidFill>
              </a:rPr>
              <a:t>Honest comparison beats a single winner</a:t>
            </a:r>
            <a:endParaRPr lang="en-US" sz="2000" dirty="0"/>
          </a:p>
        </p:txBody>
      </p:sp>
      <p:sp>
        <p:nvSpPr>
          <p:cNvPr id="4" name="text-262"/>
          <p:cNvSpPr txBox="1"/>
          <p:nvPr/>
        </p:nvSpPr>
        <p:spPr>
          <a:xfrm>
            <a:off x="548640" y="4069080"/>
            <a:ext cx="822960" cy="411480"/>
          </a:xfrm>
          <a:prstGeom prst="rect">
            <a:avLst/>
          </a:prstGeom>
          <a:noFill/>
          <a:ln/>
        </p:spPr>
        <p:txBody>
          <a:bodyPr wrap="square" lIns="0" tIns="0" rIns="0" bIns="0" rtlCol="0" anchor="t"/>
          <a:lstStyle/>
          <a:p>
            <a:pPr indent="0" marL="0">
              <a:buNone/>
            </a:pPr>
            <a:r>
              <a:rPr lang="en-US" sz="1800" b="1" dirty="0">
                <a:solidFill>
                  <a:srgbClr val="E07A1F"/>
                </a:solidFill>
              </a:rPr>
              <a:t>Q1</a:t>
            </a:r>
            <a:endParaRPr lang="en-US" sz="1800" dirty="0"/>
          </a:p>
        </p:txBody>
      </p:sp>
      <p:sp>
        <p:nvSpPr>
          <p:cNvPr id="5" name="text-263"/>
          <p:cNvSpPr txBox="1"/>
          <p:nvPr/>
        </p:nvSpPr>
        <p:spPr>
          <a:xfrm>
            <a:off x="1417320" y="4069080"/>
            <a:ext cx="10058400" cy="411480"/>
          </a:xfrm>
          <a:prstGeom prst="rect">
            <a:avLst/>
          </a:prstGeom>
          <a:noFill/>
          <a:ln/>
        </p:spPr>
        <p:txBody>
          <a:bodyPr wrap="square" lIns="0" tIns="0" rIns="0" bIns="0" rtlCol="0" anchor="t"/>
          <a:lstStyle/>
          <a:p>
            <a:pPr indent="0" marL="0">
              <a:buNone/>
            </a:pPr>
            <a:r>
              <a:rPr lang="en-US" sz="1700" dirty="0">
                <a:solidFill>
                  <a:srgbClr val="FFFFFF"/>
                </a:solidFill>
              </a:rPr>
              <a:t>IT2FIS, PSO-IT2FIS and ANFIS are tied on clean data; SOM is clearly weaker.</a:t>
            </a:r>
            <a:endParaRPr lang="en-US" sz="1700" dirty="0"/>
          </a:p>
        </p:txBody>
      </p:sp>
      <p:sp>
        <p:nvSpPr>
          <p:cNvPr id="6" name="text-264"/>
          <p:cNvSpPr txBox="1"/>
          <p:nvPr/>
        </p:nvSpPr>
        <p:spPr>
          <a:xfrm>
            <a:off x="548640" y="4572000"/>
            <a:ext cx="822960" cy="411480"/>
          </a:xfrm>
          <a:prstGeom prst="rect">
            <a:avLst/>
          </a:prstGeom>
          <a:noFill/>
          <a:ln/>
        </p:spPr>
        <p:txBody>
          <a:bodyPr wrap="square" lIns="0" tIns="0" rIns="0" bIns="0" rtlCol="0" anchor="t"/>
          <a:lstStyle/>
          <a:p>
            <a:pPr indent="0" marL="0">
              <a:buNone/>
            </a:pPr>
            <a:r>
              <a:rPr lang="en-US" sz="1800" b="1" dirty="0">
                <a:solidFill>
                  <a:srgbClr val="E07A1F"/>
                </a:solidFill>
              </a:rPr>
              <a:t>Q2</a:t>
            </a:r>
            <a:endParaRPr lang="en-US" sz="1800" dirty="0"/>
          </a:p>
        </p:txBody>
      </p:sp>
      <p:sp>
        <p:nvSpPr>
          <p:cNvPr id="7" name="text-265"/>
          <p:cNvSpPr txBox="1"/>
          <p:nvPr/>
        </p:nvSpPr>
        <p:spPr>
          <a:xfrm>
            <a:off x="1417320" y="4572000"/>
            <a:ext cx="10058400" cy="411480"/>
          </a:xfrm>
          <a:prstGeom prst="rect">
            <a:avLst/>
          </a:prstGeom>
          <a:noFill/>
          <a:ln/>
        </p:spPr>
        <p:txBody>
          <a:bodyPr wrap="square" lIns="0" tIns="0" rIns="0" bIns="0" rtlCol="0" anchor="t"/>
          <a:lstStyle/>
          <a:p>
            <a:pPr indent="0" marL="0">
              <a:buNone/>
            </a:pPr>
            <a:r>
              <a:rPr lang="en-US" sz="1700" dirty="0">
                <a:solidFill>
                  <a:srgbClr val="FFFFFF"/>
                </a:solidFill>
              </a:rPr>
              <a:t>PSO gives small, non-significant gains: fewer false alarms, more misses.</a:t>
            </a:r>
            <a:endParaRPr lang="en-US" sz="1700" dirty="0"/>
          </a:p>
        </p:txBody>
      </p:sp>
      <p:sp>
        <p:nvSpPr>
          <p:cNvPr id="8" name="text-266"/>
          <p:cNvSpPr txBox="1"/>
          <p:nvPr/>
        </p:nvSpPr>
        <p:spPr>
          <a:xfrm>
            <a:off x="548640" y="5074920"/>
            <a:ext cx="822960" cy="411480"/>
          </a:xfrm>
          <a:prstGeom prst="rect">
            <a:avLst/>
          </a:prstGeom>
          <a:noFill/>
          <a:ln/>
        </p:spPr>
        <p:txBody>
          <a:bodyPr wrap="square" lIns="0" tIns="0" rIns="0" bIns="0" rtlCol="0" anchor="t"/>
          <a:lstStyle/>
          <a:p>
            <a:pPr indent="0" marL="0">
              <a:buNone/>
            </a:pPr>
            <a:r>
              <a:rPr lang="en-US" sz="1800" b="1" dirty="0">
                <a:solidFill>
                  <a:srgbClr val="E07A1F"/>
                </a:solidFill>
              </a:rPr>
              <a:t>Q3</a:t>
            </a:r>
            <a:endParaRPr lang="en-US" sz="1800" dirty="0"/>
          </a:p>
        </p:txBody>
      </p:sp>
      <p:sp>
        <p:nvSpPr>
          <p:cNvPr id="9" name="text-267"/>
          <p:cNvSpPr txBox="1"/>
          <p:nvPr/>
        </p:nvSpPr>
        <p:spPr>
          <a:xfrm>
            <a:off x="1417320" y="5074920"/>
            <a:ext cx="10058400" cy="411480"/>
          </a:xfrm>
          <a:prstGeom prst="rect">
            <a:avLst/>
          </a:prstGeom>
          <a:noFill/>
          <a:ln/>
        </p:spPr>
        <p:txBody>
          <a:bodyPr wrap="square" lIns="0" tIns="0" rIns="0" bIns="0" rtlCol="0" anchor="t"/>
          <a:lstStyle/>
          <a:p>
            <a:pPr indent="0" marL="0">
              <a:buNone/>
            </a:pPr>
            <a:r>
              <a:rPr lang="en-US" sz="1700" dirty="0">
                <a:solidFill>
                  <a:srgbClr val="FFFFFF"/>
                </a:solidFill>
              </a:rPr>
              <a:t>IT2 models are most robust to faults; the reliability layer helps mainly against spikes.</a:t>
            </a:r>
            <a:endParaRPr lang="en-US" sz="1700" dirty="0"/>
          </a:p>
        </p:txBody>
      </p:sp>
      <p:sp>
        <p:nvSpPr>
          <p:cNvPr id="10" name="text-268"/>
          <p:cNvSpPr txBox="1"/>
          <p:nvPr/>
        </p:nvSpPr>
        <p:spPr>
          <a:xfrm>
            <a:off x="548640" y="5577840"/>
            <a:ext cx="822960" cy="411480"/>
          </a:xfrm>
          <a:prstGeom prst="rect">
            <a:avLst/>
          </a:prstGeom>
          <a:noFill/>
          <a:ln/>
        </p:spPr>
        <p:txBody>
          <a:bodyPr wrap="square" lIns="0" tIns="0" rIns="0" bIns="0" rtlCol="0" anchor="t"/>
          <a:lstStyle/>
          <a:p>
            <a:pPr indent="0" marL="0">
              <a:buNone/>
            </a:pPr>
            <a:r>
              <a:rPr lang="en-US" sz="1800" b="1" dirty="0">
                <a:solidFill>
                  <a:srgbClr val="E07A1F"/>
                </a:solidFill>
              </a:rPr>
              <a:t>Next</a:t>
            </a:r>
            <a:endParaRPr lang="en-US" sz="1800" dirty="0"/>
          </a:p>
        </p:txBody>
      </p:sp>
      <p:sp>
        <p:nvSpPr>
          <p:cNvPr id="11" name="text-269"/>
          <p:cNvSpPr txBox="1"/>
          <p:nvPr/>
        </p:nvSpPr>
        <p:spPr>
          <a:xfrm>
            <a:off x="1417320" y="5577840"/>
            <a:ext cx="10058400" cy="411480"/>
          </a:xfrm>
          <a:prstGeom prst="rect">
            <a:avLst/>
          </a:prstGeom>
          <a:noFill/>
          <a:ln/>
        </p:spPr>
        <p:txBody>
          <a:bodyPr wrap="square" lIns="0" tIns="0" rIns="0" bIns="0" rtlCol="0" anchor="t"/>
          <a:lstStyle/>
          <a:p>
            <a:pPr indent="0" marL="0">
              <a:buNone/>
            </a:pPr>
            <a:r>
              <a:rPr lang="en-US" sz="1700" dirty="0">
                <a:solidFill>
                  <a:srgbClr val="FFFFFF"/>
                </a:solidFill>
              </a:rPr>
              <a:t>Daily Indian check on CAMELS-IND; stuck-sensor detection; upstream inputs for 3 h.</a:t>
            </a:r>
            <a:endParaRPr lang="en-US" sz="1700" dirty="0"/>
          </a:p>
        </p:txBody>
      </p:sp>
      <p:sp>
        <p:nvSpPr>
          <p:cNvPr id="12" name="text-270"/>
          <p:cNvSpPr txBox="1"/>
          <p:nvPr/>
        </p:nvSpPr>
        <p:spPr>
          <a:xfrm>
            <a:off x="548640" y="6172200"/>
            <a:ext cx="10972800" cy="320040"/>
          </a:xfrm>
          <a:prstGeom prst="rect">
            <a:avLst/>
          </a:prstGeom>
          <a:noFill/>
          <a:ln/>
        </p:spPr>
        <p:txBody>
          <a:bodyPr wrap="square" lIns="0" tIns="0" rIns="0" bIns="0" rtlCol="0" anchor="t"/>
          <a:lstStyle/>
          <a:p>
            <a:pPr indent="0" marL="0">
              <a:buNone/>
            </a:pPr>
            <a:r>
              <a:rPr lang="en-US" sz="1400" dirty="0">
                <a:solidFill>
                  <a:srgbClr val="CADCFC"/>
                </a:solidFill>
              </a:rPr>
              <a:t>Live demo: floodguard-ai-chi.vercel.app · Code: github.com/usha-sree7/FlowGuard</a:t>
            </a:r>
            <a:endParaRPr lang="en-US" sz="1400" dirty="0"/>
          </a:p>
        </p:txBody>
      </p:sp>
    </p:spTree>
  </p:cSld>
  <p:clrMapOvr>
    <a:masterClrMapping/>
  </p:clrMapOvr>
</p:sld>
</file>

<file path=ppt/theme/theme1.xml><?xml version="1.0" encoding="utf-8"?>
<a:theme xmlns:a="http://schemas.openxmlformats.org/drawingml/2006/main" name="HydroSentinel River">
  <a:themeElements>
    <a:clrScheme name="HydroSentinel River">
      <a:dk1>
        <a:srgbClr val="13293D"/>
      </a:dk1>
      <a:lt1>
        <a:srgbClr val="FFFFFF"/>
      </a:lt1>
      <a:dk2>
        <a:srgbClr val="1B4965"/>
      </a:dk2>
      <a:lt2>
        <a:srgbClr val="EEF3F6"/>
      </a:lt2>
      <a:accent1>
        <a:srgbClr val="1C7C7D"/>
      </a:accent1>
      <a:accent2>
        <a:srgbClr val="E07A1F"/>
      </a:accent2>
      <a:accent3>
        <a:srgbClr val="5FA8D3"/>
      </a:accent3>
      <a:accent4>
        <a:srgbClr val="7B4FB0"/>
      </a:accent4>
      <a:accent5>
        <a:srgbClr val="2E8B57"/>
      </a:accent5>
      <a:accent6>
        <a:srgbClr val="C62828"/>
      </a:accent6>
      <a:hlink>
        <a:srgbClr val="1C7C7D"/>
      </a:hlink>
      <a:folHlink>
        <a:srgbClr val="7B4FB0"/>
      </a:folHlink>
    </a:clrScheme>
    <a:fontScheme name="HydroSentinel Riv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HydroSentinel AI v0.6: project review</dc:title>
  <dc:subject>PptxGenJS Presentation</dc:subject>
  <dc:creator>HydroSentinel AI project team</dc:creator>
  <cp:lastModifiedBy>HydroSentinel AI project team</cp:lastModifiedBy>
  <cp:revision>1</cp:revision>
  <dcterms:created xsi:type="dcterms:W3CDTF">2026-10-26T18:51:14Z</dcterms:created>
  <dcterms:modified xsi:type="dcterms:W3CDTF">2026-10-26T18:51:14Z</dcterms:modified>
</cp:coreProperties>
</file>